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1324d463c9465d" /><Relationship Type="http://schemas.openxmlformats.org/officeDocument/2006/relationships/extended-properties" Target="/docProps/app.xml" Id="Rb93966baaf854c7c" /><Relationship Type="http://schemas.openxmlformats.org/officeDocument/2006/relationships/officeDocument" Target="/ppt/presentation.xml" Id="R1320df7815e14e8d" /></Relationships>
</file>

<file path=ppt/presentation.xml><?xml version="1.0" encoding="utf-8"?>
<p:presentation xmlns:p="http://schemas.openxmlformats.org/presentationml/2006/main">
  <p:sldMasterIdLst>
    <p:sldMasterId xmlns:r="http://schemas.openxmlformats.org/officeDocument/2006/relationships" id="2147483648" r:id="R3c43234bb0e34879"/>
  </p:sldMasterIdLst>
  <p:notesMasterIdLst>
    <p:notesMasterId xmlns:r="http://schemas.openxmlformats.org/officeDocument/2006/relationships" r:id="Rb026f90dfe234468"/>
  </p:notesMasterIdLst>
  <p:sldIdLst>
    <p:sldId xmlns:r="http://schemas.openxmlformats.org/officeDocument/2006/relationships" id="256" r:id="R8ae9e274bd82424c"/>
    <p:sldId xmlns:r="http://schemas.openxmlformats.org/officeDocument/2006/relationships" id="257" r:id="R5079399bf5db43da"/>
    <p:sldId xmlns:r="http://schemas.openxmlformats.org/officeDocument/2006/relationships" id="258" r:id="Ra66ae7c3c0ea4892"/>
    <p:sldId xmlns:r="http://schemas.openxmlformats.org/officeDocument/2006/relationships" id="259" r:id="R31e4018d03f0414d"/>
    <p:sldId xmlns:r="http://schemas.openxmlformats.org/officeDocument/2006/relationships" id="260" r:id="R787a115bc2ff477a"/>
    <p:sldId xmlns:r="http://schemas.openxmlformats.org/officeDocument/2006/relationships" id="261" r:id="R635072a8490e4700"/>
    <p:sldId xmlns:r="http://schemas.openxmlformats.org/officeDocument/2006/relationships" id="262" r:id="R0cfc3a37f28b4e19"/>
    <p:sldId xmlns:r="http://schemas.openxmlformats.org/officeDocument/2006/relationships" id="263" r:id="R3cb4368b053b4c44"/>
    <p:sldId xmlns:r="http://schemas.openxmlformats.org/officeDocument/2006/relationships" id="264" r:id="R5e7f82b4ecda44f9"/>
    <p:sldId xmlns:r="http://schemas.openxmlformats.org/officeDocument/2006/relationships" id="265" r:id="R29ce6f31861c42da"/>
    <p:sldId xmlns:r="http://schemas.openxmlformats.org/officeDocument/2006/relationships" id="266" r:id="R1cfe22414fea4e5e"/>
    <p:sldId xmlns:r="http://schemas.openxmlformats.org/officeDocument/2006/relationships" id="267" r:id="R90f3d6fba9be489c"/>
    <p:sldId xmlns:r="http://schemas.openxmlformats.org/officeDocument/2006/relationships" id="268" r:id="R7ac9faa778ad4845"/>
    <p:sldId xmlns:r="http://schemas.openxmlformats.org/officeDocument/2006/relationships" id="269" r:id="Rc3234338e74b40f1"/>
    <p:sldId xmlns:r="http://schemas.openxmlformats.org/officeDocument/2006/relationships" id="270" r:id="R465a01f442b94433"/>
    <p:sldId xmlns:r="http://schemas.openxmlformats.org/officeDocument/2006/relationships" id="271" r:id="Rcffa34d692094430"/>
    <p:sldId xmlns:r="http://schemas.openxmlformats.org/officeDocument/2006/relationships" id="272" r:id="R6c36402e3f534378"/>
    <p:sldId xmlns:r="http://schemas.openxmlformats.org/officeDocument/2006/relationships" id="273" r:id="R0cc69d08db78409d"/>
    <p:sldId xmlns:r="http://schemas.openxmlformats.org/officeDocument/2006/relationships" id="274" r:id="R1be87f908ca84e72"/>
    <p:sldId xmlns:r="http://schemas.openxmlformats.org/officeDocument/2006/relationships" id="275" r:id="Rcac737b6b3a24733"/>
    <p:sldId xmlns:r="http://schemas.openxmlformats.org/officeDocument/2006/relationships" id="276" r:id="Re67b0e475a9d48a1"/>
    <p:sldId xmlns:r="http://schemas.openxmlformats.org/officeDocument/2006/relationships" id="277" r:id="Ra0b7b8162c084feb"/>
    <p:sldId xmlns:r="http://schemas.openxmlformats.org/officeDocument/2006/relationships" id="278" r:id="R6fd6230f976248ca"/>
    <p:sldId xmlns:r="http://schemas.openxmlformats.org/officeDocument/2006/relationships" id="279" r:id="R20840429a32445db"/>
    <p:sldId xmlns:r="http://schemas.openxmlformats.org/officeDocument/2006/relationships" id="280" r:id="Rdeabf4f6bde040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0472eebc13418f" /><Relationship Type="http://schemas.openxmlformats.org/officeDocument/2006/relationships/slideMaster" Target="/ppt/slideMasters/slideMaster1.xml" Id="R3c43234bb0e34879" /><Relationship Type="http://schemas.openxmlformats.org/officeDocument/2006/relationships/notesMaster" Target="/ppt/notesMasters/notesMaster1.xml" Id="Rb026f90dfe234468" /><Relationship Type="http://schemas.openxmlformats.org/officeDocument/2006/relationships/presProps" Target="/ppt/presProps.xml" Id="R4d3a3854c31f4696" /><Relationship Type="http://schemas.openxmlformats.org/officeDocument/2006/relationships/tableStyles" Target="/ppt/tableStyles.xml" Id="R09cb922bf35543cf" /><Relationship Type="http://schemas.openxmlformats.org/officeDocument/2006/relationships/slide" Target="/ppt/slides/slide1.xml" Id="R8ae9e274bd82424c" /><Relationship Type="http://schemas.openxmlformats.org/officeDocument/2006/relationships/slide" Target="/ppt/slides/slide2.xml" Id="R5079399bf5db43da" /><Relationship Type="http://schemas.openxmlformats.org/officeDocument/2006/relationships/slide" Target="/ppt/slides/slide3.xml" Id="Ra66ae7c3c0ea4892" /><Relationship Type="http://schemas.openxmlformats.org/officeDocument/2006/relationships/slide" Target="/ppt/slides/slide4.xml" Id="R31e4018d03f0414d" /><Relationship Type="http://schemas.openxmlformats.org/officeDocument/2006/relationships/slide" Target="/ppt/slides/slide5.xml" Id="R787a115bc2ff477a" /><Relationship Type="http://schemas.openxmlformats.org/officeDocument/2006/relationships/slide" Target="/ppt/slides/slide6.xml" Id="R635072a8490e4700" /><Relationship Type="http://schemas.openxmlformats.org/officeDocument/2006/relationships/slide" Target="/ppt/slides/slide7.xml" Id="R0cfc3a37f28b4e19" /><Relationship Type="http://schemas.openxmlformats.org/officeDocument/2006/relationships/slide" Target="/ppt/slides/slide8.xml" Id="R3cb4368b053b4c44" /><Relationship Type="http://schemas.openxmlformats.org/officeDocument/2006/relationships/slide" Target="/ppt/slides/slide9.xml" Id="R5e7f82b4ecda44f9" /><Relationship Type="http://schemas.openxmlformats.org/officeDocument/2006/relationships/slide" Target="/ppt/slides/slide10.xml" Id="R29ce6f31861c42da" /><Relationship Type="http://schemas.openxmlformats.org/officeDocument/2006/relationships/slide" Target="/ppt/slides/slide11.xml" Id="R1cfe22414fea4e5e" /><Relationship Type="http://schemas.openxmlformats.org/officeDocument/2006/relationships/slide" Target="/ppt/slides/slide12.xml" Id="R90f3d6fba9be489c" /><Relationship Type="http://schemas.openxmlformats.org/officeDocument/2006/relationships/slide" Target="/ppt/slides/slide13.xml" Id="R7ac9faa778ad4845" /><Relationship Type="http://schemas.openxmlformats.org/officeDocument/2006/relationships/slide" Target="/ppt/slides/slide14.xml" Id="Rc3234338e74b40f1" /><Relationship Type="http://schemas.openxmlformats.org/officeDocument/2006/relationships/slide" Target="/ppt/slides/slide15.xml" Id="R465a01f442b94433" /><Relationship Type="http://schemas.openxmlformats.org/officeDocument/2006/relationships/slide" Target="/ppt/slides/slide16.xml" Id="Rcffa34d692094430" /><Relationship Type="http://schemas.openxmlformats.org/officeDocument/2006/relationships/slide" Target="/ppt/slides/slide17.xml" Id="R6c36402e3f534378" /><Relationship Type="http://schemas.openxmlformats.org/officeDocument/2006/relationships/slide" Target="/ppt/slides/slide18.xml" Id="R0cc69d08db78409d" /><Relationship Type="http://schemas.openxmlformats.org/officeDocument/2006/relationships/slide" Target="/ppt/slides/slide19.xml" Id="R1be87f908ca84e72" /><Relationship Type="http://schemas.openxmlformats.org/officeDocument/2006/relationships/slide" Target="/ppt/slides/slide20.xml" Id="Rcac737b6b3a24733" /><Relationship Type="http://schemas.openxmlformats.org/officeDocument/2006/relationships/slide" Target="/ppt/slides/slide21.xml" Id="Re67b0e475a9d48a1" /><Relationship Type="http://schemas.openxmlformats.org/officeDocument/2006/relationships/slide" Target="/ppt/slides/slide22.xml" Id="Ra0b7b8162c084feb" /><Relationship Type="http://schemas.openxmlformats.org/officeDocument/2006/relationships/slide" Target="/ppt/slides/slide23.xml" Id="R6fd6230f976248ca" /><Relationship Type="http://schemas.openxmlformats.org/officeDocument/2006/relationships/slide" Target="/ppt/slides/slide24.xml" Id="R20840429a32445db" /><Relationship Type="http://schemas.openxmlformats.org/officeDocument/2006/relationships/slide" Target="/ppt/slides/slide25.xml" Id="Rdeabf4f6bde040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55cfd68f7a41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93a8579a1a4e03" /><Relationship Type="http://schemas.openxmlformats.org/officeDocument/2006/relationships/notesMaster" Target="/ppt/notesMasters/notesMaster1.xml" Id="R5e90267f8ba54b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7a4f00b831467f" /><Relationship Type="http://schemas.openxmlformats.org/officeDocument/2006/relationships/notesMaster" Target="/ppt/notesMasters/notesMaster1.xml" Id="R59db078738c74e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8987a842464079" /><Relationship Type="http://schemas.openxmlformats.org/officeDocument/2006/relationships/notesMaster" Target="/ppt/notesMasters/notesMaster1.xml" Id="R7c09cbe802b546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9f8d0e856e4f58" /><Relationship Type="http://schemas.openxmlformats.org/officeDocument/2006/relationships/notesMaster" Target="/ppt/notesMasters/notesMaster1.xml" Id="R9d3fc0ad4cd141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fe8cdeaeb04314" /><Relationship Type="http://schemas.openxmlformats.org/officeDocument/2006/relationships/notesMaster" Target="/ppt/notesMasters/notesMaster1.xml" Id="R404aa0281d8445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97ab02fd384898" /><Relationship Type="http://schemas.openxmlformats.org/officeDocument/2006/relationships/notesMaster" Target="/ppt/notesMasters/notesMaster1.xml" Id="R5e31403d13884c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4a96bccf1c4831" /><Relationship Type="http://schemas.openxmlformats.org/officeDocument/2006/relationships/notesMaster" Target="/ppt/notesMasters/notesMaster1.xml" Id="R9ed822dfaa2649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5a1045d5eb47e4" /><Relationship Type="http://schemas.openxmlformats.org/officeDocument/2006/relationships/notesMaster" Target="/ppt/notesMasters/notesMaster1.xml" Id="Re0789df8d1ef4d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878312147847cc" /><Relationship Type="http://schemas.openxmlformats.org/officeDocument/2006/relationships/notesMaster" Target="/ppt/notesMasters/notesMaster1.xml" Id="R6dc6e99508f447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8b8621dd6b423a" /><Relationship Type="http://schemas.openxmlformats.org/officeDocument/2006/relationships/notesMaster" Target="/ppt/notesMasters/notesMaster1.xml" Id="R6dc453b9acce4b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a67871222c4c19" /><Relationship Type="http://schemas.openxmlformats.org/officeDocument/2006/relationships/notesMaster" Target="/ppt/notesMasters/notesMaster1.xml" Id="R9c47bd618d484d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39eecef3844e51" /><Relationship Type="http://schemas.openxmlformats.org/officeDocument/2006/relationships/notesMaster" Target="/ppt/notesMasters/notesMaster1.xml" Id="R101eafc919904f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dc97a67302418d" /><Relationship Type="http://schemas.openxmlformats.org/officeDocument/2006/relationships/notesMaster" Target="/ppt/notesMasters/notesMaster1.xml" Id="R0324d6dcf42744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455240ff644de5" /><Relationship Type="http://schemas.openxmlformats.org/officeDocument/2006/relationships/notesMaster" Target="/ppt/notesMasters/notesMaster1.xml" Id="Red0d75032bd34b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dad8af94334ef3" /><Relationship Type="http://schemas.openxmlformats.org/officeDocument/2006/relationships/notesMaster" Target="/ppt/notesMasters/notesMaster1.xml" Id="R71408acaeff449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bd453f464842dd" /><Relationship Type="http://schemas.openxmlformats.org/officeDocument/2006/relationships/notesMaster" Target="/ppt/notesMasters/notesMaster1.xml" Id="Rfc7f3a7505c24e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59f3cc5a734843" /><Relationship Type="http://schemas.openxmlformats.org/officeDocument/2006/relationships/notesMaster" Target="/ppt/notesMasters/notesMaster1.xml" Id="Rb87027377e4748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f661c6a66945c8" /><Relationship Type="http://schemas.openxmlformats.org/officeDocument/2006/relationships/notesMaster" Target="/ppt/notesMasters/notesMaster1.xml" Id="Rb3b4ae6073bc4e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6a9778b3cd4b87" /><Relationship Type="http://schemas.openxmlformats.org/officeDocument/2006/relationships/notesMaster" Target="/ppt/notesMasters/notesMaster1.xml" Id="R457fb9dca9404a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8713eb021be4892" /><Relationship Type="http://schemas.openxmlformats.org/officeDocument/2006/relationships/notesMaster" Target="/ppt/notesMasters/notesMaster1.xml" Id="R167f951801f54b6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dae74157c441b6" /><Relationship Type="http://schemas.openxmlformats.org/officeDocument/2006/relationships/notesMaster" Target="/ppt/notesMasters/notesMaster1.xml" Id="Rf15fb9c9c0864af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e3dfd9a1b642cc" /><Relationship Type="http://schemas.openxmlformats.org/officeDocument/2006/relationships/notesMaster" Target="/ppt/notesMasters/notesMaster1.xml" Id="R612565401e3245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d0fd6b00a8473c" /><Relationship Type="http://schemas.openxmlformats.org/officeDocument/2006/relationships/notesMaster" Target="/ppt/notesMasters/notesMaster1.xml" Id="R1e70e1709b0641e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5903e5bb85b49e9" /><Relationship Type="http://schemas.openxmlformats.org/officeDocument/2006/relationships/notesMaster" Target="/ppt/notesMasters/notesMaster1.xml" Id="Rbac95f627d5e4a2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90a7915978c440a" /><Relationship Type="http://schemas.openxmlformats.org/officeDocument/2006/relationships/notesMaster" Target="/ppt/notesMasters/notesMaster1.xml" Id="R83b96a45763848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Muallif: Yo‘lchiyev Rustam. Asosiy qo‘llanish doirasi kompaniyalarning turli bo‘lim va tarmoqlaridagi PC’larni markazlashgan boshqarish. Shaxsiy foydalanish qo‘shimcha ssenariy. Rasmiy rahbar ma’lumoti to‘ldirish uchun bo‘sh qoldirilgan.</a:t>
            </a:r>
          </a:p>
          <a:p xmlns:a="http://schemas.openxmlformats.org/drawingml/2006/main">
            <a:r>
              <a:t>Manbalar:</a:t>
            </a:r>
          </a:p>
          <a:p xmlns:a="http://schemas.openxmlformats.org/drawingml/2006/main">
            <a:r>
              <a:t>https://github.com/yrustamjon/auth/tree/32c196b794df085edc657a7195232fb9978b8ea6</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Manbalar:</a:t>
            </a:r>
          </a:p>
          <a:p xmlns:a="http://schemas.openxmlformats.org/drawingml/2006/main">
            <a:r>
              <a:t>https://github.com/yrustamjon/auth/tree/32c196b794df085edc657a7195232fb9978b8ea6</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Manbalar:</a:t>
            </a:r>
          </a:p>
          <a:p xmlns:a="http://schemas.openxmlformats.org/drawingml/2006/main">
            <a:r>
              <a:t>https://csrc.nist.gov/pubs/sp/800/162/upd2/final</a:t>
            </a:r>
          </a:p>
          <a:p xmlns:a="http://schemas.openxmlformats.org/drawingml/2006/main">
            <a:r>
              <a:t>https://github.com/yrustamjon/auth/tree/32c196b794df085edc657a7195232fb9978b8ea6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Manbalar:</a:t>
            </a:r>
          </a:p>
          <a:p xmlns:a="http://schemas.openxmlformats.org/drawingml/2006/main">
            <a:r>
              <a:t>https://csrc.nist.gov/pubs/sp/800/53/r5/upd1/final</a:t>
            </a:r>
          </a:p>
          <a:p xmlns:a="http://schemas.openxmlformats.org/drawingml/2006/main">
            <a:r>
              <a:t>https://github.com/yrustamjon/auth/tree/32c196b794df085edc657a7195232fb9978b8ea6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Autentifikatsiya hisobga kirishni, avtorizatsiya esa aniq so‘rov huquqini tekshiradi. Web-rol mavjudligi Windows ACL huquqlarini avtomatik o‘zgartirmaydi.</a:t>
            </a:r>
          </a:p>
          <a:p xmlns:a="http://schemas.openxmlformats.org/drawingml/2006/main">
            <a:r>
              <a:t>Manbalar:</a:t>
            </a:r>
          </a:p>
          <a:p xmlns:a="http://schemas.openxmlformats.org/drawingml/2006/main">
            <a:r>
              <a:t>https://pages.nist.gov/800-63-4/sp800-63b.html</a:t>
            </a:r>
          </a:p>
          <a:p xmlns:a="http://schemas.openxmlformats.org/drawingml/2006/main">
            <a:r>
              <a:t>https://github.com/yrustamjon/auth/tree/32c196b794df085edc657a7195232fb9978b8ea6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Manbalar:</a:t>
            </a:r>
          </a:p>
          <a:p xmlns:a="http://schemas.openxmlformats.org/drawingml/2006/main">
            <a:r>
              <a:t>https://csrc.nist.gov/pubs/sp/800/30/r1/final</a:t>
            </a:r>
          </a:p>
          <a:p xmlns:a="http://schemas.openxmlformats.org/drawingml/2006/main">
            <a:r>
              <a:t>https://github.com/yrustamjon/auth/tree/32c196b794df085edc657a7195232fb9978b8ea6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Manbalar:</a:t>
            </a:r>
          </a:p>
          <a:p xmlns:a="http://schemas.openxmlformats.org/drawingml/2006/main">
            <a:r>
              <a:t>https://github.com/yrustamjon/auth/tree/32c196b794df085edc657a7195232fb9978b8ea6/apps/device</a:t>
            </a:r>
          </a:p>
          <a:p xmlns:a="http://schemas.openxmlformats.org/drawingml/2006/main">
            <a:r>
              <a:t>https://github.com/yrustamjon/auth/tree/32c196b794df085edc657a7195232fb9978b8ea6/apps/org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Manbalar:</a:t>
            </a:r>
          </a:p>
          <a:p xmlns:a="http://schemas.openxmlformats.org/drawingml/2006/main">
            <a:r>
              <a:t>https://github.com/yrustamjon/auth/tree/32c196b794df085edc657a7195232fb9978b8ea6</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Misol minimal vakolat qoidasini tushuntiradi. Bu to‘liq Windows ACL yoki Active Directory integratsiyasi borligini anglatmaydi.</a:t>
            </a:r>
          </a:p>
          <a:p xmlns:a="http://schemas.openxmlformats.org/drawingml/2006/main">
            <a:r>
              <a:t>Manbalar:</a:t>
            </a:r>
          </a:p>
          <a:p xmlns:a="http://schemas.openxmlformats.org/drawingml/2006/main">
            <a:r>
              <a:t>https://csrc.nist.gov/pubs/sp/800/53/r5/upd1/final</a:t>
            </a:r>
          </a:p>
          <a:p xmlns:a="http://schemas.openxmlformats.org/drawingml/2006/main">
            <a:r>
              <a:t>https://github.com/yrustamjon/auth/tree/32c196b794df085edc657a7195232fb9978b8ea6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DAC, MAC, RBAC, ABAC nazariy taqqoslash. Loyihaga to‘liq ABAC engine yoki operatsion tizim ACL integratsiyasi joriy qilingani haqida da’vo qilinmaydi.</a:t>
            </a:r>
          </a:p>
          <a:p xmlns:a="http://schemas.openxmlformats.org/drawingml/2006/main">
            <a:r>
              <a:t>Manbalar:</a:t>
            </a:r>
          </a:p>
          <a:p xmlns:a="http://schemas.openxmlformats.org/drawingml/2006/main">
            <a:r>
              <a:t>https://csrc.nist.gov/pubs/sp/800/162/upd2/final</a:t>
            </a:r>
          </a:p>
          <a:p xmlns:a="http://schemas.openxmlformats.org/drawingml/2006/main">
            <a:r>
              <a:t>https://github.com/yrustamjon/auth/tree/32c196b794df085edc657a7195232fb9978b8ea6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Device uchun doimiy foydalanuvchi-egasi FK mavjud emas. Muayyan tekshirish sessiyasi qurilma va foydalanuvchini bog‘laydi.</a:t>
            </a:r>
          </a:p>
          <a:p xmlns:a="http://schemas.openxmlformats.org/drawingml/2006/main">
            <a:r>
              <a:t>Manbalar:</a:t>
            </a:r>
          </a:p>
          <a:p xmlns:a="http://schemas.openxmlformats.org/drawingml/2006/main">
            <a:r>
              <a:t>https://github.com/yrustamjon/auth/tree/32c196b794df085edc657a7195232fb9978b8ea6/apps/common/models.py</a:t>
            </a:r>
          </a:p>
          <a:p xmlns:a="http://schemas.openxmlformats.org/drawingml/2006/main">
            <a:r>
              <a:t>https://github.com/yrustamjon/auth/tree/32c196b794df085edc657a7195232fb9978b8ea6/apps/agent/models.py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Joriy sinov muhiti SQLite bilan ishlaydi. PostgreSQL va Redis/Celery yordamida ishlab chiqarish muhiti tavsiya qilinadi, ammo ushbu tekshiruvlarda sozlanmagan. Linux va macOS uchun agentning to‘liq ishlashi tasdiqlanmagan.</a:t>
            </a:r>
          </a:p>
          <a:p xmlns:a="http://schemas.openxmlformats.org/drawingml/2006/main">
            <a:r>
              <a:t>Manbalar:</a:t>
            </a:r>
          </a:p>
          <a:p xmlns:a="http://schemas.openxmlformats.org/drawingml/2006/main">
            <a:r>
              <a:t>https://github.com/yrustamjon/auth/tree/32c196b794df085edc657a7195232fb9978b8ea6/req.text</a:t>
            </a:r>
          </a:p>
          <a:p xmlns:a="http://schemas.openxmlformats.org/drawingml/2006/main">
            <a:r>
              <a:t>https://github.com/yrustamjon/auth/tree/32c196b794df085edc657a7195232fb9978b8ea6/frontend/package.json</a:t>
            </a:r>
          </a:p>
          <a:p xmlns:a="http://schemas.openxmlformats.org/drawingml/2006/main">
            <a:r>
              <a:t>https://github.com/yrustamjon/auth/tree/32c196b794df085edc657a7195232fb9978b8ea6/registration-helper</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Manba tasvir: docs/diplom/rasmlar/company_network.png. LAN A va LAN B amaldagi yirik korporativ tarmoq o‘lchovi emas, joylashtirish ssenariysi. Server domeni, TLS va WebAuthn origin/RP ID bir-biriga mos sozlanishi kerak.</a:t>
            </a:r>
          </a:p>
          <a:p xmlns:a="http://schemas.openxmlformats.org/drawingml/2006/main">
            <a:r>
              <a:t>Manbalar:</a:t>
            </a:r>
          </a:p>
          <a:p xmlns:a="http://schemas.openxmlformats.org/drawingml/2006/main">
            <a:r>
              <a:t>https://github.com/yrustamjon/auth/tree/32c196b794df085edc657a7195232fb9978b8ea6</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Ekranlar mahalliy Django serverida vaqtinchalik namuna kompaniyasi bilan olingan. Mobil sahifalar brauzerning 390 px ko‘rinishida ochilgan. Qurilma metama’lumotlari namuna sifatida kiritilgan. Tasvirga olishdan so‘ng sessiyalar o‘chirilgan, ko‘rsatilgan QR va kodlar amalda emas. Bu fizik Windows yoki telefon sensori sinovini tasdiqlamaydi.</a:t>
            </a:r>
          </a:p>
          <a:p xmlns:a="http://schemas.openxmlformats.org/drawingml/2006/main">
            <a:r>
              <a:t>Manbalar:</a:t>
            </a:r>
          </a:p>
          <a:p xmlns:a="http://schemas.openxmlformats.org/drawingml/2006/main">
            <a:r>
              <a:t>https://github.com/yrustamjon/auth/tree/32c196b794df085edc657a7195232fb9978b8ea6/frontend</a:t>
            </a:r>
          </a:p>
          <a:p xmlns:a="http://schemas.openxmlformats.org/drawingml/2006/main">
            <a:r>
              <a:t>https://github.com/yrustamjon/auth/tree/32c196b794df085edc657a7195232fb9978b8ea6/registration-helper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Ekranlar mahalliy Django serverida vaqtinchalik namuna kompaniyasi bilan olingan. Mobil sahifalar brauzerning 390 px ko‘rinishida ochilgan. Qurilma metama’lumotlari namuna sifatida kiritilgan. Tasvirga olishdan so‘ng sessiyalar o‘chirilgan, ko‘rsatilgan QR va kodlar amalda emas. Bu fizik Windows yoki telefon sensori sinovini tasdiqlamaydi.</a:t>
            </a:r>
          </a:p>
          <a:p xmlns:a="http://schemas.openxmlformats.org/drawingml/2006/main">
            <a:r>
              <a:t>Manbalar:</a:t>
            </a:r>
          </a:p>
          <a:p xmlns:a="http://schemas.openxmlformats.org/drawingml/2006/main">
            <a:r>
              <a:t>https://github.com/yrustamjon/auth/tree/32c196b794df085edc657a7195232fb9978b8ea6/apps/device/models.py</a:t>
            </a:r>
          </a:p>
          <a:p xmlns:a="http://schemas.openxmlformats.org/drawingml/2006/main">
            <a:r>
              <a:t>https://github.com/yrustamjon/auth/tree/32c196b794df085edc657a7195232fb9978b8ea6/apps/device/views.py</a:t>
            </a:r>
          </a:p>
          <a:p xmlns:a="http://schemas.openxmlformats.org/drawingml/2006/main">
            <a:r>
              <a:t>https://github.com/yrustamjon/auth/tree/32c196b794df085edc657a7195232fb9978b8ea6/registration-helper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Ekranlar mahalliy Django serverida vaqtinchalik namuna kompaniyasi bilan olingan. Mobil sahifalar brauzerning 390 px ko‘rinishida ochilgan. Qurilma metama’lumotlari namuna sifatida kiritilgan. Tasvirga olishdan so‘ng sessiyalar o‘chirilgan, ko‘rsatilgan QR va kodlar amalda emas. Bu fizik Windows yoki telefon sensori sinovini tasdiqlamaydi. Brauzer tasdig‘i qurilmani faol qilmaydi va agent public key yozuvini yaratmaydi.</a:t>
            </a:r>
          </a:p>
          <a:p xmlns:a="http://schemas.openxmlformats.org/drawingml/2006/main">
            <a:r>
              <a:t>Manbalar:</a:t>
            </a:r>
          </a:p>
          <a:p xmlns:a="http://schemas.openxmlformats.org/drawingml/2006/main">
            <a:r>
              <a:t>https://github.com/yrustamjon/auth/tree/32c196b794df085edc657a7195232fb9978b8ea6/apps/device</a:t>
            </a:r>
          </a:p>
          <a:p xmlns:a="http://schemas.openxmlformats.org/drawingml/2006/main">
            <a:r>
              <a:t>https://github.com/yrustamjon/auth/tree/32c196b794df085edc657a7195232fb9978b8ea6/frontend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Ekranlar mahalliy Django serverida vaqtinchalik namuna kompaniyasi bilan olingan. Mobil sahifalar brauzerning 390 px ko‘rinishida ochilgan. Qurilma metama’lumotlari namuna sifatida kiritilgan. Tasvirga olishdan so‘ng sessiyalar o‘chirilgan, ko‘rsatilgan QR va kodlar amalda emas. Bu fizik Windows yoki telefon sensori sinovini tasdiqlamaydi. Windows o‘rnatish jarayoni manba kodiga tayangan. Linux muhitida native o‘rnatuvchi oynalari, UAC, DPAPI va to‘liq OS kirish oqimi sinovdan o‘tkazilmagan. Bosqichlar tushuntirish tartibida sanalgan, alohida tarmoq so‘rovlari ketma-ketligining protokol spetsifikatsiyasi emas.</a:t>
            </a:r>
          </a:p>
          <a:p xmlns:a="http://schemas.openxmlformats.org/drawingml/2006/main">
            <a:r>
              <a:t>Manbalar:</a:t>
            </a:r>
          </a:p>
          <a:p xmlns:a="http://schemas.openxmlformats.org/drawingml/2006/main">
            <a:r>
              <a:t>https://github.com/yrustamjon/auth/tree/32c196b794df085edc657a7195232fb9978b8ea6/apps/org/models.py</a:t>
            </a:r>
          </a:p>
          <a:p xmlns:a="http://schemas.openxmlformats.org/drawingml/2006/main">
            <a:r>
              <a:t>https://github.com/yrustamjon/auth/tree/32c196b794df085edc657a7195232fb9978b8ea6/apps/agent</a:t>
            </a:r>
          </a:p>
          <a:p xmlns:a="http://schemas.openxmlformats.org/drawingml/2006/main">
            <a:r>
              <a:t>https://github.com/Yolchiyev-Rustamjon/agent/tree/e355c5ff47b558a1b843bec0f48dd7b5fa1d1bc4/installer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Ekranlar mahalliy Django serverida vaqtinchalik namuna kompaniyasi bilan olingan. Mobil sahifalar brauzerning 390 px ko‘rinishida ochilgan. Qurilma metama’lumotlari namuna sifatida kiritilgan. Tasvirga olishdan so‘ng sessiyalar o‘chirilgan, ko‘rsatilgan QR va kodlar amalda emas. Bu fizik Windows yoki telefon sensori sinovini tasdiqlamaydi. Ikki sahifa ochilganining o‘zi ikki mustaqil omil o‘tganini isbotlamaydi. WebAuthn user verification talab qilinadi, lekin har doim barmoq izi degani emas. Yuz tekshiruvida liveness va FAR/FRR mezonlari tasdiqlanmagan.</a:t>
            </a:r>
          </a:p>
          <a:p xmlns:a="http://schemas.openxmlformats.org/drawingml/2006/main">
            <a:r>
              <a:t>Manbalar:</a:t>
            </a:r>
          </a:p>
          <a:p xmlns:a="http://schemas.openxmlformats.org/drawingml/2006/main">
            <a:r>
              <a:t>https://pages.nist.gov/800-63-4/sp800-63b.html</a:t>
            </a:r>
          </a:p>
          <a:p xmlns:a="http://schemas.openxmlformats.org/drawingml/2006/main">
            <a:r>
              <a:t>https://github.com/yrustamjon/auth/tree/32c196b794df085edc657a7195232fb9978b8ea6/apps/biometrik</a:t>
            </a:r>
          </a:p>
          <a:p xmlns:a="http://schemas.openxmlformats.org/drawingml/2006/main">
            <a:r>
              <a:t>https://github.com/Yolchiyev-Rustamjon/agent/tree/e355c5ff47b558a1b843bec0f48dd7b5fa1d1bc4/core/auth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RSA kalit uzunligi kamida 2048 bit. Protokol RSA-PSS SHA-256, MGF1 SHA-256, salt length 32 ishlatadi. Vaqt oynasi o‘tmishda 300 s, kelajakda 30 s. Nonce uchun sertifikat bilan birgalikdagi yagonalik DB cheklovi mavjud.</a:t>
            </a:r>
          </a:p>
          <a:p xmlns:a="http://schemas.openxmlformats.org/drawingml/2006/main">
            <a:r>
              <a:t>Manbalar:</a:t>
            </a:r>
          </a:p>
          <a:p xmlns:a="http://schemas.openxmlformats.org/drawingml/2006/main">
            <a:r>
              <a:t>https://github.com/yrustamjon/auth/tree/32c196b794df085edc657a7195232fb9978b8ea6/apps/agent/signatures.py</a:t>
            </a:r>
          </a:p>
          <a:p xmlns:a="http://schemas.openxmlformats.org/drawingml/2006/main">
            <a:r>
              <a:t>https://github.com/yrustamjon/auth/tree/32c196b794df085edc657a7195232fb9978b8ea6/apps/agent/security.py</a:t>
            </a:r>
          </a:p>
          <a:p xmlns:a="http://schemas.openxmlformats.org/drawingml/2006/main">
            <a:r>
              <a:t>https://github.com/Yolchiyev-Rustamjon/agent/tree/e355c5ff47b558a1b843bec0f48dd7b5fa1d1bc4/core/network/signatures.py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Jadval jurnal yozuvining namunasi emas, hodisa turlarining izohi. Aloqa yo‘qolishi agentga hujum bo‘lganini o‘z-o‘zidan isbotlamaydi. Panel yopiq vaqtdagi monitoring uchun check_agent_health rejalashtirilishi yoki Celery worker/beat ishga tushirilishi kerak. Redis/Celery shu muhitda sinovdan o‘tkazilmagan.</a:t>
            </a:r>
          </a:p>
          <a:p xmlns:a="http://schemas.openxmlformats.org/drawingml/2006/main">
            <a:r>
              <a:t>Manbalar:</a:t>
            </a:r>
          </a:p>
          <a:p xmlns:a="http://schemas.openxmlformats.org/drawingml/2006/main">
            <a:r>
              <a:t>https://github.com/yrustamjon/auth/tree/32c196b794df085edc657a7195232fb9978b8ea6/apps/agent/models.py</a:t>
            </a:r>
          </a:p>
          <a:p xmlns:a="http://schemas.openxmlformats.org/drawingml/2006/main">
            <a:r>
              <a:t>https://github.com/yrustamjon/auth/tree/32c196b794df085edc657a7195232fb9978b8ea6/apps/agent/management/commands/check_agent_health.py</a:t>
            </a:r>
          </a:p>
          <a:p xmlns:a="http://schemas.openxmlformats.org/drawingml/2006/main">
            <a:r>
              <a:t>https://github.com/Yolchiyev-Rustamjon/agent/tree/e355c5ff47b558a1b843bec0f48dd7b5fa1d1bc4/core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Removal code qurilma va sertifikat avlodiga bog‘langan. Uninstall authorize/consume server bilan online ishlaydi. Native Windows UAC, qulflangan fayllar va recovery receipt jarayoni real VM’da bajarib ko‘rilmagan.</a:t>
            </a:r>
          </a:p>
          <a:p xmlns:a="http://schemas.openxmlformats.org/drawingml/2006/main">
            <a:r>
              <a:t>Manbalar:</a:t>
            </a:r>
          </a:p>
          <a:p xmlns:a="http://schemas.openxmlformats.org/drawingml/2006/main">
            <a:r>
              <a:t>https://github.com/yrustamjon/auth/tree/32c196b794df085edc657a7195232fb9978b8ea6/apps/device/models.py</a:t>
            </a:r>
          </a:p>
          <a:p xmlns:a="http://schemas.openxmlformats.org/drawingml/2006/main">
            <a:r>
              <a:t>https://github.com/yrustamjon/auth/tree/32c196b794df085edc657a7195232fb9978b8ea6/apps/agent</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Raqamli risk matritsasi haqiqiy korporativ kuzatuvlar bilan kalibrlanmaganligi uchun bu slaydda foiz yoki taxminiy xavf ballari berilmaydi. Agentni mahalliy administratorga qarshi PPL/ELAM bilan himoyalash joriy qilinmagan. Offline legacy siyosat fayllarini imzolash va amal muddatini tekshirishni kuchaytirish zarur.</a:t>
            </a:r>
          </a:p>
          <a:p xmlns:a="http://schemas.openxmlformats.org/drawingml/2006/main">
            <a:r>
              <a:t>Manbalar:</a:t>
            </a:r>
          </a:p>
          <a:p xmlns:a="http://schemas.openxmlformats.org/drawingml/2006/main">
            <a:r>
              <a:t>https://github.com/yrustamjon/auth/tree/32c196b794df085edc657a7195232fb9978b8ea6</a:t>
            </a:r>
          </a:p>
          <a:p xmlns:a="http://schemas.openxmlformats.org/drawingml/2006/main">
            <a:r>
              <a:t>https://github.com/Yolchiyev-Rustamjon/agent/tree/e355c5ff47b558a1b843bec0f48dd7b5fa1d1bc4/docs/security-model.md</a:t>
            </a:r>
          </a:p>
          <a:p xmlns:a="http://schemas.openxmlformats.org/drawingml/2006/main">
            <a:r>
              <a:t>https://github.com/Yolchiyev-Rustamjon/agent/tree/e355c5ff47b558a1b843bec0f48dd7b5fa1d1bc4/docs/security-progress.md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Sinovlar qaydi: /workspace/.cache/backend-tests.log, /workspace/.cache/agent-tests.log va docs/diplom/Yolchiyev_Rustam_Diplom_Loyihasi.docx. Backend 82/82. Frontend 11/11. Browser 45/46 dastlab, qolgan screenshot-timeout testi alohida qayta ishga tushganda o‘tgan. Agent portable: 38 run, 37 pass, 1 skip. Full discovery: 182 run, 164 pass, 12 skip, 6 Windows assumption errors. Ushbu taqdimot tahriri vaqtida testlar qayta ishga tushirilgani da’vo qilinmaydi.</a:t>
            </a:r>
          </a:p>
          <a:p xmlns:a="http://schemas.openxmlformats.org/drawingml/2006/main">
            <a:r>
              <a:t>Manbalar:</a:t>
            </a:r>
          </a:p>
          <a:p xmlns:a="http://schemas.openxmlformats.org/drawingml/2006/main">
            <a:r>
              <a:t>https://github.com/yrustamjon/auth/tree/32c196b794df085edc657a7195232fb9978b8ea6</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Amaldagi Windows agenti Credential Provider yoki secure desktop orqali barcha operatsion tizim kirish yo‘llarini to‘liq majburiy nazorat qilishini sinovlar tasdiqlamagan. Agent usul tanlaydi, majburiy ko‘p omilli chain barcha sessiyalarda mavjud emas. Bu cheklovlar bitiruv loyihasi prototipining keyingi bosqichlari sifatida ochiq ko‘rsatilgan.</a:t>
            </a:r>
          </a:p>
          <a:p xmlns:a="http://schemas.openxmlformats.org/drawingml/2006/main">
            <a:r>
              <a:t>Manbalar:</a:t>
            </a:r>
          </a:p>
          <a:p xmlns:a="http://schemas.openxmlformats.org/drawingml/2006/main">
            <a:r>
              <a:t>https://github.com/yrustamjon/auth/tree/32c196b794df085edc657a7195232fb9978b8ea6</a:t>
            </a:r>
          </a:p>
          <a:p xmlns:a="http://schemas.openxmlformats.org/drawingml/2006/main">
            <a:r>
              <a:t>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CIS Control 5 hisoblarni boshqarish uchun. [6] CIS Control 6 kirish huquqlarini boshqarish uchun. Nazariy manbalar foydalanuvchi bergan taqdimotdan saqlangan, loyiha NIST/CIS sertifikatiga ega degan da’vo yo‘q.</a:t>
            </a:r>
          </a:p>
          <a:p xmlns:a="http://schemas.openxmlformats.org/drawingml/2006/main">
            <a:r>
              <a:t>Manbalar:</a:t>
            </a:r>
          </a:p>
          <a:p xmlns:a="http://schemas.openxmlformats.org/drawingml/2006/main">
            <a:r>
              <a:t>[1] NIST SP 800-53 Rev. 5: https://csrc.nist.gov/pubs/sp/800/53/r5/upd1/final</a:t>
            </a:r>
          </a:p>
          <a:p xmlns:a="http://schemas.openxmlformats.org/drawingml/2006/main">
            <a:r>
              <a:t>[2] NIST SP 800-30 Rev. 1: https://csrc.nist.gov/pubs/sp/800/30/r1/final</a:t>
            </a:r>
          </a:p>
          <a:p xmlns:a="http://schemas.openxmlformats.org/drawingml/2006/main">
            <a:r>
              <a:t>[3] NIST SP 800-63A-4: https://pages.nist.gov/800-63-4/sp800-63a.html</a:t>
            </a:r>
          </a:p>
          <a:p xmlns:a="http://schemas.openxmlformats.org/drawingml/2006/main">
            <a:r>
              <a:t>[4] NIST SP 800-63B-4: https://pages.nist.gov/800-63-4/sp800-63b.html</a:t>
            </a:r>
          </a:p>
          <a:p xmlns:a="http://schemas.openxmlformats.org/drawingml/2006/main">
            <a:r>
              <a:t>[5–6] CIS Controls v8.1: https://www.cisecurity.org/controls/v8-1</a:t>
            </a:r>
          </a:p>
          <a:p xmlns:a="http://schemas.openxmlformats.org/drawingml/2006/main">
            <a:r>
              <a:t>[7] NIST SP 800-162: https://csrc.nist.gov/pubs/sp/800/162/upd2/final</a:t>
            </a:r>
          </a:p>
          <a:p xmlns:a="http://schemas.openxmlformats.org/drawingml/2006/main">
            <a:r>
              <a:t>[8] OWASP Cheat Sheet Series: https://cheatsheetseries.owasp.org/cheatsheets/Authorization_Cheat_Sheet.html</a:t>
            </a:r>
          </a:p>
          <a:p xmlns:a="http://schemas.openxmlformats.org/drawingml/2006/main">
            <a:r>
              <a:t>[9] NIST SP 800-207: https://csrc.nist.gov/pubs/sp/800/207/final</a:t>
            </a:r>
          </a:p>
          <a:p xmlns:a="http://schemas.openxmlformats.org/drawingml/2006/main">
            <a:r>
              <a:t>[10] yrustamjon/auth: https://github.com/yrustamjon/auth/tree/32c196b794df085edc657a7195232fb9978b8ea6</a:t>
            </a:r>
          </a:p>
          <a:p xmlns:a="http://schemas.openxmlformats.org/drawingml/2006/main">
            <a:r>
              <a:t>[11] Yolchiyev-Rustamjon/agent: https://github.com/Yolchiyev-Rustamjon/agent/tree/e355c5ff47b558a1b843bec0f48dd7b5fa1d1bc4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2dbbeaeebe47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6ee640320d4c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dd8e2f797a46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0f3d427d5645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3e0aef3ba744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5415f04cee41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E19E77-24AE-4F77-B29F-4B0DA92E8CA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495EB5-957D-40B3-988D-B924530A22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53CC1EC-CE43-48BC-AD8C-0501B4FEB1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F9C114-2C3E-4786-B0CB-CF1777FA7E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9A0AD7-6CFE-47F1-A7CA-C681A89FED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26DA0A-1257-4741-A314-866B9A0F6A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025A12-A032-4022-97DA-5E066F6755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943D31-BE30-48E5-97BD-CDEA8F38A4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DBB969-2EB3-42E0-A883-B11DE5BA63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51D0F2-8A6F-437A-865E-9A6BE04684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d4edd96b4e40c2" /><Relationship Type="http://schemas.openxmlformats.org/officeDocument/2006/relationships/slideLayout" Target="/ppt/slideLayouts/slideLayout1.xml" Id="R2d5c185883e749a8" /><Relationship Type="http://schemas.openxmlformats.org/officeDocument/2006/relationships/slideLayout" Target="/ppt/slideLayouts/slideLayout2.xml" Id="Re0f4443f0c7c4e5e" /><Relationship Type="http://schemas.openxmlformats.org/officeDocument/2006/relationships/slideLayout" Target="/ppt/slideLayouts/slideLayout3.xml" Id="Rdd07f037e695440c" /><Relationship Type="http://schemas.openxmlformats.org/officeDocument/2006/relationships/slideLayout" Target="/ppt/slideLayouts/slideLayout4.xml" Id="Rfcde0bab84454973" /><Relationship Type="http://schemas.openxmlformats.org/officeDocument/2006/relationships/slideLayout" Target="/ppt/slideLayouts/slideLayout5.xml" Id="R780e2558d4354df0" /><Relationship Type="http://schemas.openxmlformats.org/officeDocument/2006/relationships/slideLayout" Target="/ppt/slideLayouts/slideLayout6.xml" Id="R5db52cf39b0541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5c185883e749a8"/>
    <p:sldLayoutId xmlns:r="http://schemas.openxmlformats.org/officeDocument/2006/relationships" id="2147483650" r:id="Re0f4443f0c7c4e5e"/>
    <p:sldLayoutId xmlns:r="http://schemas.openxmlformats.org/officeDocument/2006/relationships" id="2147483651" r:id="Rdd07f037e695440c"/>
    <p:sldLayoutId xmlns:r="http://schemas.openxmlformats.org/officeDocument/2006/relationships" id="2147483652" r:id="Rfcde0bab84454973"/>
    <p:sldLayoutId xmlns:r="http://schemas.openxmlformats.org/officeDocument/2006/relationships" id="2147483653" r:id="R780e2558d4354df0"/>
    <p:sldLayoutId xmlns:r="http://schemas.openxmlformats.org/officeDocument/2006/relationships" id="2147483654" r:id="R5db52cf39b0541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481f17356a45ec" /><Relationship Type="http://schemas.openxmlformats.org/officeDocument/2006/relationships/notesSlide" Target="/ppt/notesSlides/notesSlide1.xml" Id="R9767b5bc367341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0c3f4841194fb9" /><Relationship Type="http://schemas.openxmlformats.org/officeDocument/2006/relationships/notesSlide" Target="/ppt/notesSlides/notesSlide2.xml" Id="Raf3d316bda8645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208a8b241c94274" /><Relationship Type="http://schemas.openxmlformats.org/officeDocument/2006/relationships/notesSlide" Target="/ppt/notesSlides/notesSlide3.xml" Id="R3c86ad494c0943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93b1b61197429d" /><Relationship Type="http://schemas.openxmlformats.org/officeDocument/2006/relationships/notesSlide" Target="/ppt/notesSlides/notesSlide4.xml" Id="Rd954c700b44849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80491992674ef3" /><Relationship Type="http://schemas.openxmlformats.org/officeDocument/2006/relationships/notesSlide" Target="/ppt/notesSlides/notesSlide5.xml" Id="Re8dccaaed2a24e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dad2e6ba574f92" /><Relationship Type="http://schemas.openxmlformats.org/officeDocument/2006/relationships/notesSlide" Target="/ppt/notesSlides/notesSlide6.xml" Id="Rff88e21b5d0846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4aa942f4af4c78" /><Relationship Type="http://schemas.openxmlformats.org/officeDocument/2006/relationships/notesSlide" Target="/ppt/notesSlides/notesSlide7.xml" Id="R8103cf99fff647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8184308b76c4888" /><Relationship Type="http://schemas.openxmlformats.org/officeDocument/2006/relationships/notesSlide" Target="/ppt/notesSlides/notesSlide8.xml" Id="R9299018d773148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fce895c31c4ca2" /><Relationship Type="http://schemas.openxmlformats.org/officeDocument/2006/relationships/notesSlide" Target="/ppt/notesSlides/notesSlide9.xml" Id="Rfd47fab35b20472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aa66b7d3774c07" /><Relationship Type="http://schemas.openxmlformats.org/officeDocument/2006/relationships/notesSlide" Target="/ppt/notesSlides/notesSlide10.xml" Id="R3f4dcfa8069c42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a3fa22fb154d98" /><Relationship Type="http://schemas.openxmlformats.org/officeDocument/2006/relationships/notesSlide" Target="/ppt/notesSlides/notesSlide11.xml" Id="Ra3169c97264045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dff4ff6bd634a09" /><Relationship Type="http://schemas.openxmlformats.org/officeDocument/2006/relationships/notesSlide" Target="/ppt/notesSlides/notesSlide12.xml" Id="Rf9808c4feb4245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c1b1905f94c4d00" /><Relationship Type="http://schemas.openxmlformats.org/officeDocument/2006/relationships/image" Target="/ppt/media/image.png" Id="R76facf78d2124c85" /><Relationship Type="http://schemas.openxmlformats.org/officeDocument/2006/relationships/notesSlide" Target="/ppt/notesSlides/notesSlide13.xml" Id="R5c17ef7d888d41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2621aa5c1794955" /><Relationship Type="http://schemas.openxmlformats.org/officeDocument/2006/relationships/image" Target="/ppt/media/image2.png" Id="R5cc94045fc084f1f" /><Relationship Type="http://schemas.openxmlformats.org/officeDocument/2006/relationships/image" Target="/ppt/media/image3.png" Id="R79575231bd974977" /><Relationship Type="http://schemas.openxmlformats.org/officeDocument/2006/relationships/notesSlide" Target="/ppt/notesSlides/notesSlide14.xml" Id="R2fb93e1911874e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26776e5a1eb45d8" /><Relationship Type="http://schemas.openxmlformats.org/officeDocument/2006/relationships/image" Target="/ppt/media/image4.png" Id="R18b17c043a7d46d1" /><Relationship Type="http://schemas.openxmlformats.org/officeDocument/2006/relationships/notesSlide" Target="/ppt/notesSlides/notesSlide15.xml" Id="Re7d073524d0d48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0cde7029ac9482e" /><Relationship Type="http://schemas.openxmlformats.org/officeDocument/2006/relationships/image" Target="/ppt/media/image5.png" Id="R35b000d1eebd4dd4" /><Relationship Type="http://schemas.openxmlformats.org/officeDocument/2006/relationships/image" Target="/ppt/media/image6.png" Id="R735b455a87414d7c" /><Relationship Type="http://schemas.openxmlformats.org/officeDocument/2006/relationships/notesSlide" Target="/ppt/notesSlides/notesSlide16.xml" Id="R1d2ebc158741413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ea8da9baf984d91" /><Relationship Type="http://schemas.openxmlformats.org/officeDocument/2006/relationships/image" Target="/ppt/media/image7.png" Id="Rcaa746a001bf455c" /><Relationship Type="http://schemas.openxmlformats.org/officeDocument/2006/relationships/notesSlide" Target="/ppt/notesSlides/notesSlide17.xml" Id="R3147e0d8b2744d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a75a661361342a5" /><Relationship Type="http://schemas.openxmlformats.org/officeDocument/2006/relationships/image" Target="/ppt/media/image8.png" Id="R0367263dffdd4cfc" /><Relationship Type="http://schemas.openxmlformats.org/officeDocument/2006/relationships/image" Target="/ppt/media/image9.png" Id="R05f566f2c7044616" /><Relationship Type="http://schemas.openxmlformats.org/officeDocument/2006/relationships/notesSlide" Target="/ppt/notesSlides/notesSlide18.xml" Id="Rad6b0df2b6da40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5933d3c79ed4d59" /><Relationship Type="http://schemas.openxmlformats.org/officeDocument/2006/relationships/notesSlide" Target="/ppt/notesSlides/notesSlide19.xml" Id="Ra580920071b148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f3f3a55e1d04e15" /><Relationship Type="http://schemas.openxmlformats.org/officeDocument/2006/relationships/notesSlide" Target="/ppt/notesSlides/notesSlide20.xml" Id="Rb76f62053c144c1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7097964d0d24106" /><Relationship Type="http://schemas.openxmlformats.org/officeDocument/2006/relationships/notesSlide" Target="/ppt/notesSlides/notesSlide21.xml" Id="R705cae75b75d4e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24f716a80bb42d1" /><Relationship Type="http://schemas.openxmlformats.org/officeDocument/2006/relationships/notesSlide" Target="/ppt/notesSlides/notesSlide22.xml" Id="Rb7096abb250745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f3a6ab91600435e" /><Relationship Type="http://schemas.openxmlformats.org/officeDocument/2006/relationships/notesSlide" Target="/ppt/notesSlides/notesSlide23.xml" Id="Rd1c20a62975d482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1ab625cc48c44c4" /><Relationship Type="http://schemas.openxmlformats.org/officeDocument/2006/relationships/notesSlide" Target="/ppt/notesSlides/notesSlide24.xml" Id="R3891a63571074d1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2126ffc023a49c6" /><Relationship Type="http://schemas.openxmlformats.org/officeDocument/2006/relationships/hyperlink" Target="https://csrc.nist.gov/pubs/sp/800/53/r5/upd1/final" TargetMode="External" Id="R560164cd13b54490" /><Relationship Type="http://schemas.openxmlformats.org/officeDocument/2006/relationships/hyperlink" Target="https://csrc.nist.gov/pubs/sp/800/30/r1/final" TargetMode="External" Id="R02771b523ffb4e05" /><Relationship Type="http://schemas.openxmlformats.org/officeDocument/2006/relationships/hyperlink" Target="https://pages.nist.gov/800-63-4/sp800-63a.html" TargetMode="External" Id="R22c83052082f4a38" /><Relationship Type="http://schemas.openxmlformats.org/officeDocument/2006/relationships/hyperlink" Target="https://pages.nist.gov/800-63-4/sp800-63b.html" TargetMode="External" Id="R7726197a6d8d42bb" /><Relationship Type="http://schemas.openxmlformats.org/officeDocument/2006/relationships/hyperlink" Target="https://www.cisecurity.org/controls/v8-1" TargetMode="External" Id="R1dce14bb051d4098" /><Relationship Type="http://schemas.openxmlformats.org/officeDocument/2006/relationships/hyperlink" Target="https://csrc.nist.gov/pubs/sp/800/162/upd2/final" TargetMode="External" Id="R21c308d51b464d70" /><Relationship Type="http://schemas.openxmlformats.org/officeDocument/2006/relationships/hyperlink" Target="https://cheatsheetseries.owasp.org/cheatsheets/Authorization_Cheat_Sheet.html" TargetMode="External" Id="R0932b8ab9d0c40a1" /><Relationship Type="http://schemas.openxmlformats.org/officeDocument/2006/relationships/hyperlink" Target="https://csrc.nist.gov/pubs/sp/800/207/final" TargetMode="External" Id="R54fcbd6d55e14504" /><Relationship Type="http://schemas.openxmlformats.org/officeDocument/2006/relationships/hyperlink" Target="https://github.com/yrustamjon/auth/tree/32c196b794df085edc657a7195232fb9978b8ea6" TargetMode="External" Id="R20dcd9df55f94ca3" /><Relationship Type="http://schemas.openxmlformats.org/officeDocument/2006/relationships/hyperlink" Target="https://github.com/Yolchiyev-Rustamjon/agent/tree/e355c5ff47b558a1b843bec0f48dd7b5fa1d1bc4" TargetMode="External" Id="Rdab9d958f3f94cdd" /><Relationship Type="http://schemas.openxmlformats.org/officeDocument/2006/relationships/notesSlide" Target="/ppt/notesSlides/notesSlide25.xml" Id="Ra101b301ddef4f6b" /></Relationships>
</file>

<file path=ppt/slides/slide1.xml><?xml version="1.0" encoding="utf-8"?>
<p:sld xmlns:p="http://schemas.openxmlformats.org/presentationml/2006/main">
  <p:cSld>
    <p:bg>
      <p:bgPr>
        <a:solidFill xmlns:a="http://schemas.openxmlformats.org/drawingml/2006/main">
          <a:srgbClr val="15283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C1C8745-A88C-433D-B3C3-30D72A8887BB}"/>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97C82E-5306-4950-A715-27CD977E88B5}"/>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5283F"/>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16B51C1A-313C-4D1D-A64D-A6B7A5602B04}"/>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01 / 25</a:t>
            </a:r>
          </a:p>
        </p:txBody>
      </p:sp>
      <p:sp>
        <p:nvSpPr>
          <p:cNvPr id="4" name="">
            <a:extLst xmlns:a="http://schemas.openxmlformats.org/drawingml/2006/main">
              <a:ext uri="{FF2B5EF4-FFF2-40B4-BE49-F238E27FC236}">
                <a16:creationId xmlns:a16="http://schemas.microsoft.com/office/drawing/2014/main" id="{421E0DB5-9449-410D-A53D-ACD557E2BE66}"/>
              </a:ext>
            </a:extLst>
          </p:cNvPr>
          <p:cNvSpPr>
            <a:spLocks xmlns:a="http://schemas.openxmlformats.org/drawingml/2006/main" noGrp="1"/>
          </p:cNvSpPr>
          <p:nvPr/>
        </p:nvSpPr>
        <p:spPr>
          <a:xfrm xmlns:a="http://schemas.openxmlformats.org/drawingml/2006/main">
            <a:off x="514350" y="514350"/>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80DCD2"/>
                </a:solidFill>
                <a:latin typeface="Aptos"/>
                <a:ea typeface="Aptos"/>
                <a:cs typeface="Aptos"/>
              </a:defRPr>
            </a:defPPr>
          </a:lstStyle>
          <a:p xmlns:a="http://schemas.openxmlformats.org/drawingml/2006/main">
            <a:pPr algn="l">
              <a:buNone/>
              <a:defRPr sz="1575" b="1">
                <a:solidFill>
                  <a:srgbClr val="80DCD2"/>
                </a:solidFill>
                <a:latin typeface="Aptos"/>
                <a:ea typeface="Aptos"/>
                <a:cs typeface="Aptos"/>
              </a:defRPr>
            </a:pPr>
            <a:r>
              <a:rPr sz="1575" b="1">
                <a:solidFill>
                  <a:srgbClr val="80DCD2"/>
                </a:solidFill>
                <a:latin typeface="Aptos"/>
                <a:ea typeface="Aptos"/>
                <a:cs typeface="Aptos"/>
              </a:rPr>
              <a:t>DIPLOM LOYIHASI</a:t>
            </a:r>
          </a:p>
        </p:txBody>
      </p:sp>
      <p:sp>
        <p:nvSpPr>
          <p:cNvPr id="5" name="">
            <a:extLst xmlns:a="http://schemas.openxmlformats.org/drawingml/2006/main">
              <a:ext uri="{FF2B5EF4-FFF2-40B4-BE49-F238E27FC236}">
                <a16:creationId xmlns:a16="http://schemas.microsoft.com/office/drawing/2014/main" id="{B897A81E-50D4-4C47-B592-9878E4597513}"/>
              </a:ext>
            </a:extLst>
          </p:cNvPr>
          <p:cNvSpPr>
            <a:spLocks xmlns:a="http://schemas.openxmlformats.org/drawingml/2006/main" noGrp="1"/>
          </p:cNvSpPr>
          <p:nvPr/>
        </p:nvSpPr>
        <p:spPr>
          <a:xfrm xmlns:a="http://schemas.openxmlformats.org/drawingml/2006/main">
            <a:off x="514350" y="1438275"/>
            <a:ext cx="7096125" cy="2352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925" b="1">
                <a:solidFill>
                  <a:srgbClr val="FFFFFF"/>
                </a:solidFill>
                <a:latin typeface="Aptos"/>
                <a:ea typeface="Aptos"/>
                <a:cs typeface="Aptos"/>
              </a:defRPr>
            </a:defPPr>
          </a:lstStyle>
          <a:p xmlns:a="http://schemas.openxmlformats.org/drawingml/2006/main">
            <a:pPr algn="l">
              <a:buNone/>
              <a:defRPr sz="2925" b="1">
                <a:solidFill>
                  <a:srgbClr val="FFFFFF"/>
                </a:solidFill>
                <a:latin typeface="Aptos"/>
                <a:ea typeface="Aptos"/>
                <a:cs typeface="Aptos"/>
              </a:defRPr>
            </a:pPr>
            <a:r>
              <a:rPr sz="2925" b="1">
                <a:solidFill>
                  <a:srgbClr val="FFFFFF"/>
                </a:solidFill>
                <a:latin typeface="Aptos"/>
                <a:ea typeface="Aptos"/>
                <a:cs typeface="Aptos"/>
              </a:rPr>
              <a:t>Operatsion tizimlar uchun</a:t>
            </a:r>
          </a:p>
          <a:p xmlns:a="http://schemas.openxmlformats.org/drawingml/2006/main">
            <a:pPr algn="l">
              <a:buNone/>
              <a:defRPr sz="2925" b="1">
                <a:solidFill>
                  <a:srgbClr val="FFFFFF"/>
                </a:solidFill>
                <a:latin typeface="Aptos"/>
                <a:ea typeface="Aptos"/>
                <a:cs typeface="Aptos"/>
              </a:defRPr>
            </a:pPr>
            <a:r>
              <a:rPr sz="2925" b="1">
                <a:solidFill>
                  <a:srgbClr val="FFFFFF"/>
                </a:solidFill>
                <a:latin typeface="Aptos"/>
                <a:ea typeface="Aptos"/>
                <a:cs typeface="Aptos"/>
              </a:rPr>
              <a:t>ko‘p faktorli autentifikatsiya</a:t>
            </a:r>
          </a:p>
          <a:p xmlns:a="http://schemas.openxmlformats.org/drawingml/2006/main">
            <a:pPr algn="l">
              <a:buNone/>
              <a:defRPr sz="2925" b="1">
                <a:solidFill>
                  <a:srgbClr val="FFFFFF"/>
                </a:solidFill>
                <a:latin typeface="Aptos"/>
                <a:ea typeface="Aptos"/>
                <a:cs typeface="Aptos"/>
              </a:defRPr>
            </a:pPr>
            <a:r>
              <a:rPr sz="2925" b="1">
                <a:solidFill>
                  <a:srgbClr val="FFFFFF"/>
                </a:solidFill>
                <a:latin typeface="Aptos"/>
                <a:ea typeface="Aptos"/>
                <a:cs typeface="Aptos"/>
              </a:rPr>
              <a:t>asosidagi foydalanishni</a:t>
            </a:r>
          </a:p>
          <a:p xmlns:a="http://schemas.openxmlformats.org/drawingml/2006/main">
            <a:pPr algn="l">
              <a:buNone/>
              <a:defRPr sz="2925" b="1">
                <a:solidFill>
                  <a:srgbClr val="FFFFFF"/>
                </a:solidFill>
                <a:latin typeface="Aptos"/>
                <a:ea typeface="Aptos"/>
                <a:cs typeface="Aptos"/>
              </a:defRPr>
            </a:pPr>
            <a:r>
              <a:rPr sz="2925" b="1">
                <a:solidFill>
                  <a:srgbClr val="FFFFFF"/>
                </a:solidFill>
                <a:latin typeface="Aptos"/>
                <a:ea typeface="Aptos"/>
                <a:cs typeface="Aptos"/>
              </a:rPr>
              <a:t>nazoratlash tizimini ishlab chiqish</a:t>
            </a:r>
          </a:p>
        </p:txBody>
      </p:sp>
      <p:sp>
        <p:nvSpPr>
          <p:cNvPr id="6" name="">
            <a:extLst xmlns:a="http://schemas.openxmlformats.org/drawingml/2006/main">
              <a:ext uri="{FF2B5EF4-FFF2-40B4-BE49-F238E27FC236}">
                <a16:creationId xmlns:a16="http://schemas.microsoft.com/office/drawing/2014/main" id="{E4DC1542-AA03-4E35-9702-518B543C9FFF}"/>
              </a:ext>
            </a:extLst>
          </p:cNvPr>
          <p:cNvSpPr>
            <a:spLocks xmlns:a="http://schemas.openxmlformats.org/drawingml/2006/main" noGrp="1"/>
          </p:cNvSpPr>
          <p:nvPr/>
        </p:nvSpPr>
        <p:spPr>
          <a:xfrm xmlns:a="http://schemas.openxmlformats.org/drawingml/2006/main">
            <a:off x="514350" y="4067175"/>
            <a:ext cx="695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1">
                <a:solidFill>
                  <a:srgbClr val="80DCD2"/>
                </a:solidFill>
                <a:latin typeface="Aptos"/>
                <a:ea typeface="Aptos"/>
                <a:cs typeface="Aptos"/>
              </a:defRPr>
            </a:defPPr>
          </a:lstStyle>
          <a:p xmlns:a="http://schemas.openxmlformats.org/drawingml/2006/main">
            <a:pPr algn="l">
              <a:buNone/>
              <a:defRPr sz="1875" b="1">
                <a:solidFill>
                  <a:srgbClr val="80DCD2"/>
                </a:solidFill>
                <a:latin typeface="Aptos"/>
                <a:ea typeface="Aptos"/>
                <a:cs typeface="Aptos"/>
              </a:defRPr>
            </a:pPr>
            <a:r>
              <a:rPr sz="1875" b="1">
                <a:solidFill>
                  <a:srgbClr val="80DCD2"/>
                </a:solidFill>
                <a:latin typeface="Aptos"/>
                <a:ea typeface="Aptos"/>
                <a:cs typeface="Aptos"/>
              </a:rPr>
              <a:t>Kompaniyalarning turli tarmoqlardagi</a:t>
            </a:r>
          </a:p>
          <a:p xmlns:a="http://schemas.openxmlformats.org/drawingml/2006/main">
            <a:pPr algn="l">
              <a:buNone/>
              <a:defRPr sz="1875" b="1">
                <a:solidFill>
                  <a:srgbClr val="80DCD2"/>
                </a:solidFill>
                <a:latin typeface="Aptos"/>
                <a:ea typeface="Aptos"/>
                <a:cs typeface="Aptos"/>
              </a:defRPr>
            </a:pPr>
            <a:r>
              <a:rPr sz="1875" b="1">
                <a:solidFill>
                  <a:srgbClr val="80DCD2"/>
                </a:solidFill>
                <a:latin typeface="Aptos"/>
                <a:ea typeface="Aptos"/>
                <a:cs typeface="Aptos"/>
              </a:rPr>
              <a:t>ko‘p sonli PC’lari uchun</a:t>
            </a:r>
          </a:p>
        </p:txBody>
      </p:sp>
      <p:sp>
        <p:nvSpPr>
          <p:cNvPr id="7" name="">
            <a:extLst xmlns:a="http://schemas.openxmlformats.org/drawingml/2006/main">
              <a:ext uri="{FF2B5EF4-FFF2-40B4-BE49-F238E27FC236}">
                <a16:creationId xmlns:a16="http://schemas.microsoft.com/office/drawing/2014/main" id="{0E178D45-4301-4968-85F7-9FE68A977BEC}"/>
              </a:ext>
            </a:extLst>
          </p:cNvPr>
          <p:cNvSpPr>
            <a:spLocks xmlns:a="http://schemas.openxmlformats.org/drawingml/2006/main" noGrp="1"/>
          </p:cNvSpPr>
          <p:nvPr/>
        </p:nvSpPr>
        <p:spPr>
          <a:xfrm xmlns:a="http://schemas.openxmlformats.org/drawingml/2006/main">
            <a:off x="514350" y="5267325"/>
            <a:ext cx="657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BECFE1"/>
                </a:solidFill>
                <a:latin typeface="Aptos"/>
                <a:ea typeface="Aptos"/>
                <a:cs typeface="Aptos"/>
              </a:defRPr>
            </a:defPPr>
          </a:lstStyle>
          <a:p xmlns:a="http://schemas.openxmlformats.org/drawingml/2006/main">
            <a:pPr algn="l">
              <a:buNone/>
              <a:defRPr sz="1725" b="0">
                <a:solidFill>
                  <a:srgbClr val="BECFE1"/>
                </a:solidFill>
                <a:latin typeface="Aptos"/>
                <a:ea typeface="Aptos"/>
                <a:cs typeface="Aptos"/>
              </a:defRPr>
            </a:pPr>
            <a:r>
              <a:rPr sz="1725" b="0">
                <a:solidFill>
                  <a:srgbClr val="BECFE1"/>
                </a:solidFill>
                <a:latin typeface="Aptos"/>
                <a:ea typeface="Aptos"/>
                <a:cs typeface="Aptos"/>
              </a:rPr>
              <a:t>Bajardi: Yo‘lchiyev Rustam</a:t>
            </a:r>
          </a:p>
          <a:p xmlns:a="http://schemas.openxmlformats.org/drawingml/2006/main">
            <a:pPr algn="l">
              <a:buNone/>
              <a:defRPr sz="1725" b="0">
                <a:solidFill>
                  <a:srgbClr val="BECFE1"/>
                </a:solidFill>
                <a:latin typeface="Aptos"/>
                <a:ea typeface="Aptos"/>
                <a:cs typeface="Aptos"/>
              </a:defRPr>
            </a:pPr>
            <a:r>
              <a:rPr sz="1725" b="0">
                <a:solidFill>
                  <a:srgbClr val="BECFE1"/>
                </a:solidFill>
                <a:latin typeface="Aptos"/>
                <a:ea typeface="Aptos"/>
                <a:cs typeface="Aptos"/>
              </a:rPr>
              <a:t>Tekshirdi: __________________</a:t>
            </a:r>
          </a:p>
        </p:txBody>
      </p:sp>
      <p:sp>
        <p:nvSpPr>
          <p:cNvPr id="8" name="">
            <a:extLst xmlns:a="http://schemas.openxmlformats.org/drawingml/2006/main">
              <a:ext uri="{FF2B5EF4-FFF2-40B4-BE49-F238E27FC236}">
                <a16:creationId xmlns:a16="http://schemas.microsoft.com/office/drawing/2014/main" id="{30E32888-9A2E-4861-B890-5AAC29C7C18D}"/>
              </a:ext>
            </a:extLst>
          </p:cNvPr>
          <p:cNvSpPr>
            <a:spLocks xmlns:a="http://schemas.openxmlformats.org/drawingml/2006/main" noGrp="1"/>
          </p:cNvSpPr>
          <p:nvPr/>
        </p:nvSpPr>
        <p:spPr>
          <a:xfrm xmlns:a="http://schemas.openxmlformats.org/drawingml/2006/main">
            <a:off x="7858125" y="1581150"/>
            <a:ext cx="3810000" cy="3686175"/>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D9E2EC"/>
            </a:solidFill>
            <a:prstDash val="solid"/>
          </a:ln>
        </p:spPr>
      </p:sp>
      <p:sp>
        <p:nvSpPr>
          <p:cNvPr id="9" name="">
            <a:extLst xmlns:a="http://schemas.openxmlformats.org/drawingml/2006/main">
              <a:ext uri="{FF2B5EF4-FFF2-40B4-BE49-F238E27FC236}">
                <a16:creationId xmlns:a16="http://schemas.microsoft.com/office/drawing/2014/main" id="{7C338D9D-7111-45A9-9BD5-0D6C1CB21F74}"/>
              </a:ext>
            </a:extLst>
          </p:cNvPr>
          <p:cNvSpPr>
            <a:spLocks xmlns:a="http://schemas.openxmlformats.org/drawingml/2006/main" noGrp="1"/>
          </p:cNvSpPr>
          <p:nvPr/>
        </p:nvSpPr>
        <p:spPr>
          <a:xfrm xmlns:a="http://schemas.openxmlformats.org/drawingml/2006/main">
            <a:off x="7858125" y="1581150"/>
            <a:ext cx="3810000" cy="438150"/>
          </a:xfrm>
          <a:prstGeom xmlns:a="http://schemas.openxmlformats.org/drawingml/2006/main" prst="rect">
            <a:avLst/>
          </a:prstGeom>
          <a:solidFill xmlns:a="http://schemas.openxmlformats.org/drawingml/2006/main">
            <a:srgbClr val="15283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305306-13AE-4F31-8AEC-D84308FEF8FB}"/>
              </a:ext>
            </a:extLst>
          </p:cNvPr>
          <p:cNvSpPr>
            <a:spLocks xmlns:a="http://schemas.openxmlformats.org/drawingml/2006/main" noGrp="1"/>
          </p:cNvSpPr>
          <p:nvPr/>
        </p:nvSpPr>
        <p:spPr>
          <a:xfrm xmlns:a="http://schemas.openxmlformats.org/drawingml/2006/main">
            <a:off x="8029575" y="1676400"/>
            <a:ext cx="346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FFFFFF"/>
                </a:solidFill>
                <a:latin typeface="Aptos"/>
                <a:ea typeface="Aptos"/>
                <a:cs typeface="Aptos"/>
              </a:defRPr>
            </a:defPPr>
          </a:lstStyle>
          <a:p xmlns:a="http://schemas.openxmlformats.org/drawingml/2006/main">
            <a:pPr algn="l">
              <a:buNone/>
              <a:defRPr sz="1575" b="1">
                <a:solidFill>
                  <a:srgbClr val="FFFFFF"/>
                </a:solidFill>
                <a:latin typeface="Aptos"/>
                <a:ea typeface="Aptos"/>
                <a:cs typeface="Aptos"/>
              </a:defRPr>
            </a:pPr>
            <a:r>
              <a:rPr sz="1575" b="1">
                <a:solidFill>
                  <a:srgbClr val="FFFFFF"/>
                </a:solidFill>
                <a:latin typeface="Aptos"/>
                <a:ea typeface="Aptos"/>
                <a:cs typeface="Aptos"/>
              </a:rPr>
              <a:t>KORPORATIV SSENARIY</a:t>
            </a:r>
          </a:p>
        </p:txBody>
      </p:sp>
      <p:sp>
        <p:nvSpPr>
          <p:cNvPr id="11" name="">
            <a:extLst xmlns:a="http://schemas.openxmlformats.org/drawingml/2006/main">
              <a:ext uri="{FF2B5EF4-FFF2-40B4-BE49-F238E27FC236}">
                <a16:creationId xmlns:a16="http://schemas.microsoft.com/office/drawing/2014/main" id="{39F2C68D-4BCC-482D-A1F7-5F8F0046C525}"/>
              </a:ext>
            </a:extLst>
          </p:cNvPr>
          <p:cNvSpPr>
            <a:spLocks xmlns:a="http://schemas.openxmlformats.org/drawingml/2006/main" noGrp="1"/>
          </p:cNvSpPr>
          <p:nvPr/>
        </p:nvSpPr>
        <p:spPr>
          <a:xfrm xmlns:a="http://schemas.openxmlformats.org/drawingml/2006/main">
            <a:off x="8086725" y="2228850"/>
            <a:ext cx="335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576C82"/>
                </a:solidFill>
                <a:latin typeface="Aptos"/>
                <a:ea typeface="Aptos"/>
                <a:cs typeface="Aptos"/>
              </a:defRPr>
            </a:defPPr>
          </a:lstStyle>
          <a:p xmlns:a="http://schemas.openxmlformats.org/drawingml/2006/main">
            <a:pPr algn="l">
              <a:buNone/>
              <a:defRPr sz="1425" b="1">
                <a:solidFill>
                  <a:srgbClr val="576C82"/>
                </a:solidFill>
                <a:latin typeface="Aptos"/>
                <a:ea typeface="Aptos"/>
                <a:cs typeface="Aptos"/>
              </a:defRPr>
            </a:pPr>
            <a:r>
              <a:rPr sz="1425" b="1">
                <a:solidFill>
                  <a:srgbClr val="576C82"/>
                </a:solidFill>
                <a:latin typeface="Aptos"/>
                <a:ea typeface="Aptos"/>
                <a:cs typeface="Aptos"/>
              </a:rPr>
              <a:t>Tashkilot</a:t>
            </a:r>
          </a:p>
        </p:txBody>
      </p:sp>
      <p:sp>
        <p:nvSpPr>
          <p:cNvPr id="12" name="">
            <a:extLst xmlns:a="http://schemas.openxmlformats.org/drawingml/2006/main">
              <a:ext uri="{FF2B5EF4-FFF2-40B4-BE49-F238E27FC236}">
                <a16:creationId xmlns:a16="http://schemas.microsoft.com/office/drawing/2014/main" id="{64D468D5-AE5A-4BE5-99A0-056F156455C7}"/>
              </a:ext>
            </a:extLst>
          </p:cNvPr>
          <p:cNvSpPr>
            <a:spLocks xmlns:a="http://schemas.openxmlformats.org/drawingml/2006/main" noGrp="1"/>
          </p:cNvSpPr>
          <p:nvPr/>
        </p:nvSpPr>
        <p:spPr>
          <a:xfrm xmlns:a="http://schemas.openxmlformats.org/drawingml/2006/main">
            <a:off x="8086725" y="2505075"/>
            <a:ext cx="3352800" cy="438150"/>
          </a:xfrm>
          <a:prstGeom xmlns:a="http://schemas.openxmlformats.org/drawingml/2006/main" prst="roundRect">
            <a:avLst>
              <a:gd name="adj" fmla="val 26087"/>
            </a:avLst>
          </a:prstGeom>
          <a:solidFill xmlns:a="http://schemas.openxmlformats.org/drawingml/2006/main">
            <a:srgbClr val="F6F8FC"/>
          </a:solidFill>
          <a:ln xmlns:a="http://schemas.openxmlformats.org/drawingml/2006/main" w="9525">
            <a:solidFill>
              <a:srgbClr val="D9E2EC"/>
            </a:solidFill>
            <a:prstDash val="solid"/>
          </a:ln>
        </p:spPr>
      </p:sp>
      <p:sp>
        <p:nvSpPr>
          <p:cNvPr id="13" name="">
            <a:extLst xmlns:a="http://schemas.openxmlformats.org/drawingml/2006/main">
              <a:ext uri="{FF2B5EF4-FFF2-40B4-BE49-F238E27FC236}">
                <a16:creationId xmlns:a16="http://schemas.microsoft.com/office/drawing/2014/main" id="{5A0ADCF3-900F-4DB2-AAF0-7F9ED4E1A6AB}"/>
              </a:ext>
            </a:extLst>
          </p:cNvPr>
          <p:cNvSpPr>
            <a:spLocks xmlns:a="http://schemas.openxmlformats.org/drawingml/2006/main" noGrp="1"/>
          </p:cNvSpPr>
          <p:nvPr/>
        </p:nvSpPr>
        <p:spPr>
          <a:xfrm xmlns:a="http://schemas.openxmlformats.org/drawingml/2006/main">
            <a:off x="8201025" y="2600325"/>
            <a:ext cx="3124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E3047"/>
                </a:solidFill>
                <a:latin typeface="Aptos"/>
                <a:ea typeface="Aptos"/>
                <a:cs typeface="Aptos"/>
              </a:defRPr>
            </a:defPPr>
          </a:lstStyle>
          <a:p xmlns:a="http://schemas.openxmlformats.org/drawingml/2006/main">
            <a:pPr algn="l">
              <a:buNone/>
              <a:defRPr sz="1725" b="0">
                <a:solidFill>
                  <a:srgbClr val="1E3047"/>
                </a:solidFill>
                <a:latin typeface="Aptos"/>
                <a:ea typeface="Aptos"/>
                <a:cs typeface="Aptos"/>
              </a:defRPr>
            </a:pPr>
            <a:r>
              <a:rPr sz="1725" b="0">
                <a:solidFill>
                  <a:srgbClr val="1E3047"/>
                </a:solidFill>
                <a:latin typeface="Aptos"/>
                <a:ea typeface="Aptos"/>
                <a:cs typeface="Aptos"/>
              </a:rPr>
              <a:t>Namuna kompaniya</a:t>
            </a:r>
          </a:p>
        </p:txBody>
      </p:sp>
      <p:sp>
        <p:nvSpPr>
          <p:cNvPr id="14" name="">
            <a:extLst xmlns:a="http://schemas.openxmlformats.org/drawingml/2006/main">
              <a:ext uri="{FF2B5EF4-FFF2-40B4-BE49-F238E27FC236}">
                <a16:creationId xmlns:a16="http://schemas.microsoft.com/office/drawing/2014/main" id="{0D17EBF2-F0B3-4CF9-8F3D-4F352211961A}"/>
              </a:ext>
            </a:extLst>
          </p:cNvPr>
          <p:cNvSpPr>
            <a:spLocks xmlns:a="http://schemas.openxmlformats.org/drawingml/2006/main" noGrp="1"/>
          </p:cNvSpPr>
          <p:nvPr/>
        </p:nvSpPr>
        <p:spPr>
          <a:xfrm xmlns:a="http://schemas.openxmlformats.org/drawingml/2006/main">
            <a:off x="8086725" y="3124200"/>
            <a:ext cx="335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1">
                <a:solidFill>
                  <a:srgbClr val="576C82"/>
                </a:solidFill>
              </a:defRPr>
            </a:defPPr>
          </a:lstStyle>
          <a:p xmlns:a="http://schemas.openxmlformats.org/drawingml/2006/main">
            <a:pPr>
              <a:buNone/>
              <a:defRPr sz="1425" b="1">
                <a:solidFill>
                  <a:srgbClr val="576C82"/>
                </a:solidFill>
              </a:defRPr>
            </a:pPr>
            <a:r>
              <a:rPr sz="1425" b="1">
                <a:solidFill>
                  <a:srgbClr val="576C82"/>
                </a:solidFill>
              </a:rPr>
              <a:t>So‘ralgan amal</a:t>
            </a:r>
          </a:p>
        </p:txBody>
      </p:sp>
      <p:sp>
        <p:nvSpPr>
          <p:cNvPr id="15" name="">
            <a:extLst xmlns:a="http://schemas.openxmlformats.org/drawingml/2006/main">
              <a:ext uri="{FF2B5EF4-FFF2-40B4-BE49-F238E27FC236}">
                <a16:creationId xmlns:a16="http://schemas.microsoft.com/office/drawing/2014/main" id="{1F8108B6-00F3-42A0-BEA6-10B3D12C3B95}"/>
              </a:ext>
            </a:extLst>
          </p:cNvPr>
          <p:cNvSpPr>
            <a:spLocks xmlns:a="http://schemas.openxmlformats.org/drawingml/2006/main" noGrp="1"/>
          </p:cNvSpPr>
          <p:nvPr/>
        </p:nvSpPr>
        <p:spPr>
          <a:xfrm xmlns:a="http://schemas.openxmlformats.org/drawingml/2006/main">
            <a:off x="8086725" y="3400425"/>
            <a:ext cx="3352800" cy="438150"/>
          </a:xfrm>
          <a:prstGeom xmlns:a="http://schemas.openxmlformats.org/drawingml/2006/main" prst="roundRect">
            <a:avLst>
              <a:gd name="adj" fmla="val 26087"/>
            </a:avLst>
          </a:prstGeom>
          <a:solidFill xmlns:a="http://schemas.openxmlformats.org/drawingml/2006/main">
            <a:srgbClr val="F6F8FC"/>
          </a:solidFill>
          <a:ln xmlns:a="http://schemas.openxmlformats.org/drawingml/2006/main" w="9525">
            <a:solidFill>
              <a:srgbClr val="D9E2EC"/>
            </a:solidFill>
            <a:prstDash val="solid"/>
          </a:ln>
        </p:spPr>
      </p:sp>
      <p:sp>
        <p:nvSpPr>
          <p:cNvPr id="16" name="">
            <a:extLst xmlns:a="http://schemas.openxmlformats.org/drawingml/2006/main">
              <a:ext uri="{FF2B5EF4-FFF2-40B4-BE49-F238E27FC236}">
                <a16:creationId xmlns:a16="http://schemas.microsoft.com/office/drawing/2014/main" id="{BAAEEC31-6CD2-43C3-AE74-F042175A1637}"/>
              </a:ext>
            </a:extLst>
          </p:cNvPr>
          <p:cNvSpPr>
            <a:spLocks xmlns:a="http://schemas.openxmlformats.org/drawingml/2006/main" noGrp="1"/>
          </p:cNvSpPr>
          <p:nvPr/>
        </p:nvSpPr>
        <p:spPr>
          <a:xfrm xmlns:a="http://schemas.openxmlformats.org/drawingml/2006/main">
            <a:off x="8201025" y="3495675"/>
            <a:ext cx="3124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1E3047"/>
                </a:solidFill>
                <a:latin typeface="Aptos"/>
                <a:ea typeface="Aptos"/>
                <a:cs typeface="Aptos"/>
              </a:defRPr>
            </a:defPPr>
          </a:lstStyle>
          <a:p xmlns:a="http://schemas.openxmlformats.org/drawingml/2006/main">
            <a:pPr algn="l">
              <a:buNone/>
              <a:defRPr sz="1725" b="0">
                <a:solidFill>
                  <a:srgbClr val="1E3047"/>
                </a:solidFill>
                <a:latin typeface="Aptos"/>
                <a:ea typeface="Aptos"/>
                <a:cs typeface="Aptos"/>
              </a:defRPr>
            </a:pPr>
            <a:r>
              <a:rPr sz="1725" b="0">
                <a:solidFill>
                  <a:srgbClr val="1E3047"/>
                </a:solidFill>
                <a:latin typeface="Aptos"/>
                <a:ea typeface="Aptos"/>
                <a:cs typeface="Aptos"/>
              </a:rPr>
              <a:t>PC’ni ro‘yxatga olish</a:t>
            </a:r>
          </a:p>
        </p:txBody>
      </p:sp>
      <p:sp>
        <p:nvSpPr>
          <p:cNvPr id="17" name="">
            <a:extLst xmlns:a="http://schemas.openxmlformats.org/drawingml/2006/main">
              <a:ext uri="{FF2B5EF4-FFF2-40B4-BE49-F238E27FC236}">
                <a16:creationId xmlns:a16="http://schemas.microsoft.com/office/drawing/2014/main" id="{3F6A6319-829C-41E0-902E-49F7A81B9357}"/>
              </a:ext>
            </a:extLst>
          </p:cNvPr>
          <p:cNvSpPr>
            <a:spLocks xmlns:a="http://schemas.openxmlformats.org/drawingml/2006/main" noGrp="1"/>
          </p:cNvSpPr>
          <p:nvPr/>
        </p:nvSpPr>
        <p:spPr>
          <a:xfrm xmlns:a="http://schemas.openxmlformats.org/drawingml/2006/main">
            <a:off x="8086725" y="4171950"/>
            <a:ext cx="3352800" cy="314325"/>
          </a:xfrm>
          <a:prstGeom xmlns:a="http://schemas.openxmlformats.org/drawingml/2006/main" prst="roundRect">
            <a:avLst>
              <a:gd name="adj" fmla="val 36364"/>
            </a:avLst>
          </a:prstGeom>
          <a:solidFill xmlns:a="http://schemas.openxmlformats.org/drawingml/2006/main">
            <a:srgbClr val="DDF5E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679AF5-A459-41EA-B0C3-2330EAF17952}"/>
              </a:ext>
            </a:extLst>
          </p:cNvPr>
          <p:cNvSpPr>
            <a:spLocks xmlns:a="http://schemas.openxmlformats.org/drawingml/2006/main" noGrp="1"/>
          </p:cNvSpPr>
          <p:nvPr/>
        </p:nvSpPr>
        <p:spPr>
          <a:xfrm xmlns:a="http://schemas.openxmlformats.org/drawingml/2006/main">
            <a:off x="8201025" y="4219575"/>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007F79"/>
                </a:solidFill>
                <a:latin typeface="Aptos"/>
                <a:ea typeface="Aptos"/>
                <a:cs typeface="Aptos"/>
              </a:defRPr>
            </a:defPPr>
          </a:lstStyle>
          <a:p xmlns:a="http://schemas.openxmlformats.org/drawingml/2006/main">
            <a:pPr algn="l">
              <a:buNone/>
              <a:defRPr sz="1350" b="1">
                <a:solidFill>
                  <a:srgbClr val="007F79"/>
                </a:solidFill>
                <a:latin typeface="Aptos"/>
                <a:ea typeface="Aptos"/>
                <a:cs typeface="Aptos"/>
              </a:defRPr>
            </a:pPr>
            <a:r>
              <a:rPr sz="1350" b="1">
                <a:solidFill>
                  <a:srgbClr val="007F79"/>
                </a:solidFill>
                <a:latin typeface="Aptos"/>
                <a:ea typeface="Aptos"/>
                <a:cs typeface="Aptos"/>
              </a:rPr>
              <a:t>ADMINISTRATOR TASDIG‘I</a:t>
            </a:r>
          </a:p>
        </p:txBody>
      </p:sp>
      <p:sp>
        <p:nvSpPr>
          <p:cNvPr id="19" name="">
            <a:extLst xmlns:a="http://schemas.openxmlformats.org/drawingml/2006/main">
              <a:ext uri="{FF2B5EF4-FFF2-40B4-BE49-F238E27FC236}">
                <a16:creationId xmlns:a16="http://schemas.microsoft.com/office/drawing/2014/main" id="{F5595B40-8ACC-466B-9563-EAB4A29ECBF0}"/>
              </a:ext>
            </a:extLst>
          </p:cNvPr>
          <p:cNvSpPr>
            <a:spLocks xmlns:a="http://schemas.openxmlformats.org/drawingml/2006/main" noGrp="1"/>
          </p:cNvSpPr>
          <p:nvPr/>
        </p:nvSpPr>
        <p:spPr>
          <a:xfrm xmlns:a="http://schemas.openxmlformats.org/drawingml/2006/main">
            <a:off x="8096250" y="4743450"/>
            <a:ext cx="328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576C82"/>
                </a:solidFill>
                <a:latin typeface="Aptos"/>
                <a:ea typeface="Aptos"/>
                <a:cs typeface="Aptos"/>
              </a:defRPr>
            </a:defPPr>
          </a:lstStyle>
          <a:p xmlns:a="http://schemas.openxmlformats.org/drawingml/2006/main">
            <a:pPr algn="l">
              <a:buNone/>
              <a:defRPr sz="1350" b="0">
                <a:solidFill>
                  <a:srgbClr val="576C82"/>
                </a:solidFill>
                <a:latin typeface="Aptos"/>
                <a:ea typeface="Aptos"/>
                <a:cs typeface="Aptos"/>
              </a:defRPr>
            </a:pPr>
            <a:r>
              <a:rPr sz="1350" b="0">
                <a:solidFill>
                  <a:srgbClr val="576C82"/>
                </a:solidFill>
                <a:latin typeface="Aptos"/>
                <a:ea typeface="Aptos"/>
                <a:cs typeface="Aptos"/>
              </a:rPr>
              <a:t>Jarayonning shartli ko‘rinishi</a:t>
            </a:r>
          </a:p>
        </p:txBody>
      </p:sp>
    </p:spTree>
    <p:extLst>
      <p:ext uri="{BB962C8B-B14F-4D97-AF65-F5344CB8AC3E}">
        <p14:creationId xmlns:p14="http://schemas.microsoft.com/office/powerpoint/2010/main" val="1368410311"/>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D8D1D33-813D-4466-A51F-B5C549989C03}"/>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FC007B-4300-40CB-A5A1-09B3829270AB}"/>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Taqdimot rejasi</a:t>
            </a:r>
          </a:p>
        </p:txBody>
      </p:sp>
      <p:sp>
        <p:nvSpPr>
          <p:cNvPr id="3" name="">
            <a:extLst xmlns:a="http://schemas.openxmlformats.org/drawingml/2006/main">
              <a:ext uri="{FF2B5EF4-FFF2-40B4-BE49-F238E27FC236}">
                <a16:creationId xmlns:a16="http://schemas.microsoft.com/office/drawing/2014/main" id="{50A1F904-F297-4198-BAB8-18B9265DACF7}"/>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Asosiy maqsad: kompaniya PC’laridan foydalanishni markazdan nazorat qilish.</a:t>
            </a:r>
          </a:p>
        </p:txBody>
      </p:sp>
      <p:sp>
        <p:nvSpPr>
          <p:cNvPr id="4" name="">
            <a:extLst xmlns:a="http://schemas.openxmlformats.org/drawingml/2006/main">
              <a:ext uri="{FF2B5EF4-FFF2-40B4-BE49-F238E27FC236}">
                <a16:creationId xmlns:a16="http://schemas.microsoft.com/office/drawing/2014/main" id="{436E6D9D-2847-431D-985D-A88473D399B3}"/>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 NIST SP 800-53 / [10] auth / [11] agent</a:t>
            </a:r>
          </a:p>
        </p:txBody>
      </p:sp>
      <p:sp>
        <p:nvSpPr>
          <p:cNvPr id="5" name="">
            <a:extLst xmlns:a="http://schemas.openxmlformats.org/drawingml/2006/main">
              <a:ext uri="{FF2B5EF4-FFF2-40B4-BE49-F238E27FC236}">
                <a16:creationId xmlns:a16="http://schemas.microsoft.com/office/drawing/2014/main" id="{2F679CEB-D4B5-4D68-8534-8C6DF1FE6224}"/>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02 / 25</a:t>
            </a:r>
          </a:p>
        </p:txBody>
      </p:sp>
      <p:sp>
        <p:nvSpPr>
          <p:cNvPr id="6" name="">
            <a:extLst xmlns:a="http://schemas.openxmlformats.org/drawingml/2006/main">
              <a:ext uri="{FF2B5EF4-FFF2-40B4-BE49-F238E27FC236}">
                <a16:creationId xmlns:a16="http://schemas.microsoft.com/office/drawing/2014/main" id="{B8EBBA4E-4A0A-4F0E-BADE-52A5E8642202}"/>
              </a:ext>
            </a:extLst>
          </p:cNvPr>
          <p:cNvSpPr>
            <a:spLocks xmlns:a="http://schemas.openxmlformats.org/drawingml/2006/main" noGrp="1"/>
          </p:cNvSpPr>
          <p:nvPr/>
        </p:nvSpPr>
        <p:spPr>
          <a:xfrm xmlns:a="http://schemas.openxmlformats.org/drawingml/2006/main">
            <a:off x="514350" y="2143125"/>
            <a:ext cx="2647950" cy="29527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DAD99FC-3D0F-4A9B-9BD0-41AEC6FD8312}"/>
              </a:ext>
            </a:extLst>
          </p:cNvPr>
          <p:cNvSpPr>
            <a:spLocks xmlns:a="http://schemas.openxmlformats.org/drawingml/2006/main" noGrp="1"/>
          </p:cNvSpPr>
          <p:nvPr/>
        </p:nvSpPr>
        <p:spPr>
          <a:xfrm xmlns:a="http://schemas.openxmlformats.org/drawingml/2006/main">
            <a:off x="704850" y="2295525"/>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01</a:t>
            </a:r>
          </a:p>
        </p:txBody>
      </p:sp>
      <p:sp>
        <p:nvSpPr>
          <p:cNvPr id="8" name="">
            <a:extLst xmlns:a="http://schemas.openxmlformats.org/drawingml/2006/main">
              <a:ext uri="{FF2B5EF4-FFF2-40B4-BE49-F238E27FC236}">
                <a16:creationId xmlns:a16="http://schemas.microsoft.com/office/drawing/2014/main" id="{668F8A6D-B235-41B6-AB7C-858028DB6056}"/>
              </a:ext>
            </a:extLst>
          </p:cNvPr>
          <p:cNvSpPr>
            <a:spLocks xmlns:a="http://schemas.openxmlformats.org/drawingml/2006/main" noGrp="1"/>
          </p:cNvSpPr>
          <p:nvPr/>
        </p:nvSpPr>
        <p:spPr>
          <a:xfrm xmlns:a="http://schemas.openxmlformats.org/drawingml/2006/main">
            <a:off x="704850" y="3009900"/>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283F"/>
                </a:solidFill>
              </a:defRPr>
            </a:defPPr>
          </a:lstStyle>
          <a:p xmlns:a="http://schemas.openxmlformats.org/drawingml/2006/main">
            <a:pPr>
              <a:buNone/>
              <a:defRPr sz="2100" b="1">
                <a:solidFill>
                  <a:srgbClr val="15283F"/>
                </a:solidFill>
              </a:defRPr>
            </a:pPr>
            <a:r>
              <a:rPr sz="2100" b="1">
                <a:solidFill>
                  <a:srgbClr val="15283F"/>
                </a:solidFill>
              </a:rPr>
              <a:t>Asoslar</a:t>
            </a:r>
          </a:p>
        </p:txBody>
      </p:sp>
      <p:sp>
        <p:nvSpPr>
          <p:cNvPr id="9" name="">
            <a:extLst xmlns:a="http://schemas.openxmlformats.org/drawingml/2006/main">
              <a:ext uri="{FF2B5EF4-FFF2-40B4-BE49-F238E27FC236}">
                <a16:creationId xmlns:a16="http://schemas.microsoft.com/office/drawing/2014/main" id="{91F1C022-3C6C-44AB-8A58-A05B56EA1611}"/>
              </a:ext>
            </a:extLst>
          </p:cNvPr>
          <p:cNvSpPr>
            <a:spLocks xmlns:a="http://schemas.openxmlformats.org/drawingml/2006/main" noGrp="1"/>
          </p:cNvSpPr>
          <p:nvPr/>
        </p:nvSpPr>
        <p:spPr>
          <a:xfrm xmlns:a="http://schemas.openxmlformats.org/drawingml/2006/main">
            <a:off x="704850" y="3743325"/>
            <a:ext cx="2266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1E3047"/>
                </a:solidFill>
              </a:defRPr>
            </a:defPPr>
          </a:lstStyle>
          <a:p xmlns:a="http://schemas.openxmlformats.org/drawingml/2006/main">
            <a:pPr>
              <a:buNone/>
              <a:defRPr sz="1800" b="0">
                <a:solidFill>
                  <a:srgbClr val="1E3047"/>
                </a:solidFill>
              </a:defRPr>
            </a:pPr>
            <a:r>
              <a:rPr sz="1800" b="0">
                <a:solidFill>
                  <a:srgbClr val="1E3047"/>
                </a:solidFill>
              </a:rPr>
              <a:t>Shaxs, hisob, ruxsat</a:t>
            </a:r>
          </a:p>
          <a:p xmlns:a="http://schemas.openxmlformats.org/drawingml/2006/main">
            <a:pPr>
              <a:buNone/>
              <a:defRPr sz="1800" b="0">
                <a:solidFill>
                  <a:srgbClr val="1E3047"/>
                </a:solidFill>
              </a:defRPr>
            </a:pPr>
            <a:r>
              <a:rPr sz="1800" b="0">
                <a:solidFill>
                  <a:srgbClr val="1E3047"/>
                </a:solidFill>
              </a:rPr>
              <a:t>va xavf tushunchalari</a:t>
            </a:r>
          </a:p>
        </p:txBody>
      </p:sp>
      <p:sp>
        <p:nvSpPr>
          <p:cNvPr id="10" name="">
            <a:extLst xmlns:a="http://schemas.openxmlformats.org/drawingml/2006/main">
              <a:ext uri="{FF2B5EF4-FFF2-40B4-BE49-F238E27FC236}">
                <a16:creationId xmlns:a16="http://schemas.microsoft.com/office/drawing/2014/main" id="{B2A88950-69DE-47CA-A171-C69CA84C096D}"/>
              </a:ext>
            </a:extLst>
          </p:cNvPr>
          <p:cNvSpPr>
            <a:spLocks xmlns:a="http://schemas.openxmlformats.org/drawingml/2006/main" noGrp="1"/>
          </p:cNvSpPr>
          <p:nvPr/>
        </p:nvSpPr>
        <p:spPr>
          <a:xfrm xmlns:a="http://schemas.openxmlformats.org/drawingml/2006/main">
            <a:off x="3352800" y="2143125"/>
            <a:ext cx="2647950" cy="29527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EB9C90-4715-437A-AA75-0E435C3B2432}"/>
              </a:ext>
            </a:extLst>
          </p:cNvPr>
          <p:cNvSpPr>
            <a:spLocks xmlns:a="http://schemas.openxmlformats.org/drawingml/2006/main" noGrp="1"/>
          </p:cNvSpPr>
          <p:nvPr/>
        </p:nvSpPr>
        <p:spPr>
          <a:xfrm xmlns:a="http://schemas.openxmlformats.org/drawingml/2006/main">
            <a:off x="3543300" y="2295525"/>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02</a:t>
            </a:r>
          </a:p>
        </p:txBody>
      </p:sp>
      <p:sp>
        <p:nvSpPr>
          <p:cNvPr id="12" name="">
            <a:extLst xmlns:a="http://schemas.openxmlformats.org/drawingml/2006/main">
              <a:ext uri="{FF2B5EF4-FFF2-40B4-BE49-F238E27FC236}">
                <a16:creationId xmlns:a16="http://schemas.microsoft.com/office/drawing/2014/main" id="{72BE6B21-ACDB-43D1-98F7-59BA234CAB6B}"/>
              </a:ext>
            </a:extLst>
          </p:cNvPr>
          <p:cNvSpPr>
            <a:spLocks xmlns:a="http://schemas.openxmlformats.org/drawingml/2006/main" noGrp="1"/>
          </p:cNvSpPr>
          <p:nvPr/>
        </p:nvSpPr>
        <p:spPr>
          <a:xfrm xmlns:a="http://schemas.openxmlformats.org/drawingml/2006/main">
            <a:off x="3543300" y="3009900"/>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1">
                <a:solidFill>
                  <a:srgbClr val="15283F"/>
                </a:solidFill>
                <a:latin typeface="Aptos"/>
                <a:ea typeface="Aptos"/>
                <a:cs typeface="Aptos"/>
              </a:defRPr>
            </a:defPPr>
          </a:lstStyle>
          <a:p xmlns:a="http://schemas.openxmlformats.org/drawingml/2006/main">
            <a:pPr algn="l">
              <a:buNone/>
              <a:defRPr sz="2100" b="1">
                <a:solidFill>
                  <a:srgbClr val="15283F"/>
                </a:solidFill>
                <a:latin typeface="Aptos"/>
                <a:ea typeface="Aptos"/>
                <a:cs typeface="Aptos"/>
              </a:defRPr>
            </a:pPr>
            <a:r>
              <a:rPr sz="2100" b="1">
                <a:solidFill>
                  <a:srgbClr val="15283F"/>
                </a:solidFill>
                <a:latin typeface="Aptos"/>
                <a:ea typeface="Aptos"/>
                <a:cs typeface="Aptos"/>
              </a:rPr>
              <a:t>Loyiha</a:t>
            </a:r>
          </a:p>
        </p:txBody>
      </p:sp>
      <p:sp>
        <p:nvSpPr>
          <p:cNvPr id="13" name="">
            <a:extLst xmlns:a="http://schemas.openxmlformats.org/drawingml/2006/main">
              <a:ext uri="{FF2B5EF4-FFF2-40B4-BE49-F238E27FC236}">
                <a16:creationId xmlns:a16="http://schemas.microsoft.com/office/drawing/2014/main" id="{D3869B00-C054-4FB2-A7E6-FDA6D603C87E}"/>
              </a:ext>
            </a:extLst>
          </p:cNvPr>
          <p:cNvSpPr>
            <a:spLocks xmlns:a="http://schemas.openxmlformats.org/drawingml/2006/main" noGrp="1"/>
          </p:cNvSpPr>
          <p:nvPr/>
        </p:nvSpPr>
        <p:spPr>
          <a:xfrm xmlns:a="http://schemas.openxmlformats.org/drawingml/2006/main">
            <a:off x="3543300" y="3743325"/>
            <a:ext cx="2266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E3047"/>
                </a:solidFill>
                <a:latin typeface="Aptos"/>
                <a:ea typeface="Aptos"/>
                <a:cs typeface="Aptos"/>
              </a:defRPr>
            </a:defPPr>
          </a:lstStyle>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Server, agent va</a:t>
            </a:r>
          </a:p>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tashkilot chegarasi</a:t>
            </a:r>
          </a:p>
        </p:txBody>
      </p:sp>
      <p:sp>
        <p:nvSpPr>
          <p:cNvPr id="14" name="">
            <a:extLst xmlns:a="http://schemas.openxmlformats.org/drawingml/2006/main">
              <a:ext uri="{FF2B5EF4-FFF2-40B4-BE49-F238E27FC236}">
                <a16:creationId xmlns:a16="http://schemas.microsoft.com/office/drawing/2014/main" id="{7CDADA26-A541-42C8-A7CB-CCB55213BB53}"/>
              </a:ext>
            </a:extLst>
          </p:cNvPr>
          <p:cNvSpPr>
            <a:spLocks xmlns:a="http://schemas.openxmlformats.org/drawingml/2006/main" noGrp="1"/>
          </p:cNvSpPr>
          <p:nvPr/>
        </p:nvSpPr>
        <p:spPr>
          <a:xfrm xmlns:a="http://schemas.openxmlformats.org/drawingml/2006/main">
            <a:off x="6191250" y="2143125"/>
            <a:ext cx="2647950" cy="29527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EF7CA8D-16B2-4C1C-9754-F0062E4EA316}"/>
              </a:ext>
            </a:extLst>
          </p:cNvPr>
          <p:cNvSpPr>
            <a:spLocks xmlns:a="http://schemas.openxmlformats.org/drawingml/2006/main" noGrp="1"/>
          </p:cNvSpPr>
          <p:nvPr/>
        </p:nvSpPr>
        <p:spPr>
          <a:xfrm xmlns:a="http://schemas.openxmlformats.org/drawingml/2006/main">
            <a:off x="6381750" y="2295525"/>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03</a:t>
            </a:r>
          </a:p>
        </p:txBody>
      </p:sp>
      <p:sp>
        <p:nvSpPr>
          <p:cNvPr id="16" name="">
            <a:extLst xmlns:a="http://schemas.openxmlformats.org/drawingml/2006/main">
              <a:ext uri="{FF2B5EF4-FFF2-40B4-BE49-F238E27FC236}">
                <a16:creationId xmlns:a16="http://schemas.microsoft.com/office/drawing/2014/main" id="{F873AE71-271D-4E7B-8846-D9E7A1295B18}"/>
              </a:ext>
            </a:extLst>
          </p:cNvPr>
          <p:cNvSpPr>
            <a:spLocks xmlns:a="http://schemas.openxmlformats.org/drawingml/2006/main" noGrp="1"/>
          </p:cNvSpPr>
          <p:nvPr/>
        </p:nvSpPr>
        <p:spPr>
          <a:xfrm xmlns:a="http://schemas.openxmlformats.org/drawingml/2006/main">
            <a:off x="6381750" y="3009900"/>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1">
                <a:solidFill>
                  <a:srgbClr val="15283F"/>
                </a:solidFill>
                <a:latin typeface="Aptos"/>
                <a:ea typeface="Aptos"/>
                <a:cs typeface="Aptos"/>
              </a:defRPr>
            </a:defPPr>
          </a:lstStyle>
          <a:p xmlns:a="http://schemas.openxmlformats.org/drawingml/2006/main">
            <a:pPr algn="l">
              <a:buNone/>
              <a:defRPr sz="2025" b="1">
                <a:solidFill>
                  <a:srgbClr val="15283F"/>
                </a:solidFill>
                <a:latin typeface="Aptos"/>
                <a:ea typeface="Aptos"/>
                <a:cs typeface="Aptos"/>
              </a:defRPr>
            </a:pPr>
            <a:r>
              <a:rPr sz="2025" b="1">
                <a:solidFill>
                  <a:srgbClr val="15283F"/>
                </a:solidFill>
                <a:latin typeface="Aptos"/>
                <a:ea typeface="Aptos"/>
                <a:cs typeface="Aptos"/>
              </a:rPr>
              <a:t>PC registratsiyasi</a:t>
            </a:r>
          </a:p>
        </p:txBody>
      </p:sp>
      <p:sp>
        <p:nvSpPr>
          <p:cNvPr id="17" name="">
            <a:extLst xmlns:a="http://schemas.openxmlformats.org/drawingml/2006/main">
              <a:ext uri="{FF2B5EF4-FFF2-40B4-BE49-F238E27FC236}">
                <a16:creationId xmlns:a16="http://schemas.microsoft.com/office/drawing/2014/main" id="{E0857C86-F2EC-467D-A9A9-EFE6A550B581}"/>
              </a:ext>
            </a:extLst>
          </p:cNvPr>
          <p:cNvSpPr>
            <a:spLocks xmlns:a="http://schemas.openxmlformats.org/drawingml/2006/main" noGrp="1"/>
          </p:cNvSpPr>
          <p:nvPr/>
        </p:nvSpPr>
        <p:spPr>
          <a:xfrm xmlns:a="http://schemas.openxmlformats.org/drawingml/2006/main">
            <a:off x="6381750" y="3743325"/>
            <a:ext cx="2266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E3047"/>
                </a:solidFill>
                <a:latin typeface="Aptos"/>
                <a:ea typeface="Aptos"/>
                <a:cs typeface="Aptos"/>
              </a:defRPr>
            </a:defPPr>
          </a:lstStyle>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QR orqali tasdiq</a:t>
            </a:r>
          </a:p>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va agent aktivatsiyasi</a:t>
            </a:r>
          </a:p>
        </p:txBody>
      </p:sp>
      <p:sp>
        <p:nvSpPr>
          <p:cNvPr id="18" name="">
            <a:extLst xmlns:a="http://schemas.openxmlformats.org/drawingml/2006/main">
              <a:ext uri="{FF2B5EF4-FFF2-40B4-BE49-F238E27FC236}">
                <a16:creationId xmlns:a16="http://schemas.microsoft.com/office/drawing/2014/main" id="{F9B815C7-30EA-40FA-9760-E2809DA02CA8}"/>
              </a:ext>
            </a:extLst>
          </p:cNvPr>
          <p:cNvSpPr>
            <a:spLocks xmlns:a="http://schemas.openxmlformats.org/drawingml/2006/main" noGrp="1"/>
          </p:cNvSpPr>
          <p:nvPr/>
        </p:nvSpPr>
        <p:spPr>
          <a:xfrm xmlns:a="http://schemas.openxmlformats.org/drawingml/2006/main">
            <a:off x="9029700" y="2143125"/>
            <a:ext cx="2647950" cy="2952750"/>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8C3201E-4531-46F8-932E-D2CCC51F63C6}"/>
              </a:ext>
            </a:extLst>
          </p:cNvPr>
          <p:cNvSpPr>
            <a:spLocks xmlns:a="http://schemas.openxmlformats.org/drawingml/2006/main" noGrp="1"/>
          </p:cNvSpPr>
          <p:nvPr/>
        </p:nvSpPr>
        <p:spPr>
          <a:xfrm xmlns:a="http://schemas.openxmlformats.org/drawingml/2006/main">
            <a:off x="9220200" y="2295525"/>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04</a:t>
            </a:r>
          </a:p>
        </p:txBody>
      </p:sp>
      <p:sp>
        <p:nvSpPr>
          <p:cNvPr id="20" name="">
            <a:extLst xmlns:a="http://schemas.openxmlformats.org/drawingml/2006/main">
              <a:ext uri="{FF2B5EF4-FFF2-40B4-BE49-F238E27FC236}">
                <a16:creationId xmlns:a16="http://schemas.microsoft.com/office/drawing/2014/main" id="{63029B64-9053-4E57-950E-FE74F0BA0BC5}"/>
              </a:ext>
            </a:extLst>
          </p:cNvPr>
          <p:cNvSpPr>
            <a:spLocks xmlns:a="http://schemas.openxmlformats.org/drawingml/2006/main" noGrp="1"/>
          </p:cNvSpPr>
          <p:nvPr/>
        </p:nvSpPr>
        <p:spPr>
          <a:xfrm xmlns:a="http://schemas.openxmlformats.org/drawingml/2006/main">
            <a:off x="9220200" y="3009900"/>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283F"/>
                </a:solidFill>
              </a:defRPr>
            </a:defPPr>
          </a:lstStyle>
          <a:p xmlns:a="http://schemas.openxmlformats.org/drawingml/2006/main">
            <a:pPr>
              <a:buNone/>
              <a:defRPr sz="2100" b="1">
                <a:solidFill>
                  <a:srgbClr val="15283F"/>
                </a:solidFill>
              </a:defRPr>
            </a:pPr>
            <a:r>
              <a:rPr sz="2100" b="1">
                <a:solidFill>
                  <a:srgbClr val="15283F"/>
                </a:solidFill>
              </a:rPr>
              <a:t>Nazorat</a:t>
            </a:r>
          </a:p>
        </p:txBody>
      </p:sp>
      <p:sp>
        <p:nvSpPr>
          <p:cNvPr id="21" name="">
            <a:extLst xmlns:a="http://schemas.openxmlformats.org/drawingml/2006/main">
              <a:ext uri="{FF2B5EF4-FFF2-40B4-BE49-F238E27FC236}">
                <a16:creationId xmlns:a16="http://schemas.microsoft.com/office/drawing/2014/main" id="{F53852E2-0996-4F25-B664-300618572B06}"/>
              </a:ext>
            </a:extLst>
          </p:cNvPr>
          <p:cNvSpPr>
            <a:spLocks xmlns:a="http://schemas.openxmlformats.org/drawingml/2006/main" noGrp="1"/>
          </p:cNvSpPr>
          <p:nvPr/>
        </p:nvSpPr>
        <p:spPr>
          <a:xfrm xmlns:a="http://schemas.openxmlformats.org/drawingml/2006/main">
            <a:off x="9220200" y="3743325"/>
            <a:ext cx="22669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E3047"/>
                </a:solidFill>
                <a:latin typeface="Aptos"/>
                <a:ea typeface="Aptos"/>
                <a:cs typeface="Aptos"/>
              </a:defRPr>
            </a:defPPr>
          </a:lstStyle>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Audit, test natijalari</a:t>
            </a:r>
          </a:p>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va qolgan cheklovlar</a:t>
            </a:r>
          </a:p>
        </p:txBody>
      </p:sp>
      <p:sp>
        <p:nvSpPr>
          <p:cNvPr id="22" name="">
            <a:extLst xmlns:a="http://schemas.openxmlformats.org/drawingml/2006/main">
              <a:ext uri="{FF2B5EF4-FFF2-40B4-BE49-F238E27FC236}">
                <a16:creationId xmlns:a16="http://schemas.microsoft.com/office/drawing/2014/main" id="{2D33CE59-00FC-4BD3-9F7F-9EB77B87A183}"/>
              </a:ext>
            </a:extLst>
          </p:cNvPr>
          <p:cNvSpPr>
            <a:spLocks xmlns:a="http://schemas.openxmlformats.org/drawingml/2006/main" noGrp="1"/>
          </p:cNvSpPr>
          <p:nvPr/>
        </p:nvSpPr>
        <p:spPr>
          <a:xfrm xmlns:a="http://schemas.openxmlformats.org/drawingml/2006/main">
            <a:off x="514350" y="5743575"/>
            <a:ext cx="11163300" cy="504825"/>
          </a:xfrm>
          <a:prstGeom xmlns:a="http://schemas.openxmlformats.org/drawingml/2006/main" prst="roundRect">
            <a:avLst>
              <a:gd name="adj" fmla="val 22642"/>
            </a:avLst>
          </a:prstGeom>
          <a:solidFill xmlns:a="http://schemas.openxmlformats.org/drawingml/2006/main">
            <a:srgbClr val="15283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502919A-E95F-43AE-9BF1-F3463F8CF58D}"/>
              </a:ext>
            </a:extLst>
          </p:cNvPr>
          <p:cNvSpPr>
            <a:spLocks xmlns:a="http://schemas.openxmlformats.org/drawingml/2006/main" noGrp="1"/>
          </p:cNvSpPr>
          <p:nvPr/>
        </p:nvSpPr>
        <p:spPr>
          <a:xfrm xmlns:a="http://schemas.openxmlformats.org/drawingml/2006/main">
            <a:off x="704850" y="5857875"/>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FFFFFF"/>
                </a:solidFill>
                <a:latin typeface="Aptos"/>
                <a:ea typeface="Aptos"/>
                <a:cs typeface="Aptos"/>
              </a:defRPr>
            </a:defPPr>
          </a:lstStyle>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Amaliy qism kompaniya PC’sini ulash va uning holatini kuzatish jarayonini ko‘rsatadi.</a:t>
            </a:r>
          </a:p>
        </p:txBody>
      </p:sp>
    </p:spTree>
    <p:extLst>
      <p:ext uri="{BB962C8B-B14F-4D97-AF65-F5344CB8AC3E}">
        <p14:creationId xmlns:p14="http://schemas.microsoft.com/office/powerpoint/2010/main" val="2064591370"/>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B71065-1AE4-4158-BF01-8AF7B529D244}"/>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D70B34-1235-48D4-9FAF-A0B4E55C6B4B}"/>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5283F"/>
                </a:solidFill>
              </a:defRPr>
            </a:defPPr>
          </a:lstStyle>
          <a:p xmlns:a="http://schemas.openxmlformats.org/drawingml/2006/main">
            <a:pPr>
              <a:buNone/>
              <a:defRPr sz="3000" b="1">
                <a:solidFill>
                  <a:srgbClr val="15283F"/>
                </a:solidFill>
              </a:defRPr>
            </a:pPr>
            <a:r>
              <a:rPr sz="3000" b="1">
                <a:solidFill>
                  <a:srgbClr val="15283F"/>
                </a:solidFill>
              </a:rPr>
              <a:t>Foydalanishni boshqarish qarori</a:t>
            </a:r>
          </a:p>
        </p:txBody>
      </p:sp>
      <p:sp>
        <p:nvSpPr>
          <p:cNvPr id="3" name="">
            <a:extLst xmlns:a="http://schemas.openxmlformats.org/drawingml/2006/main">
              <a:ext uri="{FF2B5EF4-FFF2-40B4-BE49-F238E27FC236}">
                <a16:creationId xmlns:a16="http://schemas.microsoft.com/office/drawing/2014/main" id="{6E679399-4E61-4181-8EBE-DF6DE24F8447}"/>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76C82"/>
                </a:solidFill>
              </a:defRPr>
            </a:defPPr>
          </a:lstStyle>
          <a:p xmlns:a="http://schemas.openxmlformats.org/drawingml/2006/main">
            <a:pPr>
              <a:buNone/>
              <a:defRPr sz="1725" b="0">
                <a:solidFill>
                  <a:srgbClr val="576C82"/>
                </a:solidFill>
              </a:defRPr>
            </a:pPr>
            <a:r>
              <a:rPr sz="1725" b="0">
                <a:solidFill>
                  <a:srgbClr val="576C82"/>
                </a:solidFill>
              </a:rPr>
              <a:t>Access Control: subyektning resurs ustidagi amaliga ruxsat berish yoki uni rad etish.</a:t>
            </a:r>
          </a:p>
        </p:txBody>
      </p:sp>
      <p:sp>
        <p:nvSpPr>
          <p:cNvPr id="4" name="">
            <a:extLst xmlns:a="http://schemas.openxmlformats.org/drawingml/2006/main">
              <a:ext uri="{FF2B5EF4-FFF2-40B4-BE49-F238E27FC236}">
                <a16:creationId xmlns:a16="http://schemas.microsoft.com/office/drawing/2014/main" id="{DAE554E3-5500-411D-A7F9-2B6DB2FBC9C9}"/>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76C82"/>
                </a:solidFill>
              </a:defRPr>
            </a:defPPr>
          </a:lstStyle>
          <a:p xmlns:a="http://schemas.openxmlformats.org/drawingml/2006/main">
            <a:pPr>
              <a:buNone/>
              <a:defRPr sz="975" b="0">
                <a:solidFill>
                  <a:srgbClr val="576C82"/>
                </a:solidFill>
              </a:defRPr>
            </a:pPr>
            <a:r>
              <a:rPr sz="975" b="0">
                <a:solidFill>
                  <a:srgbClr val="576C82"/>
                </a:solidFill>
              </a:rPr>
              <a:t>Manba: [7] NIST SP 800-162 / [8] OWASP Cheat Sheet Series</a:t>
            </a:r>
          </a:p>
        </p:txBody>
      </p:sp>
      <p:sp>
        <p:nvSpPr>
          <p:cNvPr id="5" name="">
            <a:extLst xmlns:a="http://schemas.openxmlformats.org/drawingml/2006/main">
              <a:ext uri="{FF2B5EF4-FFF2-40B4-BE49-F238E27FC236}">
                <a16:creationId xmlns:a16="http://schemas.microsoft.com/office/drawing/2014/main" id="{9A2FE17E-1876-4A15-A194-510BE51B9114}"/>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03 / 25</a:t>
            </a:r>
          </a:p>
        </p:txBody>
      </p:sp>
      <p:sp>
        <p:nvSpPr>
          <p:cNvPr id="6" name="">
            <a:extLst xmlns:a="http://schemas.openxmlformats.org/drawingml/2006/main">
              <a:ext uri="{FF2B5EF4-FFF2-40B4-BE49-F238E27FC236}">
                <a16:creationId xmlns:a16="http://schemas.microsoft.com/office/drawing/2014/main" id="{DA347142-31C3-4E77-915C-BB10874EE234}"/>
              </a:ext>
            </a:extLst>
          </p:cNvPr>
          <p:cNvSpPr>
            <a:spLocks xmlns:a="http://schemas.openxmlformats.org/drawingml/2006/main" noGrp="1"/>
          </p:cNvSpPr>
          <p:nvPr/>
        </p:nvSpPr>
        <p:spPr>
          <a:xfrm xmlns:a="http://schemas.openxmlformats.org/drawingml/2006/main">
            <a:off x="514350" y="2085975"/>
            <a:ext cx="3333750" cy="2724150"/>
          </a:xfrm>
          <a:prstGeom xmlns:a="http://schemas.openxmlformats.org/drawingml/2006/main" prst="roundRect">
            <a:avLst>
              <a:gd name="adj" fmla="val 419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764870-6C27-428B-AAA0-D8D807786BE8}"/>
              </a:ext>
            </a:extLst>
          </p:cNvPr>
          <p:cNvSpPr>
            <a:spLocks xmlns:a="http://schemas.openxmlformats.org/drawingml/2006/main" noGrp="1"/>
          </p:cNvSpPr>
          <p:nvPr/>
        </p:nvSpPr>
        <p:spPr>
          <a:xfrm xmlns:a="http://schemas.openxmlformats.org/drawingml/2006/main">
            <a:off x="723900" y="2276475"/>
            <a:ext cx="2914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F79"/>
                </a:solidFill>
              </a:defRPr>
            </a:defPPr>
          </a:lstStyle>
          <a:p xmlns:a="http://schemas.openxmlformats.org/drawingml/2006/main">
            <a:pPr>
              <a:buNone/>
              <a:defRPr sz="2100" b="1">
                <a:solidFill>
                  <a:srgbClr val="007F79"/>
                </a:solidFill>
              </a:defRPr>
            </a:pPr>
            <a:r>
              <a:rPr sz="2100" b="1">
                <a:solidFill>
                  <a:srgbClr val="007F79"/>
                </a:solidFill>
              </a:rPr>
              <a:t>SUBYEKT</a:t>
            </a:r>
          </a:p>
        </p:txBody>
      </p:sp>
      <p:sp>
        <p:nvSpPr>
          <p:cNvPr id="8" name="">
            <a:extLst xmlns:a="http://schemas.openxmlformats.org/drawingml/2006/main">
              <a:ext uri="{FF2B5EF4-FFF2-40B4-BE49-F238E27FC236}">
                <a16:creationId xmlns:a16="http://schemas.microsoft.com/office/drawing/2014/main" id="{65023462-AAC8-4D70-852F-DC931B8C2603}"/>
              </a:ext>
            </a:extLst>
          </p:cNvPr>
          <p:cNvSpPr>
            <a:spLocks xmlns:a="http://schemas.openxmlformats.org/drawingml/2006/main" noGrp="1"/>
          </p:cNvSpPr>
          <p:nvPr/>
        </p:nvSpPr>
        <p:spPr>
          <a:xfrm xmlns:a="http://schemas.openxmlformats.org/drawingml/2006/main">
            <a:off x="723900" y="3019425"/>
            <a:ext cx="2914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E3047"/>
                </a:solidFill>
                <a:latin typeface="Aptos"/>
                <a:ea typeface="Aptos"/>
                <a:cs typeface="Aptos"/>
              </a:defRPr>
            </a:defPPr>
          </a:lstStyle>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Kim so‘rayapti?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Xodim, administrator</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yoki Windows agent.</a:t>
            </a:r>
          </a:p>
        </p:txBody>
      </p:sp>
      <p:sp>
        <p:nvSpPr>
          <p:cNvPr id="9" name="">
            <a:extLst xmlns:a="http://schemas.openxmlformats.org/drawingml/2006/main">
              <a:ext uri="{FF2B5EF4-FFF2-40B4-BE49-F238E27FC236}">
                <a16:creationId xmlns:a16="http://schemas.microsoft.com/office/drawing/2014/main" id="{DEFF0F12-6C96-4194-AFB2-5DF9E83BE932}"/>
              </a:ext>
            </a:extLst>
          </p:cNvPr>
          <p:cNvSpPr>
            <a:spLocks xmlns:a="http://schemas.openxmlformats.org/drawingml/2006/main" noGrp="1"/>
          </p:cNvSpPr>
          <p:nvPr/>
        </p:nvSpPr>
        <p:spPr>
          <a:xfrm xmlns:a="http://schemas.openxmlformats.org/drawingml/2006/main">
            <a:off x="4429125" y="2085975"/>
            <a:ext cx="3333750" cy="2724150"/>
          </a:xfrm>
          <a:prstGeom xmlns:a="http://schemas.openxmlformats.org/drawingml/2006/main" prst="roundRect">
            <a:avLst>
              <a:gd name="adj" fmla="val 4196"/>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A56BF78-9ABC-4B0A-87D7-AB3DBE55FCFB}"/>
              </a:ext>
            </a:extLst>
          </p:cNvPr>
          <p:cNvSpPr>
            <a:spLocks xmlns:a="http://schemas.openxmlformats.org/drawingml/2006/main" noGrp="1"/>
          </p:cNvSpPr>
          <p:nvPr/>
        </p:nvSpPr>
        <p:spPr>
          <a:xfrm xmlns:a="http://schemas.openxmlformats.org/drawingml/2006/main">
            <a:off x="4638675" y="2276475"/>
            <a:ext cx="2914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F79"/>
                </a:solidFill>
              </a:defRPr>
            </a:defPPr>
          </a:lstStyle>
          <a:p xmlns:a="http://schemas.openxmlformats.org/drawingml/2006/main">
            <a:pPr>
              <a:buNone/>
              <a:defRPr sz="2100" b="1">
                <a:solidFill>
                  <a:srgbClr val="007F79"/>
                </a:solidFill>
              </a:defRPr>
            </a:pPr>
            <a:r>
              <a:rPr sz="2100" b="1">
                <a:solidFill>
                  <a:srgbClr val="007F79"/>
                </a:solidFill>
              </a:rPr>
              <a:t>OBYEKT VA AMAL</a:t>
            </a:r>
          </a:p>
        </p:txBody>
      </p:sp>
      <p:sp>
        <p:nvSpPr>
          <p:cNvPr id="11" name="">
            <a:extLst xmlns:a="http://schemas.openxmlformats.org/drawingml/2006/main">
              <a:ext uri="{FF2B5EF4-FFF2-40B4-BE49-F238E27FC236}">
                <a16:creationId xmlns:a16="http://schemas.microsoft.com/office/drawing/2014/main" id="{F7C78FB2-939F-4EDB-93FF-7E7AB8131523}"/>
              </a:ext>
            </a:extLst>
          </p:cNvPr>
          <p:cNvSpPr>
            <a:spLocks xmlns:a="http://schemas.openxmlformats.org/drawingml/2006/main" noGrp="1"/>
          </p:cNvSpPr>
          <p:nvPr/>
        </p:nvSpPr>
        <p:spPr>
          <a:xfrm xmlns:a="http://schemas.openxmlformats.org/drawingml/2006/main">
            <a:off x="4638675" y="3019425"/>
            <a:ext cx="2914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E3047"/>
                </a:solidFill>
                <a:latin typeface="Aptos"/>
                <a:ea typeface="Aptos"/>
                <a:cs typeface="Aptos"/>
              </a:defRPr>
            </a:defPPr>
          </a:lstStyle>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Nimaga, nima qilmoqchi?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PC yozuvi yoki sessiya.</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Ulash yoki tasdiqlash.</a:t>
            </a:r>
          </a:p>
        </p:txBody>
      </p:sp>
      <p:sp>
        <p:nvSpPr>
          <p:cNvPr id="12" name="">
            <a:extLst xmlns:a="http://schemas.openxmlformats.org/drawingml/2006/main">
              <a:ext uri="{FF2B5EF4-FFF2-40B4-BE49-F238E27FC236}">
                <a16:creationId xmlns:a16="http://schemas.microsoft.com/office/drawing/2014/main" id="{21AC3FFB-F302-43FE-95F3-864A21DAC5DA}"/>
              </a:ext>
            </a:extLst>
          </p:cNvPr>
          <p:cNvSpPr>
            <a:spLocks xmlns:a="http://schemas.openxmlformats.org/drawingml/2006/main" noGrp="1"/>
          </p:cNvSpPr>
          <p:nvPr/>
        </p:nvSpPr>
        <p:spPr>
          <a:xfrm xmlns:a="http://schemas.openxmlformats.org/drawingml/2006/main">
            <a:off x="8343900" y="2085975"/>
            <a:ext cx="3333750" cy="2724150"/>
          </a:xfrm>
          <a:prstGeom xmlns:a="http://schemas.openxmlformats.org/drawingml/2006/main" prst="roundRect">
            <a:avLst>
              <a:gd name="adj" fmla="val 4196"/>
            </a:avLst>
          </a:prstGeom>
          <a:solidFill xmlns:a="http://schemas.openxmlformats.org/drawingml/2006/main">
            <a:srgbClr val="DDF5E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0665778-699A-4388-BF1D-236C4A8F174F}"/>
              </a:ext>
            </a:extLst>
          </p:cNvPr>
          <p:cNvSpPr>
            <a:spLocks xmlns:a="http://schemas.openxmlformats.org/drawingml/2006/main" noGrp="1"/>
          </p:cNvSpPr>
          <p:nvPr/>
        </p:nvSpPr>
        <p:spPr>
          <a:xfrm xmlns:a="http://schemas.openxmlformats.org/drawingml/2006/main">
            <a:off x="8553450" y="2276475"/>
            <a:ext cx="2914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F79"/>
                </a:solidFill>
              </a:defRPr>
            </a:defPPr>
          </a:lstStyle>
          <a:p xmlns:a="http://schemas.openxmlformats.org/drawingml/2006/main">
            <a:pPr>
              <a:buNone/>
              <a:defRPr sz="2100" b="1">
                <a:solidFill>
                  <a:srgbClr val="007F79"/>
                </a:solidFill>
              </a:defRPr>
            </a:pPr>
            <a:r>
              <a:rPr sz="2100" b="1">
                <a:solidFill>
                  <a:srgbClr val="007F79"/>
                </a:solidFill>
              </a:rPr>
              <a:t>SIYOSAT</a:t>
            </a:r>
          </a:p>
        </p:txBody>
      </p:sp>
      <p:sp>
        <p:nvSpPr>
          <p:cNvPr id="14" name="">
            <a:extLst xmlns:a="http://schemas.openxmlformats.org/drawingml/2006/main">
              <a:ext uri="{FF2B5EF4-FFF2-40B4-BE49-F238E27FC236}">
                <a16:creationId xmlns:a16="http://schemas.microsoft.com/office/drawing/2014/main" id="{CFD93EAA-A3AC-4938-AC1A-05E261A6F557}"/>
              </a:ext>
            </a:extLst>
          </p:cNvPr>
          <p:cNvSpPr>
            <a:spLocks xmlns:a="http://schemas.openxmlformats.org/drawingml/2006/main" noGrp="1"/>
          </p:cNvSpPr>
          <p:nvPr/>
        </p:nvSpPr>
        <p:spPr>
          <a:xfrm xmlns:a="http://schemas.openxmlformats.org/drawingml/2006/main">
            <a:off x="8553450" y="3019425"/>
            <a:ext cx="29146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E3047"/>
                </a:solidFill>
                <a:latin typeface="Aptos"/>
                <a:ea typeface="Aptos"/>
                <a:cs typeface="Aptos"/>
              </a:defRPr>
            </a:defPPr>
          </a:lstStyle>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Qaysi shartlar bajarildi?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Tashkilot, rol,</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qurilma holati va imzo.</a:t>
            </a:r>
          </a:p>
        </p:txBody>
      </p:sp>
      <p:sp>
        <p:nvSpPr>
          <p:cNvPr id="15" name="">
            <a:extLst xmlns:a="http://schemas.openxmlformats.org/drawingml/2006/main">
              <a:ext uri="{FF2B5EF4-FFF2-40B4-BE49-F238E27FC236}">
                <a16:creationId xmlns:a16="http://schemas.microsoft.com/office/drawing/2014/main" id="{AFD3836C-8B0B-451A-B50B-64646FBBD2A3}"/>
              </a:ext>
            </a:extLst>
          </p:cNvPr>
          <p:cNvSpPr>
            <a:spLocks xmlns:a="http://schemas.openxmlformats.org/drawingml/2006/main" noGrp="1"/>
          </p:cNvSpPr>
          <p:nvPr/>
        </p:nvSpPr>
        <p:spPr>
          <a:xfrm xmlns:a="http://schemas.openxmlformats.org/drawingml/2006/main">
            <a:off x="3943350" y="3095625"/>
            <a:ext cx="419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1">
                <a:solidFill>
                  <a:srgbClr val="007F79"/>
                </a:solidFill>
              </a:defRPr>
            </a:defPPr>
          </a:lstStyle>
          <a:p xmlns:a="http://schemas.openxmlformats.org/drawingml/2006/main">
            <a:pPr>
              <a:buNone/>
              <a:defRPr sz="3150" b="1">
                <a:solidFill>
                  <a:srgbClr val="007F79"/>
                </a:solidFill>
              </a:defRPr>
            </a:pPr>
            <a:r>
              <a:rPr sz="3150" b="1">
                <a:solidFill>
                  <a:srgbClr val="007F79"/>
                </a:solidFill>
              </a:rPr>
              <a:t>→</a:t>
            </a:r>
          </a:p>
        </p:txBody>
      </p:sp>
      <p:sp>
        <p:nvSpPr>
          <p:cNvPr id="16" name="">
            <a:extLst xmlns:a="http://schemas.openxmlformats.org/drawingml/2006/main">
              <a:ext uri="{FF2B5EF4-FFF2-40B4-BE49-F238E27FC236}">
                <a16:creationId xmlns:a16="http://schemas.microsoft.com/office/drawing/2014/main" id="{A8689823-31D8-43FC-A736-7F42AD2A5927}"/>
              </a:ext>
            </a:extLst>
          </p:cNvPr>
          <p:cNvSpPr>
            <a:spLocks xmlns:a="http://schemas.openxmlformats.org/drawingml/2006/main" noGrp="1"/>
          </p:cNvSpPr>
          <p:nvPr/>
        </p:nvSpPr>
        <p:spPr>
          <a:xfrm xmlns:a="http://schemas.openxmlformats.org/drawingml/2006/main">
            <a:off x="7867650" y="3095625"/>
            <a:ext cx="419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1">
                <a:solidFill>
                  <a:srgbClr val="007F79"/>
                </a:solidFill>
              </a:defRPr>
            </a:defPPr>
          </a:lstStyle>
          <a:p xmlns:a="http://schemas.openxmlformats.org/drawingml/2006/main">
            <a:pPr>
              <a:buNone/>
              <a:defRPr sz="3150" b="1">
                <a:solidFill>
                  <a:srgbClr val="007F79"/>
                </a:solidFill>
              </a:defRPr>
            </a:pPr>
            <a:r>
              <a:rPr sz="3150" b="1">
                <a:solidFill>
                  <a:srgbClr val="007F79"/>
                </a:solidFill>
              </a:rPr>
              <a:t>→</a:t>
            </a:r>
          </a:p>
        </p:txBody>
      </p:sp>
      <p:sp>
        <p:nvSpPr>
          <p:cNvPr id="17" name="">
            <a:extLst xmlns:a="http://schemas.openxmlformats.org/drawingml/2006/main">
              <a:ext uri="{FF2B5EF4-FFF2-40B4-BE49-F238E27FC236}">
                <a16:creationId xmlns:a16="http://schemas.microsoft.com/office/drawing/2014/main" id="{73C6D54B-602F-478D-9353-606CDB9DDC36}"/>
              </a:ext>
            </a:extLst>
          </p:cNvPr>
          <p:cNvSpPr>
            <a:spLocks xmlns:a="http://schemas.openxmlformats.org/drawingml/2006/main" noGrp="1"/>
          </p:cNvSpPr>
          <p:nvPr/>
        </p:nvSpPr>
        <p:spPr>
          <a:xfrm xmlns:a="http://schemas.openxmlformats.org/drawingml/2006/main">
            <a:off x="514350" y="5743575"/>
            <a:ext cx="11163300" cy="504825"/>
          </a:xfrm>
          <a:prstGeom xmlns:a="http://schemas.openxmlformats.org/drawingml/2006/main" prst="roundRect">
            <a:avLst>
              <a:gd name="adj" fmla="val 22642"/>
            </a:avLst>
          </a:prstGeom>
          <a:solidFill xmlns:a="http://schemas.openxmlformats.org/drawingml/2006/main">
            <a:srgbClr val="15283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1B40895-9FDE-471C-BF36-737E4E9191B2}"/>
              </a:ext>
            </a:extLst>
          </p:cNvPr>
          <p:cNvSpPr>
            <a:spLocks xmlns:a="http://schemas.openxmlformats.org/drawingml/2006/main" noGrp="1"/>
          </p:cNvSpPr>
          <p:nvPr/>
        </p:nvSpPr>
        <p:spPr>
          <a:xfrm xmlns:a="http://schemas.openxmlformats.org/drawingml/2006/main">
            <a:off x="704850" y="5857875"/>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FFFFFF"/>
                </a:solidFill>
                <a:latin typeface="Aptos"/>
                <a:ea typeface="Aptos"/>
                <a:cs typeface="Aptos"/>
              </a:defRPr>
            </a:defPPr>
          </a:lstStyle>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Server foydalanuvchi va qurilma uchun tegishli tashkilot chegarasini tekshiradi.</a:t>
            </a:r>
          </a:p>
        </p:txBody>
      </p:sp>
    </p:spTree>
    <p:extLst>
      <p:ext uri="{BB962C8B-B14F-4D97-AF65-F5344CB8AC3E}">
        <p14:creationId xmlns:p14="http://schemas.microsoft.com/office/powerpoint/2010/main" val="1506621413"/>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DBDA85-7981-4F87-BEC7-1D9BAD6E5172}"/>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FA0470-9807-4542-9457-57B27414F1B1}"/>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5283F"/>
                </a:solidFill>
              </a:defRPr>
            </a:defPPr>
          </a:lstStyle>
          <a:p xmlns:a="http://schemas.openxmlformats.org/drawingml/2006/main">
            <a:pPr>
              <a:buNone/>
              <a:defRPr sz="3000" b="1">
                <a:solidFill>
                  <a:srgbClr val="15283F"/>
                </a:solidFill>
              </a:defRPr>
            </a:pPr>
            <a:r>
              <a:rPr sz="3000" b="1">
                <a:solidFill>
                  <a:srgbClr val="15283F"/>
                </a:solidFill>
              </a:rPr>
              <a:t>Kirish huquqi uchta xavfsizlik xossasini himoya qiladi</a:t>
            </a:r>
          </a:p>
        </p:txBody>
      </p:sp>
      <p:sp>
        <p:nvSpPr>
          <p:cNvPr id="3" name="">
            <a:extLst xmlns:a="http://schemas.openxmlformats.org/drawingml/2006/main">
              <a:ext uri="{FF2B5EF4-FFF2-40B4-BE49-F238E27FC236}">
                <a16:creationId xmlns:a16="http://schemas.microsoft.com/office/drawing/2014/main" id="{8E3A2F89-9881-473A-90BB-6A6FF57F8690}"/>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76C82"/>
                </a:solidFill>
              </a:defRPr>
            </a:defPPr>
          </a:lstStyle>
          <a:p xmlns:a="http://schemas.openxmlformats.org/drawingml/2006/main">
            <a:pPr>
              <a:buNone/>
              <a:defRPr sz="1725" b="0">
                <a:solidFill>
                  <a:srgbClr val="576C82"/>
                </a:solidFill>
              </a:defRPr>
            </a:pPr>
            <a:r>
              <a:rPr sz="1725" b="0">
                <a:solidFill>
                  <a:srgbClr val="576C82"/>
                </a:solidFill>
              </a:rPr>
              <a:t>CIA — Confidentiality, Integrity, Availability. AX — axborot xavfsizligi.</a:t>
            </a:r>
          </a:p>
        </p:txBody>
      </p:sp>
      <p:sp>
        <p:nvSpPr>
          <p:cNvPr id="4" name="">
            <a:extLst xmlns:a="http://schemas.openxmlformats.org/drawingml/2006/main">
              <a:ext uri="{FF2B5EF4-FFF2-40B4-BE49-F238E27FC236}">
                <a16:creationId xmlns:a16="http://schemas.microsoft.com/office/drawing/2014/main" id="{5237F64E-A8FC-45C8-817E-6BE600A7D4B3}"/>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76C82"/>
                </a:solidFill>
              </a:defRPr>
            </a:defPPr>
          </a:lstStyle>
          <a:p xmlns:a="http://schemas.openxmlformats.org/drawingml/2006/main">
            <a:pPr>
              <a:buNone/>
              <a:defRPr sz="975" b="0">
                <a:solidFill>
                  <a:srgbClr val="576C82"/>
                </a:solidFill>
              </a:defRPr>
            </a:pPr>
            <a:r>
              <a:rPr sz="975" b="0">
                <a:solidFill>
                  <a:srgbClr val="576C82"/>
                </a:solidFill>
              </a:rPr>
              <a:t>Manba: [1] NIST SP 800-53 Rev. 5 / [2] NIST SP 800-30 Rev. 1</a:t>
            </a:r>
          </a:p>
        </p:txBody>
      </p:sp>
      <p:sp>
        <p:nvSpPr>
          <p:cNvPr id="5" name="">
            <a:extLst xmlns:a="http://schemas.openxmlformats.org/drawingml/2006/main">
              <a:ext uri="{FF2B5EF4-FFF2-40B4-BE49-F238E27FC236}">
                <a16:creationId xmlns:a16="http://schemas.microsoft.com/office/drawing/2014/main" id="{734C20DE-5E3E-47C8-862C-3BBD2560DB9A}"/>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04 / 25</a:t>
            </a:r>
          </a:p>
        </p:txBody>
      </p:sp>
      <p:graphicFrame>
        <p:nvGraphicFramePr>
          <p:cNvPr id="6" name="">
            <a:extLst xmlns:a="http://schemas.openxmlformats.org/drawingml/2006/main">
              <a:ext uri="{FF2B5EF4-FFF2-40B4-BE49-F238E27FC236}">
                <a16:creationId xmlns:a16="http://schemas.microsoft.com/office/drawing/2014/main" id="{9314853B-176A-46AA-BE6F-B0DED8EAA501}"/>
              </a:ext>
            </a:extLst>
          </p:cNvPr>
          <p:cNvGraphicFramePr/>
          <p:nvPr/>
        </p:nvGraphicFramePr>
        <p:xfrm>
          <a:off xmlns:a="http://schemas.openxmlformats.org/drawingml/2006/main" x="514350" y="2076450"/>
          <a:ext xmlns:a="http://schemas.openxmlformats.org/drawingml/2006/main" cx="11163300" cy="3267075"/>
        </p:xfrm>
        <a:graphic xmlns:a="http://schemas.openxmlformats.org/drawingml/2006/main">
          <a:graphicData uri="http://schemas.openxmlformats.org/drawingml/2006/table">
            <a:tbl>
              <a:tblPr/>
              <a:tblGrid>
                <a:gridCol w="2571750"/>
                <a:gridCol w="4095750"/>
                <a:gridCol w="4495800"/>
              </a:tblGrid>
              <a:tr h="816769">
                <a:tc>
                  <a:txBody>
                    <a:bodyPr lIns="114300" tIns="114300" rIns="114300" bIns="114300"/>
                    <a:lstStyle/>
                    <a:p>
                      <a:r>
                        <a:rPr sz="1800" b="1">
                          <a:solidFill>
                            <a:srgbClr val="FFFFFF"/>
                          </a:solidFill>
                        </a:rPr>
                        <a:t>Xossa</a:t>
                      </a:r>
                    </a:p>
                  </a:txBody>
                  <a:tcPr marL="91440" marR="91440" marT="45720" marB="4572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800" b="1">
                          <a:solidFill>
                            <a:srgbClr val="FFFFFF"/>
                          </a:solidFill>
                        </a:rPr>
                        <a:t>Nimani himoya qiladi?</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800" b="1">
                          <a:solidFill>
                            <a:srgbClr val="FFFFFF"/>
                          </a:solidFill>
                        </a:rPr>
                        <a:t>Kompaniyadagi xato misoli</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816769">
                <a:tc>
                  <a:txBody>
                    <a:bodyPr lIns="114300" tIns="114300" rIns="114300" bIns="114300"/>
                    <a:lstStyle/>
                    <a:p>
                      <a:r>
                        <a:rPr sz="1800" b="0">
                          <a:solidFill>
                            <a:srgbClr val="1E3047"/>
                          </a:solidFill>
                        </a:rPr>
                        <a:t>Maxfiylik</a:t>
                      </a:r>
                    </a:p>
                    <a:p>
                      <a:r>
                        <a:rPr sz="1800" b="0">
                          <a:solidFill>
                            <a:srgbClr val="1E3047"/>
                          </a:solidFill>
                        </a:rPr>
                        <a:t>Confidentiality</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00" b="0">
                          <a:solidFill>
                            <a:srgbClr val="1E3047"/>
                          </a:solidFill>
                        </a:rPr>
                        <a:t>Faqat vakolatli shaxs</a:t>
                      </a:r>
                    </a:p>
                    <a:p>
                      <a:r>
                        <a:rPr sz="1800" b="0">
                          <a:solidFill>
                            <a:srgbClr val="1E3047"/>
                          </a:solidFill>
                        </a:rPr>
                        <a:t>ma’lumotni ko‘radi.</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00" b="0">
                          <a:solidFill>
                            <a:srgbClr val="1E3047"/>
                          </a:solidFill>
                        </a:rPr>
                        <a:t>Boshqa tashkilotning PC</a:t>
                      </a:r>
                    </a:p>
                    <a:p>
                      <a:r>
                        <a:rPr sz="1800" b="0">
                          <a:solidFill>
                            <a:srgbClr val="1E3047"/>
                          </a:solidFill>
                        </a:rPr>
                        <a:t>yozuvlari ochilib qoladi.</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816769">
                <a:tc>
                  <a:txBody>
                    <a:bodyPr lIns="114300" tIns="114300" rIns="114300" bIns="114300"/>
                    <a:lstStyle/>
                    <a:p>
                      <a:r>
                        <a:rPr sz="1800" b="0">
                          <a:solidFill>
                            <a:srgbClr val="1E3047"/>
                          </a:solidFill>
                        </a:rPr>
                        <a:t>Yaxlitlik</a:t>
                      </a:r>
                    </a:p>
                    <a:p>
                      <a:r>
                        <a:rPr sz="1800" b="0">
                          <a:solidFill>
                            <a:srgbClr val="1E3047"/>
                          </a:solidFill>
                        </a:rPr>
                        <a:t>Integrity</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800" b="0">
                          <a:solidFill>
                            <a:srgbClr val="1E3047"/>
                          </a:solidFill>
                        </a:rPr>
                        <a:t>Faqat ruxsatli</a:t>
                      </a:r>
                    </a:p>
                    <a:p>
                      <a:r>
                        <a:rPr sz="1800" b="0">
                          <a:solidFill>
                            <a:srgbClr val="1E3047"/>
                          </a:solidFill>
                        </a:rPr>
                        <a:t>o‘zgarishlar bajariladi.</a:t>
                      </a:r>
                    </a:p>
                  </a:txBody>
                  <a:tcPr marL="91440" marR="91440" marT="45720" marB="45720" anchor="ctr">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800" b="0">
                          <a:solidFill>
                            <a:srgbClr val="1E3047"/>
                          </a:solidFill>
                        </a:rPr>
                        <a:t>Begona shaxs qurilma</a:t>
                      </a:r>
                    </a:p>
                    <a:p>
                      <a:r>
                        <a:rPr sz="1800" b="0">
                          <a:solidFill>
                            <a:srgbClr val="1E3047"/>
                          </a:solidFill>
                        </a:rPr>
                        <a:t>ro‘yxatini o‘zgartiradi.</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r h="816769">
                <a:tc>
                  <a:txBody>
                    <a:bodyPr lIns="114300" tIns="114300" rIns="114300" bIns="114300"/>
                    <a:lstStyle/>
                    <a:p>
                      <a:r>
                        <a:rPr sz="1800" b="0">
                          <a:solidFill>
                            <a:srgbClr val="1E3047"/>
                          </a:solidFill>
                        </a:rPr>
                        <a:t>Mavjudlik</a:t>
                      </a:r>
                    </a:p>
                    <a:p>
                      <a:r>
                        <a:rPr sz="1800" b="0">
                          <a:solidFill>
                            <a:srgbClr val="1E3047"/>
                          </a:solidFill>
                        </a:rPr>
                        <a:t>Availability</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00" b="0">
                          <a:solidFill>
                            <a:srgbClr val="1E3047"/>
                          </a:solidFill>
                        </a:rPr>
                        <a:t>Vakolatli xodim kerakli</a:t>
                      </a:r>
                    </a:p>
                    <a:p>
                      <a:r>
                        <a:rPr sz="1800" b="0">
                          <a:solidFill>
                            <a:srgbClr val="1E3047"/>
                          </a:solidFill>
                        </a:rPr>
                        <a:t>vaqtda ishlay oladi.</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00" b="0">
                          <a:solidFill>
                            <a:srgbClr val="1E3047"/>
                          </a:solidFill>
                        </a:rPr>
                        <a:t>Server yoki tarmoq uzilishi</a:t>
                      </a:r>
                    </a:p>
                    <a:p>
                      <a:r>
                        <a:rPr sz="1800" b="0">
                          <a:solidFill>
                            <a:srgbClr val="1E3047"/>
                          </a:solidFill>
                        </a:rPr>
                        <a:t>kirish jarayonini to‘xtatadi.</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1697839-481E-4FFA-9EDF-EF5CB1B42FCA}"/>
              </a:ext>
            </a:extLst>
          </p:cNvPr>
          <p:cNvSpPr>
            <a:spLocks xmlns:a="http://schemas.openxmlformats.org/drawingml/2006/main" noGrp="1"/>
          </p:cNvSpPr>
          <p:nvPr/>
        </p:nvSpPr>
        <p:spPr>
          <a:xfrm xmlns:a="http://schemas.openxmlformats.org/drawingml/2006/main">
            <a:off x="514350" y="5743575"/>
            <a:ext cx="11163300" cy="504825"/>
          </a:xfrm>
          <a:prstGeom xmlns:a="http://schemas.openxmlformats.org/drawingml/2006/main" prst="roundRect">
            <a:avLst>
              <a:gd name="adj" fmla="val 22642"/>
            </a:avLst>
          </a:prstGeom>
          <a:solidFill xmlns:a="http://schemas.openxmlformats.org/drawingml/2006/main">
            <a:srgbClr val="15283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060D3E3-6C8C-431A-B843-6A2466F86E48}"/>
              </a:ext>
            </a:extLst>
          </p:cNvPr>
          <p:cNvSpPr>
            <a:spLocks xmlns:a="http://schemas.openxmlformats.org/drawingml/2006/main" noGrp="1"/>
          </p:cNvSpPr>
          <p:nvPr/>
        </p:nvSpPr>
        <p:spPr>
          <a:xfrm xmlns:a="http://schemas.openxmlformats.org/drawingml/2006/main">
            <a:off x="704850" y="5857875"/>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FFFFFF"/>
                </a:solidFill>
              </a:defRPr>
            </a:defPPr>
          </a:lstStyle>
          <a:p xmlns:a="http://schemas.openxmlformats.org/drawingml/2006/main">
            <a:pPr>
              <a:buNone/>
              <a:defRPr sz="1725" b="1">
                <a:solidFill>
                  <a:srgbClr val="FFFFFF"/>
                </a:solidFill>
              </a:defRPr>
            </a:pPr>
            <a:r>
              <a:rPr sz="1725" b="1">
                <a:solidFill>
                  <a:srgbClr val="FFFFFF"/>
                </a:solidFill>
              </a:rPr>
              <a:t>Haddan tashqari keng ruxsat ham, asossiz bloklash ham xavf tug‘diradi.</a:t>
            </a:r>
          </a:p>
        </p:txBody>
      </p:sp>
    </p:spTree>
    <p:extLst>
      <p:ext uri="{BB962C8B-B14F-4D97-AF65-F5344CB8AC3E}">
        <p14:creationId xmlns:p14="http://schemas.microsoft.com/office/powerpoint/2010/main" val="330992226"/>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E44B89-B8FF-4EA3-A8E1-7511B51F878D}"/>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634D2C-F9E0-4680-AA20-84DCBF83A2A5}"/>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5283F"/>
                </a:solidFill>
              </a:defRPr>
            </a:defPPr>
          </a:lstStyle>
          <a:p xmlns:a="http://schemas.openxmlformats.org/drawingml/2006/main">
            <a:pPr>
              <a:buNone/>
              <a:defRPr sz="3000" b="1">
                <a:solidFill>
                  <a:srgbClr val="15283F"/>
                </a:solidFill>
              </a:defRPr>
            </a:pPr>
            <a:r>
              <a:rPr sz="3000" b="1">
                <a:solidFill>
                  <a:srgbClr val="15283F"/>
                </a:solidFill>
              </a:rPr>
              <a:t>Login kiritish bilan ruxsat olish bir xil emas</a:t>
            </a:r>
          </a:p>
        </p:txBody>
      </p:sp>
      <p:sp>
        <p:nvSpPr>
          <p:cNvPr id="3" name="">
            <a:extLst xmlns:a="http://schemas.openxmlformats.org/drawingml/2006/main">
              <a:ext uri="{FF2B5EF4-FFF2-40B4-BE49-F238E27FC236}">
                <a16:creationId xmlns:a16="http://schemas.microsoft.com/office/drawing/2014/main" id="{11DC9773-F53E-46AC-AC10-2605E87063B8}"/>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76C82"/>
                </a:solidFill>
              </a:defRPr>
            </a:defPPr>
          </a:lstStyle>
          <a:p xmlns:a="http://schemas.openxmlformats.org/drawingml/2006/main">
            <a:pPr>
              <a:buNone/>
              <a:defRPr sz="1725" b="0">
                <a:solidFill>
                  <a:srgbClr val="576C82"/>
                </a:solidFill>
              </a:defRPr>
            </a:pPr>
            <a:r>
              <a:rPr sz="1725" b="0">
                <a:solidFill>
                  <a:srgbClr val="576C82"/>
                </a:solidFill>
              </a:rPr>
              <a:t>Identifikatsiya, autentifikatsiya, avtorizatsiya va hisobdorlik alohida vazifalardir.</a:t>
            </a:r>
          </a:p>
        </p:txBody>
      </p:sp>
      <p:sp>
        <p:nvSpPr>
          <p:cNvPr id="4" name="">
            <a:extLst xmlns:a="http://schemas.openxmlformats.org/drawingml/2006/main">
              <a:ext uri="{FF2B5EF4-FFF2-40B4-BE49-F238E27FC236}">
                <a16:creationId xmlns:a16="http://schemas.microsoft.com/office/drawing/2014/main" id="{91FDD85E-65A0-4AED-810C-236639F86099}"/>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76C82"/>
                </a:solidFill>
              </a:defRPr>
            </a:defPPr>
          </a:lstStyle>
          <a:p xmlns:a="http://schemas.openxmlformats.org/drawingml/2006/main">
            <a:pPr>
              <a:buNone/>
              <a:defRPr sz="975" b="0">
                <a:solidFill>
                  <a:srgbClr val="576C82"/>
                </a:solidFill>
              </a:defRPr>
            </a:pPr>
            <a:r>
              <a:rPr sz="975" b="0">
                <a:solidFill>
                  <a:srgbClr val="576C82"/>
                </a:solidFill>
              </a:rPr>
              <a:t>Manba: [4] NIST SP 800-63B-4 / [8] OWASP Cheat Sheet Series</a:t>
            </a:r>
          </a:p>
        </p:txBody>
      </p:sp>
      <p:sp>
        <p:nvSpPr>
          <p:cNvPr id="5" name="">
            <a:extLst xmlns:a="http://schemas.openxmlformats.org/drawingml/2006/main">
              <a:ext uri="{FF2B5EF4-FFF2-40B4-BE49-F238E27FC236}">
                <a16:creationId xmlns:a16="http://schemas.microsoft.com/office/drawing/2014/main" id="{C1B82479-6A3F-4C9C-B6D0-08BB982BF443}"/>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05 / 25</a:t>
            </a:r>
          </a:p>
        </p:txBody>
      </p:sp>
      <p:sp>
        <p:nvSpPr>
          <p:cNvPr id="6" name="">
            <a:extLst xmlns:a="http://schemas.openxmlformats.org/drawingml/2006/main">
              <a:ext uri="{FF2B5EF4-FFF2-40B4-BE49-F238E27FC236}">
                <a16:creationId xmlns:a16="http://schemas.microsoft.com/office/drawing/2014/main" id="{BFBA5EB4-0946-4171-BE3F-E1EF21F15C11}"/>
              </a:ext>
            </a:extLst>
          </p:cNvPr>
          <p:cNvSpPr>
            <a:spLocks xmlns:a="http://schemas.openxmlformats.org/drawingml/2006/main" noGrp="1"/>
          </p:cNvSpPr>
          <p:nvPr/>
        </p:nvSpPr>
        <p:spPr>
          <a:xfrm xmlns:a="http://schemas.openxmlformats.org/drawingml/2006/main">
            <a:off x="514350" y="2057400"/>
            <a:ext cx="2647950" cy="3190875"/>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4506B1-6FC2-48D3-8B5C-17A3C27542AB}"/>
              </a:ext>
            </a:extLst>
          </p:cNvPr>
          <p:cNvSpPr>
            <a:spLocks xmlns:a="http://schemas.openxmlformats.org/drawingml/2006/main" noGrp="1"/>
          </p:cNvSpPr>
          <p:nvPr/>
        </p:nvSpPr>
        <p:spPr>
          <a:xfrm xmlns:a="http://schemas.openxmlformats.org/drawingml/2006/main">
            <a:off x="704850" y="22098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01</a:t>
            </a:r>
          </a:p>
        </p:txBody>
      </p:sp>
      <p:sp>
        <p:nvSpPr>
          <p:cNvPr id="8" name="">
            <a:extLst xmlns:a="http://schemas.openxmlformats.org/drawingml/2006/main">
              <a:ext uri="{FF2B5EF4-FFF2-40B4-BE49-F238E27FC236}">
                <a16:creationId xmlns:a16="http://schemas.microsoft.com/office/drawing/2014/main" id="{7C7CCBE8-02DC-4579-A9EE-16298634461B}"/>
              </a:ext>
            </a:extLst>
          </p:cNvPr>
          <p:cNvSpPr>
            <a:spLocks xmlns:a="http://schemas.openxmlformats.org/drawingml/2006/main" noGrp="1"/>
          </p:cNvSpPr>
          <p:nvPr/>
        </p:nvSpPr>
        <p:spPr>
          <a:xfrm xmlns:a="http://schemas.openxmlformats.org/drawingml/2006/main">
            <a:off x="704850" y="2924175"/>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283F"/>
                </a:solidFill>
              </a:defRPr>
            </a:defPPr>
          </a:lstStyle>
          <a:p xmlns:a="http://schemas.openxmlformats.org/drawingml/2006/main">
            <a:pPr>
              <a:buNone/>
              <a:defRPr sz="2100" b="1">
                <a:solidFill>
                  <a:srgbClr val="15283F"/>
                </a:solidFill>
              </a:defRPr>
            </a:pPr>
            <a:r>
              <a:rPr sz="2100" b="1">
                <a:solidFill>
                  <a:srgbClr val="15283F"/>
                </a:solidFill>
              </a:rPr>
              <a:t>Identifikatsiya</a:t>
            </a:r>
          </a:p>
        </p:txBody>
      </p:sp>
      <p:sp>
        <p:nvSpPr>
          <p:cNvPr id="9" name="">
            <a:extLst xmlns:a="http://schemas.openxmlformats.org/drawingml/2006/main">
              <a:ext uri="{FF2B5EF4-FFF2-40B4-BE49-F238E27FC236}">
                <a16:creationId xmlns:a16="http://schemas.microsoft.com/office/drawing/2014/main" id="{21CAA209-E1A9-419C-8CFF-24C1DCC3AD80}"/>
              </a:ext>
            </a:extLst>
          </p:cNvPr>
          <p:cNvSpPr>
            <a:spLocks xmlns:a="http://schemas.openxmlformats.org/drawingml/2006/main" noGrp="1"/>
          </p:cNvSpPr>
          <p:nvPr/>
        </p:nvSpPr>
        <p:spPr>
          <a:xfrm xmlns:a="http://schemas.openxmlformats.org/drawingml/2006/main">
            <a:off x="704850" y="3657600"/>
            <a:ext cx="22669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E3047"/>
                </a:solidFill>
                <a:latin typeface="Aptos"/>
                <a:ea typeface="Aptos"/>
                <a:cs typeface="Aptos"/>
              </a:defRPr>
            </a:defPPr>
          </a:lstStyle>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«Men kimman?»</a:t>
            </a:r>
          </a:p>
          <a:p xmlns:a="http://schemas.openxmlformats.org/drawingml/2006/main">
            <a:r>
              <a:t/>
            </a:r>
          </a:p>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Login: employee_12</a:t>
            </a:r>
          </a:p>
        </p:txBody>
      </p:sp>
      <p:sp>
        <p:nvSpPr>
          <p:cNvPr id="10" name="">
            <a:extLst xmlns:a="http://schemas.openxmlformats.org/drawingml/2006/main">
              <a:ext uri="{FF2B5EF4-FFF2-40B4-BE49-F238E27FC236}">
                <a16:creationId xmlns:a16="http://schemas.microsoft.com/office/drawing/2014/main" id="{2296D0B5-0DB4-4669-9D62-21D781D1B1D1}"/>
              </a:ext>
            </a:extLst>
          </p:cNvPr>
          <p:cNvSpPr>
            <a:spLocks xmlns:a="http://schemas.openxmlformats.org/drawingml/2006/main" noGrp="1"/>
          </p:cNvSpPr>
          <p:nvPr/>
        </p:nvSpPr>
        <p:spPr>
          <a:xfrm xmlns:a="http://schemas.openxmlformats.org/drawingml/2006/main">
            <a:off x="3352800" y="2057400"/>
            <a:ext cx="2647950" cy="3190875"/>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22F204E-560C-4C7B-AD30-C5730D3D497A}"/>
              </a:ext>
            </a:extLst>
          </p:cNvPr>
          <p:cNvSpPr>
            <a:spLocks xmlns:a="http://schemas.openxmlformats.org/drawingml/2006/main" noGrp="1"/>
          </p:cNvSpPr>
          <p:nvPr/>
        </p:nvSpPr>
        <p:spPr>
          <a:xfrm xmlns:a="http://schemas.openxmlformats.org/drawingml/2006/main">
            <a:off x="3543300" y="22098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02</a:t>
            </a:r>
          </a:p>
        </p:txBody>
      </p:sp>
      <p:sp>
        <p:nvSpPr>
          <p:cNvPr id="12" name="">
            <a:extLst xmlns:a="http://schemas.openxmlformats.org/drawingml/2006/main">
              <a:ext uri="{FF2B5EF4-FFF2-40B4-BE49-F238E27FC236}">
                <a16:creationId xmlns:a16="http://schemas.microsoft.com/office/drawing/2014/main" id="{B9011F06-1CD0-4094-B2AC-B6ED5E58EF33}"/>
              </a:ext>
            </a:extLst>
          </p:cNvPr>
          <p:cNvSpPr>
            <a:spLocks xmlns:a="http://schemas.openxmlformats.org/drawingml/2006/main" noGrp="1"/>
          </p:cNvSpPr>
          <p:nvPr/>
        </p:nvSpPr>
        <p:spPr>
          <a:xfrm xmlns:a="http://schemas.openxmlformats.org/drawingml/2006/main">
            <a:off x="3543300" y="2924175"/>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283F"/>
                </a:solidFill>
              </a:defRPr>
            </a:defPPr>
          </a:lstStyle>
          <a:p xmlns:a="http://schemas.openxmlformats.org/drawingml/2006/main">
            <a:pPr>
              <a:buNone/>
              <a:defRPr sz="2100" b="1">
                <a:solidFill>
                  <a:srgbClr val="15283F"/>
                </a:solidFill>
              </a:defRPr>
            </a:pPr>
            <a:r>
              <a:rPr sz="2100" b="1">
                <a:solidFill>
                  <a:srgbClr val="15283F"/>
                </a:solidFill>
              </a:rPr>
              <a:t>Autentifikatsiya</a:t>
            </a:r>
          </a:p>
        </p:txBody>
      </p:sp>
      <p:sp>
        <p:nvSpPr>
          <p:cNvPr id="13" name="">
            <a:extLst xmlns:a="http://schemas.openxmlformats.org/drawingml/2006/main">
              <a:ext uri="{FF2B5EF4-FFF2-40B4-BE49-F238E27FC236}">
                <a16:creationId xmlns:a16="http://schemas.microsoft.com/office/drawing/2014/main" id="{BF577D07-D42D-4C96-A4D3-290FBBAE66AB}"/>
              </a:ext>
            </a:extLst>
          </p:cNvPr>
          <p:cNvSpPr>
            <a:spLocks xmlns:a="http://schemas.openxmlformats.org/drawingml/2006/main" noGrp="1"/>
          </p:cNvSpPr>
          <p:nvPr/>
        </p:nvSpPr>
        <p:spPr>
          <a:xfrm xmlns:a="http://schemas.openxmlformats.org/drawingml/2006/main">
            <a:off x="3543300" y="3657600"/>
            <a:ext cx="22669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E3047"/>
                </a:solidFill>
                <a:latin typeface="Aptos"/>
                <a:ea typeface="Aptos"/>
                <a:cs typeface="Aptos"/>
              </a:defRPr>
            </a:defPPr>
          </a:lstStyle>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«Buni qanday isbotlayman?»</a:t>
            </a:r>
          </a:p>
          <a:p xmlns:a="http://schemas.openxmlformats.org/drawingml/2006/main">
            <a:r>
              <a:t/>
            </a:r>
          </a:p>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Parol yoki kalit</a:t>
            </a:r>
          </a:p>
        </p:txBody>
      </p:sp>
      <p:sp>
        <p:nvSpPr>
          <p:cNvPr id="14" name="">
            <a:extLst xmlns:a="http://schemas.openxmlformats.org/drawingml/2006/main">
              <a:ext uri="{FF2B5EF4-FFF2-40B4-BE49-F238E27FC236}">
                <a16:creationId xmlns:a16="http://schemas.microsoft.com/office/drawing/2014/main" id="{CD9358CE-E634-4181-8059-A06BEB220DBF}"/>
              </a:ext>
            </a:extLst>
          </p:cNvPr>
          <p:cNvSpPr>
            <a:spLocks xmlns:a="http://schemas.openxmlformats.org/drawingml/2006/main" noGrp="1"/>
          </p:cNvSpPr>
          <p:nvPr/>
        </p:nvSpPr>
        <p:spPr>
          <a:xfrm xmlns:a="http://schemas.openxmlformats.org/drawingml/2006/main">
            <a:off x="6191250" y="2057400"/>
            <a:ext cx="2647950" cy="3190875"/>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65C9C02-86FE-482C-ADCB-6B07CC4C2FB0}"/>
              </a:ext>
            </a:extLst>
          </p:cNvPr>
          <p:cNvSpPr>
            <a:spLocks xmlns:a="http://schemas.openxmlformats.org/drawingml/2006/main" noGrp="1"/>
          </p:cNvSpPr>
          <p:nvPr/>
        </p:nvSpPr>
        <p:spPr>
          <a:xfrm xmlns:a="http://schemas.openxmlformats.org/drawingml/2006/main">
            <a:off x="6381750" y="22098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03</a:t>
            </a:r>
          </a:p>
        </p:txBody>
      </p:sp>
      <p:sp>
        <p:nvSpPr>
          <p:cNvPr id="16" name="">
            <a:extLst xmlns:a="http://schemas.openxmlformats.org/drawingml/2006/main">
              <a:ext uri="{FF2B5EF4-FFF2-40B4-BE49-F238E27FC236}">
                <a16:creationId xmlns:a16="http://schemas.microsoft.com/office/drawing/2014/main" id="{49F09C1E-F858-4F70-AB8F-B32F8275F3E2}"/>
              </a:ext>
            </a:extLst>
          </p:cNvPr>
          <p:cNvSpPr>
            <a:spLocks xmlns:a="http://schemas.openxmlformats.org/drawingml/2006/main" noGrp="1"/>
          </p:cNvSpPr>
          <p:nvPr/>
        </p:nvSpPr>
        <p:spPr>
          <a:xfrm xmlns:a="http://schemas.openxmlformats.org/drawingml/2006/main">
            <a:off x="6381750" y="2924175"/>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283F"/>
                </a:solidFill>
              </a:defRPr>
            </a:defPPr>
          </a:lstStyle>
          <a:p xmlns:a="http://schemas.openxmlformats.org/drawingml/2006/main">
            <a:pPr>
              <a:buNone/>
              <a:defRPr sz="2100" b="1">
                <a:solidFill>
                  <a:srgbClr val="15283F"/>
                </a:solidFill>
              </a:defRPr>
            </a:pPr>
            <a:r>
              <a:rPr sz="2100" b="1">
                <a:solidFill>
                  <a:srgbClr val="15283F"/>
                </a:solidFill>
              </a:rPr>
              <a:t>Avtorizatsiya</a:t>
            </a:r>
          </a:p>
        </p:txBody>
      </p:sp>
      <p:sp>
        <p:nvSpPr>
          <p:cNvPr id="17" name="">
            <a:extLst xmlns:a="http://schemas.openxmlformats.org/drawingml/2006/main">
              <a:ext uri="{FF2B5EF4-FFF2-40B4-BE49-F238E27FC236}">
                <a16:creationId xmlns:a16="http://schemas.microsoft.com/office/drawing/2014/main" id="{20E55983-235C-4061-9905-4B9A128E1EDC}"/>
              </a:ext>
            </a:extLst>
          </p:cNvPr>
          <p:cNvSpPr>
            <a:spLocks xmlns:a="http://schemas.openxmlformats.org/drawingml/2006/main" noGrp="1"/>
          </p:cNvSpPr>
          <p:nvPr/>
        </p:nvSpPr>
        <p:spPr>
          <a:xfrm xmlns:a="http://schemas.openxmlformats.org/drawingml/2006/main">
            <a:off x="6381750" y="3657600"/>
            <a:ext cx="22669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0">
                <a:solidFill>
                  <a:srgbClr val="1E3047"/>
                </a:solidFill>
                <a:latin typeface="Aptos"/>
                <a:ea typeface="Aptos"/>
                <a:cs typeface="Aptos"/>
              </a:defRPr>
            </a:defPPr>
          </a:lstStyle>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«Nima qilishim mumkin?»</a:t>
            </a:r>
          </a:p>
          <a:p xmlns:a="http://schemas.openxmlformats.org/drawingml/2006/main">
            <a:r>
              <a:t/>
            </a:r>
          </a:p>
          <a:p xmlns:a="http://schemas.openxmlformats.org/drawingml/2006/main">
            <a:pPr algn="l">
              <a:buNone/>
              <a:defRPr sz="1800" b="0">
                <a:solidFill>
                  <a:srgbClr val="1E3047"/>
                </a:solidFill>
                <a:latin typeface="Aptos"/>
                <a:ea typeface="Aptos"/>
                <a:cs typeface="Aptos"/>
              </a:defRPr>
            </a:pPr>
            <a:r>
              <a:rPr sz="1800" b="0">
                <a:solidFill>
                  <a:srgbClr val="1E3047"/>
                </a:solidFill>
                <a:latin typeface="Aptos"/>
                <a:ea typeface="Aptos"/>
                <a:cs typeface="Aptos"/>
              </a:rPr>
              <a:t>Tashkilot va rol doirasi</a:t>
            </a:r>
          </a:p>
        </p:txBody>
      </p:sp>
      <p:sp>
        <p:nvSpPr>
          <p:cNvPr id="18" name="">
            <a:extLst xmlns:a="http://schemas.openxmlformats.org/drawingml/2006/main">
              <a:ext uri="{FF2B5EF4-FFF2-40B4-BE49-F238E27FC236}">
                <a16:creationId xmlns:a16="http://schemas.microsoft.com/office/drawing/2014/main" id="{33E55D03-2614-4E50-A47A-CC9DB1FC85BE}"/>
              </a:ext>
            </a:extLst>
          </p:cNvPr>
          <p:cNvSpPr>
            <a:spLocks xmlns:a="http://schemas.openxmlformats.org/drawingml/2006/main" noGrp="1"/>
          </p:cNvSpPr>
          <p:nvPr/>
        </p:nvSpPr>
        <p:spPr>
          <a:xfrm xmlns:a="http://schemas.openxmlformats.org/drawingml/2006/main">
            <a:off x="9029700" y="2057400"/>
            <a:ext cx="2647950" cy="3190875"/>
          </a:xfrm>
          <a:prstGeom xmlns:a="http://schemas.openxmlformats.org/drawingml/2006/main" prst="roundRect">
            <a:avLst>
              <a:gd name="adj" fmla="val 4317"/>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B093B59-02FE-497B-B261-9F996F176E67}"/>
              </a:ext>
            </a:extLst>
          </p:cNvPr>
          <p:cNvSpPr>
            <a:spLocks xmlns:a="http://schemas.openxmlformats.org/drawingml/2006/main" noGrp="1"/>
          </p:cNvSpPr>
          <p:nvPr/>
        </p:nvSpPr>
        <p:spPr>
          <a:xfrm xmlns:a="http://schemas.openxmlformats.org/drawingml/2006/main">
            <a:off x="9220200" y="2209800"/>
            <a:ext cx="66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007F79"/>
                </a:solidFill>
              </a:defRPr>
            </a:defPPr>
          </a:lstStyle>
          <a:p xmlns:a="http://schemas.openxmlformats.org/drawingml/2006/main">
            <a:pPr>
              <a:buNone/>
              <a:defRPr sz="3600" b="1">
                <a:solidFill>
                  <a:srgbClr val="007F79"/>
                </a:solidFill>
              </a:defRPr>
            </a:pPr>
            <a:r>
              <a:rPr sz="3600" b="1">
                <a:solidFill>
                  <a:srgbClr val="007F79"/>
                </a:solidFill>
              </a:rPr>
              <a:t>04</a:t>
            </a:r>
          </a:p>
        </p:txBody>
      </p:sp>
      <p:sp>
        <p:nvSpPr>
          <p:cNvPr id="20" name="">
            <a:extLst xmlns:a="http://schemas.openxmlformats.org/drawingml/2006/main">
              <a:ext uri="{FF2B5EF4-FFF2-40B4-BE49-F238E27FC236}">
                <a16:creationId xmlns:a16="http://schemas.microsoft.com/office/drawing/2014/main" id="{D0C9083D-9584-4B5C-80A5-4EE17D4418DA}"/>
              </a:ext>
            </a:extLst>
          </p:cNvPr>
          <p:cNvSpPr>
            <a:spLocks xmlns:a="http://schemas.openxmlformats.org/drawingml/2006/main" noGrp="1"/>
          </p:cNvSpPr>
          <p:nvPr/>
        </p:nvSpPr>
        <p:spPr>
          <a:xfrm xmlns:a="http://schemas.openxmlformats.org/drawingml/2006/main">
            <a:off x="9220200" y="2924175"/>
            <a:ext cx="2266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283F"/>
                </a:solidFill>
              </a:defRPr>
            </a:defPPr>
          </a:lstStyle>
          <a:p xmlns:a="http://schemas.openxmlformats.org/drawingml/2006/main">
            <a:pPr>
              <a:buNone/>
              <a:defRPr sz="2100" b="1">
                <a:solidFill>
                  <a:srgbClr val="15283F"/>
                </a:solidFill>
              </a:defRPr>
            </a:pPr>
            <a:r>
              <a:rPr sz="2100" b="1">
                <a:solidFill>
                  <a:srgbClr val="15283F"/>
                </a:solidFill>
              </a:rPr>
              <a:t>Hisobdorlik</a:t>
            </a:r>
          </a:p>
        </p:txBody>
      </p:sp>
      <p:sp>
        <p:nvSpPr>
          <p:cNvPr id="21" name="">
            <a:extLst xmlns:a="http://schemas.openxmlformats.org/drawingml/2006/main">
              <a:ext uri="{FF2B5EF4-FFF2-40B4-BE49-F238E27FC236}">
                <a16:creationId xmlns:a16="http://schemas.microsoft.com/office/drawing/2014/main" id="{DD288914-5C7C-4BB0-9DFE-E47A00F586B3}"/>
              </a:ext>
            </a:extLst>
          </p:cNvPr>
          <p:cNvSpPr>
            <a:spLocks xmlns:a="http://schemas.openxmlformats.org/drawingml/2006/main" noGrp="1"/>
          </p:cNvSpPr>
          <p:nvPr/>
        </p:nvSpPr>
        <p:spPr>
          <a:xfrm xmlns:a="http://schemas.openxmlformats.org/drawingml/2006/main">
            <a:off x="9220200" y="3657600"/>
            <a:ext cx="22669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1E3047"/>
                </a:solidFill>
              </a:defRPr>
            </a:defPPr>
          </a:lstStyle>
          <a:p xmlns:a="http://schemas.openxmlformats.org/drawingml/2006/main">
            <a:pPr>
              <a:buNone/>
              <a:defRPr sz="1800" b="0">
                <a:solidFill>
                  <a:srgbClr val="1E3047"/>
                </a:solidFill>
              </a:defRPr>
            </a:pPr>
            <a:r>
              <a:rPr sz="1800" b="0">
                <a:solidFill>
                  <a:srgbClr val="1E3047"/>
                </a:solidFill>
              </a:rPr>
              <a:t>«Qaysi amal bajarildi?»</a:t>
            </a:r>
          </a:p>
          <a:p xmlns:a="http://schemas.openxmlformats.org/drawingml/2006/main">
            <a:r>
              <a:t/>
            </a:r>
          </a:p>
          <a:p xmlns:a="http://schemas.openxmlformats.org/drawingml/2006/main">
            <a:pPr>
              <a:buNone/>
              <a:defRPr sz="1800" b="0">
                <a:solidFill>
                  <a:srgbClr val="1E3047"/>
                </a:solidFill>
              </a:defRPr>
            </a:pPr>
            <a:r>
              <a:rPr sz="1800" b="0">
                <a:solidFill>
                  <a:srgbClr val="1E3047"/>
                </a:solidFill>
              </a:rPr>
              <a:t>Vaqt va natija jurnalda</a:t>
            </a:r>
          </a:p>
        </p:txBody>
      </p:sp>
      <p:sp>
        <p:nvSpPr>
          <p:cNvPr id="22" name="">
            <a:extLst xmlns:a="http://schemas.openxmlformats.org/drawingml/2006/main">
              <a:ext uri="{FF2B5EF4-FFF2-40B4-BE49-F238E27FC236}">
                <a16:creationId xmlns:a16="http://schemas.microsoft.com/office/drawing/2014/main" id="{E231B579-47BF-4276-ADDC-DBBF9426275D}"/>
              </a:ext>
            </a:extLst>
          </p:cNvPr>
          <p:cNvSpPr>
            <a:spLocks xmlns:a="http://schemas.openxmlformats.org/drawingml/2006/main" noGrp="1"/>
          </p:cNvSpPr>
          <p:nvPr/>
        </p:nvSpPr>
        <p:spPr>
          <a:xfrm xmlns:a="http://schemas.openxmlformats.org/drawingml/2006/main">
            <a:off x="514350" y="5524500"/>
            <a:ext cx="11163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F79"/>
                </a:solidFill>
              </a:defRPr>
            </a:defPPr>
          </a:lstStyle>
          <a:p xmlns:a="http://schemas.openxmlformats.org/drawingml/2006/main">
            <a:pPr>
              <a:buNone/>
              <a:defRPr sz="2100" b="1">
                <a:solidFill>
                  <a:srgbClr val="007F79"/>
                </a:solidFill>
              </a:defRPr>
            </a:pPr>
            <a:r>
              <a:rPr sz="2100" b="1">
                <a:solidFill>
                  <a:srgbClr val="007F79"/>
                </a:solidFill>
              </a:rPr>
              <a:t>AAA — Authentication, Authorization, Accounting</a:t>
            </a:r>
          </a:p>
        </p:txBody>
      </p:sp>
      <p:sp>
        <p:nvSpPr>
          <p:cNvPr id="23" name="">
            <a:extLst xmlns:a="http://schemas.openxmlformats.org/drawingml/2006/main">
              <a:ext uri="{FF2B5EF4-FFF2-40B4-BE49-F238E27FC236}">
                <a16:creationId xmlns:a16="http://schemas.microsoft.com/office/drawing/2014/main" id="{DBDE0011-B028-4D0D-8074-ED21BD3D50B8}"/>
              </a:ext>
            </a:extLst>
          </p:cNvPr>
          <p:cNvSpPr>
            <a:spLocks xmlns:a="http://schemas.openxmlformats.org/drawingml/2006/main" noGrp="1"/>
          </p:cNvSpPr>
          <p:nvPr/>
        </p:nvSpPr>
        <p:spPr>
          <a:xfrm xmlns:a="http://schemas.openxmlformats.org/drawingml/2006/main">
            <a:off x="514350" y="5934075"/>
            <a:ext cx="11163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1E3047"/>
                </a:solidFill>
              </a:defRPr>
            </a:defPPr>
          </a:lstStyle>
          <a:p xmlns:a="http://schemas.openxmlformats.org/drawingml/2006/main">
            <a:pPr>
              <a:buNone/>
              <a:defRPr sz="1725" b="0">
                <a:solidFill>
                  <a:srgbClr val="1E3047"/>
                </a:solidFill>
              </a:defRPr>
            </a:pPr>
            <a:r>
              <a:rPr sz="1725" b="0">
                <a:solidFill>
                  <a:srgbClr val="1E3047"/>
                </a:solidFill>
              </a:rPr>
              <a:t>Autentifikatsiya hisobga kirishni, avtorizatsiya esa aniq amal huquqini tekshiradi.</a:t>
            </a:r>
          </a:p>
        </p:txBody>
      </p:sp>
    </p:spTree>
    <p:extLst>
      <p:ext uri="{BB962C8B-B14F-4D97-AF65-F5344CB8AC3E}">
        <p14:creationId xmlns:p14="http://schemas.microsoft.com/office/powerpoint/2010/main" val="513655209"/>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573589-40A1-479C-8851-2FF99572876C}"/>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E51FE9-7566-4223-B82E-49AD4F93FB98}"/>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5283F"/>
                </a:solidFill>
              </a:defRPr>
            </a:defPPr>
          </a:lstStyle>
          <a:p xmlns:a="http://schemas.openxmlformats.org/drawingml/2006/main">
            <a:pPr>
              <a:buNone/>
              <a:defRPr sz="3000" b="1">
                <a:solidFill>
                  <a:srgbClr val="15283F"/>
                </a:solidFill>
              </a:defRPr>
            </a:pPr>
            <a:r>
              <a:rPr sz="3000" b="1">
                <a:solidFill>
                  <a:srgbClr val="15283F"/>
                </a:solidFill>
              </a:rPr>
              <a:t>Tahdid, zaiflik va oqibat</a:t>
            </a:r>
          </a:p>
        </p:txBody>
      </p:sp>
      <p:sp>
        <p:nvSpPr>
          <p:cNvPr id="3" name="">
            <a:extLst xmlns:a="http://schemas.openxmlformats.org/drawingml/2006/main">
              <a:ext uri="{FF2B5EF4-FFF2-40B4-BE49-F238E27FC236}">
                <a16:creationId xmlns:a16="http://schemas.microsoft.com/office/drawing/2014/main" id="{069D807B-DD74-49FB-A2FB-532070260BC2}"/>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76C82"/>
                </a:solidFill>
              </a:defRPr>
            </a:defPPr>
          </a:lstStyle>
          <a:p xmlns:a="http://schemas.openxmlformats.org/drawingml/2006/main">
            <a:pPr>
              <a:buNone/>
              <a:defRPr sz="1725" b="0">
                <a:solidFill>
                  <a:srgbClr val="576C82"/>
                </a:solidFill>
              </a:defRPr>
            </a:pPr>
            <a:r>
              <a:rPr sz="1725" b="0">
                <a:solidFill>
                  <a:srgbClr val="576C82"/>
                </a:solidFill>
              </a:rPr>
              <a:t>Tahdid zarar keltiruvchi hodisa. Zaiflik esa shu hodisaga imkon beradigan kamchilik.</a:t>
            </a:r>
          </a:p>
        </p:txBody>
      </p:sp>
      <p:sp>
        <p:nvSpPr>
          <p:cNvPr id="4" name="">
            <a:extLst xmlns:a="http://schemas.openxmlformats.org/drawingml/2006/main">
              <a:ext uri="{FF2B5EF4-FFF2-40B4-BE49-F238E27FC236}">
                <a16:creationId xmlns:a16="http://schemas.microsoft.com/office/drawing/2014/main" id="{A5A787B9-A36E-48B2-8E72-D095AC0A6615}"/>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76C82"/>
                </a:solidFill>
              </a:defRPr>
            </a:defPPr>
          </a:lstStyle>
          <a:p xmlns:a="http://schemas.openxmlformats.org/drawingml/2006/main">
            <a:pPr>
              <a:buNone/>
              <a:defRPr sz="975" b="0">
                <a:solidFill>
                  <a:srgbClr val="576C82"/>
                </a:solidFill>
              </a:defRPr>
            </a:pPr>
            <a:r>
              <a:rPr sz="975" b="0">
                <a:solidFill>
                  <a:srgbClr val="576C82"/>
                </a:solidFill>
              </a:rPr>
              <a:t>Manba: [2] NIST SP 800-30 Rev. 1 / [5] CIS Controls v8.1, Control 5</a:t>
            </a:r>
          </a:p>
        </p:txBody>
      </p:sp>
      <p:sp>
        <p:nvSpPr>
          <p:cNvPr id="5" name="">
            <a:extLst xmlns:a="http://schemas.openxmlformats.org/drawingml/2006/main">
              <a:ext uri="{FF2B5EF4-FFF2-40B4-BE49-F238E27FC236}">
                <a16:creationId xmlns:a16="http://schemas.microsoft.com/office/drawing/2014/main" id="{BDB98059-41A7-4E5D-AC04-9EDE2F3CE80E}"/>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06 / 25</a:t>
            </a:r>
          </a:p>
        </p:txBody>
      </p:sp>
      <p:graphicFrame>
        <p:nvGraphicFramePr>
          <p:cNvPr id="6" name="">
            <a:extLst xmlns:a="http://schemas.openxmlformats.org/drawingml/2006/main">
              <a:ext uri="{FF2B5EF4-FFF2-40B4-BE49-F238E27FC236}">
                <a16:creationId xmlns:a16="http://schemas.microsoft.com/office/drawing/2014/main" id="{97A17919-AD17-4746-AE2B-AF64A010C8B8}"/>
              </a:ext>
            </a:extLst>
          </p:cNvPr>
          <p:cNvGraphicFramePr/>
          <p:nvPr/>
        </p:nvGraphicFramePr>
        <p:xfrm>
          <a:off xmlns:a="http://schemas.openxmlformats.org/drawingml/2006/main" x="514350" y="2095500"/>
          <a:ext xmlns:a="http://schemas.openxmlformats.org/drawingml/2006/main" cx="11163300" cy="3248025"/>
        </p:xfrm>
        <a:graphic xmlns:a="http://schemas.openxmlformats.org/drawingml/2006/main">
          <a:graphicData uri="http://schemas.openxmlformats.org/drawingml/2006/table">
            <a:tbl>
              <a:tblPr/>
              <a:tblGrid>
                <a:gridCol w="3810000"/>
                <a:gridCol w="3524250"/>
                <a:gridCol w="3829050"/>
              </a:tblGrid>
              <a:tr h="812006">
                <a:tc>
                  <a:txBody>
                    <a:bodyPr lIns="114300" tIns="114300" rIns="114300" bIns="114300"/>
                    <a:lstStyle/>
                    <a:p>
                      <a:r>
                        <a:rPr sz="1875" b="1">
                          <a:solidFill>
                            <a:srgbClr val="FFFFFF"/>
                          </a:solidFill>
                        </a:rPr>
                        <a:t>Tahdid ssenariysi</a:t>
                      </a:r>
                    </a:p>
                  </a:txBody>
                  <a:tcPr marL="91440" marR="91440" marT="45720" marB="4572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875" b="1">
                          <a:solidFill>
                            <a:srgbClr val="FFFFFF"/>
                          </a:solidFill>
                        </a:rPr>
                        <a:t>Zaiflik</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875" b="1">
                          <a:solidFill>
                            <a:srgbClr val="FFFFFF"/>
                          </a:solidFill>
                        </a:rPr>
                        <a:t>Mumkin bo‘lgan zarar</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812006">
                <a:tc>
                  <a:txBody>
                    <a:bodyPr lIns="114300" tIns="114300" rIns="114300" bIns="114300"/>
                    <a:lstStyle/>
                    <a:p>
                      <a:r>
                        <a:rPr sz="1875" b="0">
                          <a:solidFill>
                            <a:srgbClr val="1E3047"/>
                          </a:solidFill>
                        </a:rPr>
                        <a:t>Hisobni fishing orqali</a:t>
                      </a:r>
                    </a:p>
                    <a:p>
                      <a:r>
                        <a:rPr sz="1875" b="0">
                          <a:solidFill>
                            <a:srgbClr val="1E3047"/>
                          </a:solidFill>
                        </a:rPr>
                        <a:t>egallash</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75" b="0">
                          <a:solidFill>
                            <a:srgbClr val="1E3047"/>
                          </a:solidFill>
                        </a:rPr>
                        <a:t>Faqat parolga tayanish</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75" b="0">
                          <a:solidFill>
                            <a:srgbClr val="1E3047"/>
                          </a:solidFill>
                        </a:rPr>
                        <a:t>Begona shaxs nomidan</a:t>
                      </a:r>
                    </a:p>
                    <a:p>
                      <a:r>
                        <a:rPr sz="1875" b="0">
                          <a:solidFill>
                            <a:srgbClr val="1E3047"/>
                          </a:solidFill>
                        </a:rPr>
                        <a:t>PC ulash yoki tasdiqlash</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812006">
                <a:tc>
                  <a:txBody>
                    <a:bodyPr lIns="114300" tIns="114300" rIns="114300" bIns="114300"/>
                    <a:lstStyle/>
                    <a:p>
                      <a:r>
                        <a:rPr sz="1875" b="0">
                          <a:solidFill>
                            <a:srgbClr val="1E3047"/>
                          </a:solidFill>
                        </a:rPr>
                        <a:t>Ortiqcha huquqdan</a:t>
                      </a:r>
                    </a:p>
                    <a:p>
                      <a:r>
                        <a:rPr sz="1875" b="0">
                          <a:solidFill>
                            <a:srgbClr val="1E3047"/>
                          </a:solidFill>
                        </a:rPr>
                        <a:t>suiiste’mol qilish</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875" b="0">
                          <a:solidFill>
                            <a:srgbClr val="1E3047"/>
                          </a:solidFill>
                        </a:rPr>
                        <a:t>Juda keng rol yoki</a:t>
                      </a:r>
                    </a:p>
                    <a:p>
                      <a:r>
                        <a:rPr sz="1875" b="0">
                          <a:solidFill>
                            <a:srgbClr val="1E3047"/>
                          </a:solidFill>
                        </a:rPr>
                        <a:t>tashkilot filtri yo‘qligi</a:t>
                      </a:r>
                    </a:p>
                  </a:txBody>
                  <a:tcPr marL="91440" marR="91440" marT="45720" marB="45720" anchor="ctr">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875" b="0">
                          <a:solidFill>
                            <a:srgbClr val="1E3047"/>
                          </a:solidFill>
                        </a:rPr>
                        <a:t>Boshqa tashkilot PC’lari</a:t>
                      </a:r>
                    </a:p>
                    <a:p>
                      <a:r>
                        <a:rPr sz="1875" b="0">
                          <a:solidFill>
                            <a:srgbClr val="1E3047"/>
                          </a:solidFill>
                        </a:rPr>
                        <a:t>haqida ma’lumot ochilishi</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r h="812006">
                <a:tc>
                  <a:txBody>
                    <a:bodyPr lIns="114300" tIns="114300" rIns="114300" bIns="114300"/>
                    <a:lstStyle/>
                    <a:p>
                      <a:r>
                        <a:rPr sz="1875" b="0">
                          <a:solidFill>
                            <a:srgbClr val="1E3047"/>
                          </a:solidFill>
                        </a:rPr>
                        <a:t>Eski agent so‘rovini</a:t>
                      </a:r>
                    </a:p>
                    <a:p>
                      <a:r>
                        <a:rPr sz="1875" b="0">
                          <a:solidFill>
                            <a:srgbClr val="1E3047"/>
                          </a:solidFill>
                        </a:rPr>
                        <a:t>qayta yuborish</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75" b="0">
                          <a:solidFill>
                            <a:srgbClr val="1E3047"/>
                          </a:solidFill>
                        </a:rPr>
                        <a:t>Nonce va imzoni</a:t>
                      </a:r>
                    </a:p>
                    <a:p>
                      <a:r>
                        <a:rPr sz="1875" b="0">
                          <a:solidFill>
                            <a:srgbClr val="1E3047"/>
                          </a:solidFill>
                        </a:rPr>
                        <a:t>tekshirmaslik</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875" b="0">
                          <a:solidFill>
                            <a:srgbClr val="1E3047"/>
                          </a:solidFill>
                        </a:rPr>
                        <a:t>Soxta autentifikatsiya</a:t>
                      </a:r>
                    </a:p>
                    <a:p>
                      <a:r>
                        <a:rPr sz="1875" b="0">
                          <a:solidFill>
                            <a:srgbClr val="1E3047"/>
                          </a:solidFill>
                        </a:rPr>
                        <a:t>yoki takroriy amal</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05CCBF-79FF-4DC8-9D88-DC5D81DA667C}"/>
              </a:ext>
            </a:extLst>
          </p:cNvPr>
          <p:cNvSpPr>
            <a:spLocks xmlns:a="http://schemas.openxmlformats.org/drawingml/2006/main" noGrp="1"/>
          </p:cNvSpPr>
          <p:nvPr/>
        </p:nvSpPr>
        <p:spPr>
          <a:xfrm xmlns:a="http://schemas.openxmlformats.org/drawingml/2006/main">
            <a:off x="514350" y="5743575"/>
            <a:ext cx="11163300" cy="504825"/>
          </a:xfrm>
          <a:prstGeom xmlns:a="http://schemas.openxmlformats.org/drawingml/2006/main" prst="roundRect">
            <a:avLst>
              <a:gd name="adj" fmla="val 22642"/>
            </a:avLst>
          </a:prstGeom>
          <a:solidFill xmlns:a="http://schemas.openxmlformats.org/drawingml/2006/main">
            <a:srgbClr val="3267D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5609A4-FB8B-49C8-B869-9EA2A4467833}"/>
              </a:ext>
            </a:extLst>
          </p:cNvPr>
          <p:cNvSpPr>
            <a:spLocks xmlns:a="http://schemas.openxmlformats.org/drawingml/2006/main" noGrp="1"/>
          </p:cNvSpPr>
          <p:nvPr/>
        </p:nvSpPr>
        <p:spPr>
          <a:xfrm xmlns:a="http://schemas.openxmlformats.org/drawingml/2006/main">
            <a:off x="704850" y="5857875"/>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FFFFFF"/>
                </a:solidFill>
                <a:latin typeface="Aptos"/>
                <a:ea typeface="Aptos"/>
                <a:cs typeface="Aptos"/>
              </a:defRPr>
            </a:defPPr>
          </a:lstStyle>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Sobiq xodim hisobi va bekor qilinmagan qurilma kaliti alohida nazorat talab qiladi.</a:t>
            </a:r>
          </a:p>
        </p:txBody>
      </p:sp>
    </p:spTree>
    <p:extLst>
      <p:ext uri="{BB962C8B-B14F-4D97-AF65-F5344CB8AC3E}">
        <p14:creationId xmlns:p14="http://schemas.microsoft.com/office/powerpoint/2010/main" val="701300041"/>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9116CC0-A288-4C47-9F72-29753A23895E}"/>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CFA39A-2BDA-4A2E-BFCF-4846B00E6C20}"/>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Kompaniya uchun foydalanish siyosati</a:t>
            </a:r>
          </a:p>
        </p:txBody>
      </p:sp>
      <p:sp>
        <p:nvSpPr>
          <p:cNvPr id="3" name="">
            <a:extLst xmlns:a="http://schemas.openxmlformats.org/drawingml/2006/main">
              <a:ext uri="{FF2B5EF4-FFF2-40B4-BE49-F238E27FC236}">
                <a16:creationId xmlns:a16="http://schemas.microsoft.com/office/drawing/2014/main" id="{F8A81219-135C-48CC-BB36-A074294EA2A7}"/>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PC’ni ulash, agentni faollashtirish va ruxsatni bekor qilish uchun aniq qoidalar kerak.</a:t>
            </a:r>
          </a:p>
        </p:txBody>
      </p:sp>
      <p:sp>
        <p:nvSpPr>
          <p:cNvPr id="4" name="">
            <a:extLst xmlns:a="http://schemas.openxmlformats.org/drawingml/2006/main">
              <a:ext uri="{FF2B5EF4-FFF2-40B4-BE49-F238E27FC236}">
                <a16:creationId xmlns:a16="http://schemas.microsoft.com/office/drawing/2014/main" id="{05124E67-8E29-4323-A2FC-C19BEB6BD7FC}"/>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 NIST SP 800-53 / [6] CIS Control 6 / [10] auth</a:t>
            </a:r>
          </a:p>
        </p:txBody>
      </p:sp>
      <p:sp>
        <p:nvSpPr>
          <p:cNvPr id="5" name="">
            <a:extLst xmlns:a="http://schemas.openxmlformats.org/drawingml/2006/main">
              <a:ext uri="{FF2B5EF4-FFF2-40B4-BE49-F238E27FC236}">
                <a16:creationId xmlns:a16="http://schemas.microsoft.com/office/drawing/2014/main" id="{1E6C8720-D65B-44A8-A1B1-C017034B7EAA}"/>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07 / 25</a:t>
            </a:r>
          </a:p>
        </p:txBody>
      </p:sp>
      <p:sp>
        <p:nvSpPr>
          <p:cNvPr id="6" name="">
            <a:extLst xmlns:a="http://schemas.openxmlformats.org/drawingml/2006/main">
              <a:ext uri="{FF2B5EF4-FFF2-40B4-BE49-F238E27FC236}">
                <a16:creationId xmlns:a16="http://schemas.microsoft.com/office/drawing/2014/main" id="{52CFBDD0-5CF2-445D-8F7F-231B092C3281}"/>
              </a:ext>
            </a:extLst>
          </p:cNvPr>
          <p:cNvSpPr>
            <a:spLocks xmlns:a="http://schemas.openxmlformats.org/drawingml/2006/main" noGrp="1"/>
          </p:cNvSpPr>
          <p:nvPr/>
        </p:nvSpPr>
        <p:spPr>
          <a:xfrm xmlns:a="http://schemas.openxmlformats.org/drawingml/2006/main">
            <a:off x="514350" y="2009775"/>
            <a:ext cx="6762750" cy="3524250"/>
          </a:xfrm>
          <a:prstGeom xmlns:a="http://schemas.openxmlformats.org/drawingml/2006/main" prst="roundRect">
            <a:avLst>
              <a:gd name="adj" fmla="val 3243"/>
            </a:avLst>
          </a:prstGeom>
          <a:solidFill xmlns:a="http://schemas.openxmlformats.org/drawingml/2006/main">
            <a:srgbClr val="FFFFFF"/>
          </a:solidFill>
          <a:ln xmlns:a="http://schemas.openxmlformats.org/drawingml/2006/main" w="9525">
            <a:solidFill>
              <a:srgbClr val="D9E2EC"/>
            </a:solidFill>
            <a:prstDash val="solid"/>
          </a:ln>
        </p:spPr>
      </p:sp>
      <p:sp>
        <p:nvSpPr>
          <p:cNvPr id="7" name="">
            <a:extLst xmlns:a="http://schemas.openxmlformats.org/drawingml/2006/main">
              <a:ext uri="{FF2B5EF4-FFF2-40B4-BE49-F238E27FC236}">
                <a16:creationId xmlns:a16="http://schemas.microsoft.com/office/drawing/2014/main" id="{13286F58-96F6-47F4-BB1E-49F4656312E9}"/>
              </a:ext>
            </a:extLst>
          </p:cNvPr>
          <p:cNvSpPr>
            <a:spLocks xmlns:a="http://schemas.openxmlformats.org/drawingml/2006/main" noGrp="1"/>
          </p:cNvSpPr>
          <p:nvPr/>
        </p:nvSpPr>
        <p:spPr>
          <a:xfrm xmlns:a="http://schemas.openxmlformats.org/drawingml/2006/main">
            <a:off x="514350" y="2009775"/>
            <a:ext cx="6762750" cy="438150"/>
          </a:xfrm>
          <a:prstGeom xmlns:a="http://schemas.openxmlformats.org/drawingml/2006/main" prst="rect">
            <a:avLst/>
          </a:prstGeom>
          <a:solidFill xmlns:a="http://schemas.openxmlformats.org/drawingml/2006/main">
            <a:srgbClr val="15283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E6B0D9-D9F9-46CB-A9B9-A790E87A68C8}"/>
              </a:ext>
            </a:extLst>
          </p:cNvPr>
          <p:cNvSpPr>
            <a:spLocks xmlns:a="http://schemas.openxmlformats.org/drawingml/2006/main" noGrp="1"/>
          </p:cNvSpPr>
          <p:nvPr/>
        </p:nvSpPr>
        <p:spPr>
          <a:xfrm xmlns:a="http://schemas.openxmlformats.org/drawingml/2006/main">
            <a:off x="685800" y="2105025"/>
            <a:ext cx="641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FFFFFF"/>
                </a:solidFill>
                <a:latin typeface="Aptos"/>
                <a:ea typeface="Aptos"/>
                <a:cs typeface="Aptos"/>
              </a:defRPr>
            </a:defPPr>
          </a:lstStyle>
          <a:p xmlns:a="http://schemas.openxmlformats.org/drawingml/2006/main">
            <a:pPr algn="l">
              <a:buNone/>
              <a:defRPr sz="1575" b="1">
                <a:solidFill>
                  <a:srgbClr val="FFFFFF"/>
                </a:solidFill>
                <a:latin typeface="Aptos"/>
                <a:ea typeface="Aptos"/>
                <a:cs typeface="Aptos"/>
              </a:defRPr>
            </a:pPr>
            <a:r>
              <a:rPr sz="1575" b="1">
                <a:solidFill>
                  <a:srgbClr val="FFFFFF"/>
                </a:solidFill>
                <a:latin typeface="Aptos"/>
                <a:ea typeface="Aptos"/>
                <a:cs typeface="Aptos"/>
              </a:rPr>
              <a:t>KOMPANIYA SIYOSATI NAMUNASI</a:t>
            </a:r>
          </a:p>
        </p:txBody>
      </p:sp>
      <p:graphicFrame>
        <p:nvGraphicFramePr>
          <p:cNvPr id="9" name="">
            <a:extLst xmlns:a="http://schemas.openxmlformats.org/drawingml/2006/main">
              <a:ext uri="{FF2B5EF4-FFF2-40B4-BE49-F238E27FC236}">
                <a16:creationId xmlns:a16="http://schemas.microsoft.com/office/drawing/2014/main" id="{56DD33D5-B778-42BD-AA19-4342033BD5B1}"/>
              </a:ext>
            </a:extLst>
          </p:cNvPr>
          <p:cNvGraphicFramePr/>
          <p:nvPr/>
        </p:nvGraphicFramePr>
        <p:xfrm>
          <a:off xmlns:a="http://schemas.openxmlformats.org/drawingml/2006/main" x="714375" y="2638425"/>
          <a:ext xmlns:a="http://schemas.openxmlformats.org/drawingml/2006/main" cx="6353175" cy="2657475"/>
        </p:xfrm>
        <a:graphic xmlns:a="http://schemas.openxmlformats.org/drawingml/2006/main">
          <a:graphicData uri="http://schemas.openxmlformats.org/drawingml/2006/table">
            <a:tbl>
              <a:tblPr/>
              <a:tblGrid>
                <a:gridCol w="2209800"/>
                <a:gridCol w="4143375"/>
              </a:tblGrid>
              <a:tr h="531495">
                <a:tc>
                  <a:txBody>
                    <a:bodyPr lIns="114300" tIns="114300" rIns="114300" bIns="114300"/>
                    <a:lstStyle/>
                    <a:p>
                      <a:r>
                        <a:rPr sz="1650" b="1">
                          <a:solidFill>
                            <a:srgbClr val="FFFFFF"/>
                          </a:solidFill>
                        </a:rPr>
                        <a:t>Hujjat bo‘limi</a:t>
                      </a:r>
                    </a:p>
                  </a:txBody>
                  <a:tcPr marL="91440" marR="91440" marT="45720" marB="4572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650" b="1">
                          <a:solidFill>
                            <a:srgbClr val="FFFFFF"/>
                          </a:solidFill>
                        </a:rPr>
                        <a:t>Belgilanishi kerak</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531495">
                <a:tc>
                  <a:txBody>
                    <a:bodyPr lIns="114300" tIns="114300" rIns="114300" bIns="114300"/>
                    <a:lstStyle/>
                    <a:p>
                      <a:r>
                        <a:rPr sz="1650" b="0">
                          <a:solidFill>
                            <a:srgbClr val="1E3047"/>
                          </a:solidFill>
                        </a:rPr>
                        <a:t>Qamrov</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650" b="0">
                          <a:solidFill>
                            <a:srgbClr val="1E3047"/>
                          </a:solidFill>
                        </a:rPr>
                        <a:t>Kompaniya, xodim va PC’lar</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531495">
                <a:tc>
                  <a:txBody>
                    <a:bodyPr lIns="114300" tIns="114300" rIns="114300" bIns="114300"/>
                    <a:lstStyle/>
                    <a:p>
                      <a:r>
                        <a:rPr sz="1650" b="0">
                          <a:solidFill>
                            <a:srgbClr val="1E3047"/>
                          </a:solidFill>
                        </a:rPr>
                        <a:t>Ruxsat qoidasi</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650" b="0">
                          <a:solidFill>
                            <a:srgbClr val="1E3047"/>
                          </a:solidFill>
                        </a:rPr>
                        <a:t>Tashkilot, rol va qurilma holati</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r h="531495">
                <a:tc>
                  <a:txBody>
                    <a:bodyPr lIns="114300" tIns="114300" rIns="114300" bIns="114300"/>
                    <a:lstStyle/>
                    <a:p>
                      <a:r>
                        <a:rPr sz="1650" b="0">
                          <a:solidFill>
                            <a:srgbClr val="1E3047"/>
                          </a:solidFill>
                        </a:rPr>
                        <a:t>Hayotiy sikl</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650" b="0">
                          <a:solidFill>
                            <a:srgbClr val="1E3047"/>
                          </a:solidFill>
                        </a:rPr>
                        <a:t>Ro‘yxat, aktivatsiya, bekor qilish</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531495">
                <a:tc>
                  <a:txBody>
                    <a:bodyPr lIns="114300" tIns="114300" rIns="114300" bIns="114300"/>
                    <a:lstStyle/>
                    <a:p>
                      <a:r>
                        <a:rPr sz="1650" b="0">
                          <a:solidFill>
                            <a:srgbClr val="1E3047"/>
                          </a:solidFill>
                        </a:rPr>
                        <a:t>Istisno</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650" b="0">
                          <a:solidFill>
                            <a:srgbClr val="1E3047"/>
                          </a:solidFill>
                        </a:rPr>
                        <a:t>Sabab, mas’ul va tugash vaqti</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bl>
          </a:graphicData>
        </a:graphic>
      </p:graphicFrame>
      <p:sp>
        <p:nvSpPr>
          <p:cNvPr id="10" name="">
            <a:extLst xmlns:a="http://schemas.openxmlformats.org/drawingml/2006/main">
              <a:ext uri="{FF2B5EF4-FFF2-40B4-BE49-F238E27FC236}">
                <a16:creationId xmlns:a16="http://schemas.microsoft.com/office/drawing/2014/main" id="{65EBADDD-89F7-4285-A012-364266D66300}"/>
              </a:ext>
            </a:extLst>
          </p:cNvPr>
          <p:cNvSpPr>
            <a:spLocks xmlns:a="http://schemas.openxmlformats.org/drawingml/2006/main" noGrp="1"/>
          </p:cNvSpPr>
          <p:nvPr/>
        </p:nvSpPr>
        <p:spPr>
          <a:xfrm xmlns:a="http://schemas.openxmlformats.org/drawingml/2006/main">
            <a:off x="7572375" y="2009775"/>
            <a:ext cx="4105275" cy="3524250"/>
          </a:xfrm>
          <a:prstGeom xmlns:a="http://schemas.openxmlformats.org/drawingml/2006/main" prst="roundRect">
            <a:avLst>
              <a:gd name="adj" fmla="val 3243"/>
            </a:avLst>
          </a:prstGeom>
          <a:solidFill xmlns:a="http://schemas.openxmlformats.org/drawingml/2006/main">
            <a:srgbClr val="DDF5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4B94FA7-C37F-4E75-A45F-1F338FC4B201}"/>
              </a:ext>
            </a:extLst>
          </p:cNvPr>
          <p:cNvSpPr>
            <a:spLocks xmlns:a="http://schemas.openxmlformats.org/drawingml/2006/main" noGrp="1"/>
          </p:cNvSpPr>
          <p:nvPr/>
        </p:nvSpPr>
        <p:spPr>
          <a:xfrm xmlns:a="http://schemas.openxmlformats.org/drawingml/2006/main">
            <a:off x="7781925" y="2200275"/>
            <a:ext cx="3686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F79"/>
                </a:solidFill>
              </a:defRPr>
            </a:defPPr>
          </a:lstStyle>
          <a:p xmlns:a="http://schemas.openxmlformats.org/drawingml/2006/main">
            <a:pPr>
              <a:buNone/>
              <a:defRPr sz="2100" b="1">
                <a:solidFill>
                  <a:srgbClr val="007F79"/>
                </a:solidFill>
              </a:defRPr>
            </a:pPr>
            <a:r>
              <a:rPr sz="2100" b="1">
                <a:solidFill>
                  <a:srgbClr val="007F79"/>
                </a:solidFill>
              </a:rPr>
              <a:t>Namunaviy qoida</a:t>
            </a:r>
          </a:p>
        </p:txBody>
      </p:sp>
      <p:sp>
        <p:nvSpPr>
          <p:cNvPr id="12" name="">
            <a:extLst xmlns:a="http://schemas.openxmlformats.org/drawingml/2006/main">
              <a:ext uri="{FF2B5EF4-FFF2-40B4-BE49-F238E27FC236}">
                <a16:creationId xmlns:a16="http://schemas.microsoft.com/office/drawing/2014/main" id="{F6710941-22F3-46B1-9639-E1329AD64CBF}"/>
              </a:ext>
            </a:extLst>
          </p:cNvPr>
          <p:cNvSpPr>
            <a:spLocks xmlns:a="http://schemas.openxmlformats.org/drawingml/2006/main" noGrp="1"/>
          </p:cNvSpPr>
          <p:nvPr/>
        </p:nvSpPr>
        <p:spPr>
          <a:xfrm xmlns:a="http://schemas.openxmlformats.org/drawingml/2006/main">
            <a:off x="7781925" y="2943225"/>
            <a:ext cx="368617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E3047"/>
                </a:solidFill>
                <a:latin typeface="Aptos"/>
                <a:ea typeface="Aptos"/>
                <a:cs typeface="Aptos"/>
              </a:defRPr>
            </a:defPPr>
          </a:lstStyle>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PC’ni tashkilot administratori tasdiqlaydi.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Agent alohida bir martalik token orqali faollashadi.</a:t>
            </a:r>
          </a:p>
        </p:txBody>
      </p:sp>
      <p:sp>
        <p:nvSpPr>
          <p:cNvPr id="13" name="">
            <a:extLst xmlns:a="http://schemas.openxmlformats.org/drawingml/2006/main">
              <a:ext uri="{FF2B5EF4-FFF2-40B4-BE49-F238E27FC236}">
                <a16:creationId xmlns:a16="http://schemas.microsoft.com/office/drawing/2014/main" id="{2149F20A-3432-46F4-9952-350EA0429B10}"/>
              </a:ext>
            </a:extLst>
          </p:cNvPr>
          <p:cNvSpPr>
            <a:spLocks xmlns:a="http://schemas.openxmlformats.org/drawingml/2006/main" noGrp="1"/>
          </p:cNvSpPr>
          <p:nvPr/>
        </p:nvSpPr>
        <p:spPr>
          <a:xfrm xmlns:a="http://schemas.openxmlformats.org/drawingml/2006/main">
            <a:off x="514350" y="5743575"/>
            <a:ext cx="11163300" cy="504825"/>
          </a:xfrm>
          <a:prstGeom xmlns:a="http://schemas.openxmlformats.org/drawingml/2006/main" prst="roundRect">
            <a:avLst>
              <a:gd name="adj" fmla="val 22642"/>
            </a:avLst>
          </a:prstGeom>
          <a:solidFill xmlns:a="http://schemas.openxmlformats.org/drawingml/2006/main">
            <a:srgbClr val="15283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D2EA64-12E0-4161-A24A-5812474FEBC6}"/>
              </a:ext>
            </a:extLst>
          </p:cNvPr>
          <p:cNvSpPr>
            <a:spLocks xmlns:a="http://schemas.openxmlformats.org/drawingml/2006/main" noGrp="1"/>
          </p:cNvSpPr>
          <p:nvPr/>
        </p:nvSpPr>
        <p:spPr>
          <a:xfrm xmlns:a="http://schemas.openxmlformats.org/drawingml/2006/main">
            <a:off x="704850" y="5857875"/>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FFFFFF"/>
                </a:solidFill>
                <a:latin typeface="Aptos"/>
                <a:ea typeface="Aptos"/>
                <a:cs typeface="Aptos"/>
              </a:defRPr>
            </a:defPPr>
          </a:lstStyle>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Brauzerda tasdiqlangan PC agent aktivatsiyasigacha faol qurilma hisoblanmaydi.</a:t>
            </a:r>
          </a:p>
        </p:txBody>
      </p:sp>
    </p:spTree>
    <p:extLst>
      <p:ext uri="{BB962C8B-B14F-4D97-AF65-F5344CB8AC3E}">
        <p14:creationId xmlns:p14="http://schemas.microsoft.com/office/powerpoint/2010/main" val="486277463"/>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78CC93-FE42-45C7-BEE9-0248F3AF7888}"/>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4BF067-9DC6-46A0-91D1-0B665BB5EDCB}"/>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Jarayondagi mas’ullar va komponentlar</a:t>
            </a:r>
          </a:p>
        </p:txBody>
      </p:sp>
      <p:sp>
        <p:nvSpPr>
          <p:cNvPr id="3" name="">
            <a:extLst xmlns:a="http://schemas.openxmlformats.org/drawingml/2006/main">
              <a:ext uri="{FF2B5EF4-FFF2-40B4-BE49-F238E27FC236}">
                <a16:creationId xmlns:a16="http://schemas.microsoft.com/office/drawing/2014/main" id="{FA15228A-715A-4437-9101-CFBDD84BC8BE}"/>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Foydalanuvchi so‘rovni boshlaydi. Administrator tasdiqlaydi, server esa cheklovlarni tekshiradi.</a:t>
            </a:r>
          </a:p>
        </p:txBody>
      </p:sp>
      <p:sp>
        <p:nvSpPr>
          <p:cNvPr id="4" name="">
            <a:extLst xmlns:a="http://schemas.openxmlformats.org/drawingml/2006/main">
              <a:ext uri="{FF2B5EF4-FFF2-40B4-BE49-F238E27FC236}">
                <a16:creationId xmlns:a16="http://schemas.microsoft.com/office/drawing/2014/main" id="{DF648F04-6FCF-4527-9A4C-1B954FB1E65F}"/>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28692774-A321-4DAA-9492-42106D49C3D0}"/>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08 / 25</a:t>
            </a:r>
          </a:p>
        </p:txBody>
      </p:sp>
      <p:graphicFrame>
        <p:nvGraphicFramePr>
          <p:cNvPr id="6" name="">
            <a:extLst xmlns:a="http://schemas.openxmlformats.org/drawingml/2006/main">
              <a:ext uri="{FF2B5EF4-FFF2-40B4-BE49-F238E27FC236}">
                <a16:creationId xmlns:a16="http://schemas.microsoft.com/office/drawing/2014/main" id="{8069A779-D86B-4583-9797-7160C4B4C826}"/>
              </a:ext>
            </a:extLst>
          </p:cNvPr>
          <p:cNvGraphicFramePr/>
          <p:nvPr/>
        </p:nvGraphicFramePr>
        <p:xfrm>
          <a:off xmlns:a="http://schemas.openxmlformats.org/drawingml/2006/main" x="514350" y="2019300"/>
          <a:ext xmlns:a="http://schemas.openxmlformats.org/drawingml/2006/main" cx="11163300" cy="3619500"/>
        </p:xfrm>
        <a:graphic xmlns:a="http://schemas.openxmlformats.org/drawingml/2006/main">
          <a:graphicData uri="http://schemas.openxmlformats.org/drawingml/2006/table">
            <a:tbl>
              <a:tblPr/>
              <a:tblGrid>
                <a:gridCol w="2857500"/>
                <a:gridCol w="4381500"/>
                <a:gridCol w="3924300"/>
              </a:tblGrid>
              <a:tr h="603250">
                <a:tc>
                  <a:txBody>
                    <a:bodyPr lIns="114300" tIns="114300" rIns="114300" bIns="114300"/>
                    <a:lstStyle/>
                    <a:p>
                      <a:r>
                        <a:rPr sz="1725" b="1">
                          <a:solidFill>
                            <a:srgbClr val="FFFFFF"/>
                          </a:solidFill>
                        </a:rPr>
                        <a:t>Ishtirokchi</a:t>
                      </a:r>
                    </a:p>
                  </a:txBody>
                  <a:tcPr marL="91440" marR="91440" marT="45720" marB="4572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725" b="1">
                          <a:solidFill>
                            <a:srgbClr val="FFFFFF"/>
                          </a:solidFill>
                        </a:rPr>
                        <a:t>Asosiy vazifa</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725" b="1">
                          <a:solidFill>
                            <a:srgbClr val="FFFFFF"/>
                          </a:solidFill>
                        </a:rPr>
                        <a:t>Saqlanadigan dalil</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603250">
                <a:tc>
                  <a:txBody>
                    <a:bodyPr lIns="114300" tIns="114300" rIns="114300" bIns="114300"/>
                    <a:lstStyle/>
                    <a:p>
                      <a:r>
                        <a:rPr sz="1725" b="0">
                          <a:solidFill>
                            <a:srgbClr val="1E3047"/>
                          </a:solidFill>
                        </a:rPr>
                        <a:t>PC foydalanuvchisi</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725" b="0">
                          <a:solidFill>
                            <a:srgbClr val="1E3047"/>
                          </a:solidFill>
                        </a:rPr>
                        <a:t>Ro‘yxatga olishni boshlash</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725" b="0">
                          <a:solidFill>
                            <a:srgbClr val="1E3047"/>
                          </a:solidFill>
                        </a:rPr>
                        <a:t>PC va ro‘yxat sessiyasi</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603250">
                <a:tc>
                  <a:txBody>
                    <a:bodyPr lIns="114300" tIns="114300" rIns="114300" bIns="114300"/>
                    <a:lstStyle/>
                    <a:p>
                      <a:r>
                        <a:rPr sz="1725" b="0">
                          <a:solidFill>
                            <a:srgbClr val="1E3047"/>
                          </a:solidFill>
                        </a:rPr>
                        <a:t>Tashkilot administratori</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725" b="0">
                          <a:solidFill>
                            <a:srgbClr val="1E3047"/>
                          </a:solidFill>
                        </a:rPr>
                        <a:t>PC’ni kompaniyaga tasdiqlash</a:t>
                      </a:r>
                    </a:p>
                  </a:txBody>
                  <a:tcPr marL="91440" marR="91440" marT="45720" marB="45720" anchor="ctr">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725" b="0">
                          <a:solidFill>
                            <a:srgbClr val="1E3047"/>
                          </a:solidFill>
                        </a:rPr>
                        <a:t>Tasdiq va joylashuv yozuvi</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r h="603250">
                <a:tc>
                  <a:txBody>
                    <a:bodyPr lIns="114300" tIns="114300" rIns="114300" bIns="114300"/>
                    <a:lstStyle/>
                    <a:p>
                      <a:r>
                        <a:rPr sz="1725" b="0">
                          <a:solidFill>
                            <a:srgbClr val="1E3047"/>
                          </a:solidFill>
                        </a:rPr>
                        <a:t>Windows agent</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725" b="0">
                          <a:solidFill>
                            <a:srgbClr val="1E3047"/>
                          </a:solidFill>
                        </a:rPr>
                        <a:t>Kalit va imzo bilan so‘rov yuborish</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725" b="0">
                          <a:solidFill>
                            <a:srgbClr val="1E3047"/>
                          </a:solidFill>
                        </a:rPr>
                        <a:t>Sertifikat va imzolangan so‘rov</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603250">
                <a:tc>
                  <a:txBody>
                    <a:bodyPr lIns="114300" tIns="114300" rIns="114300" bIns="114300"/>
                    <a:lstStyle/>
                    <a:p>
                      <a:r>
                        <a:rPr sz="1725" b="0">
                          <a:solidFill>
                            <a:srgbClr val="1E3047"/>
                          </a:solidFill>
                        </a:rPr>
                        <a:t>Django server</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725" b="0">
                          <a:solidFill>
                            <a:srgbClr val="1E3047"/>
                          </a:solidFill>
                        </a:rPr>
                        <a:t>Tashkilot va protokolni tekshirish</a:t>
                      </a:r>
                    </a:p>
                  </a:txBody>
                  <a:tcPr marL="91440" marR="91440" marT="45720" marB="45720" anchor="ctr">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725" b="0">
                          <a:solidFill>
                            <a:srgbClr val="1E3047"/>
                          </a:solidFill>
                        </a:rPr>
                        <a:t>Qaror va holat o‘zgarishi</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r h="603250">
                <a:tc>
                  <a:txBody>
                    <a:bodyPr lIns="114300" tIns="114300" rIns="114300" bIns="114300"/>
                    <a:lstStyle/>
                    <a:p>
                      <a:r>
                        <a:rPr sz="1725" b="0">
                          <a:solidFill>
                            <a:srgbClr val="1E3047"/>
                          </a:solidFill>
                        </a:rPr>
                        <a:t>Nazorat uchun mas’ul</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725" b="0">
                          <a:solidFill>
                            <a:srgbClr val="1E3047"/>
                          </a:solidFill>
                        </a:rPr>
                        <a:t>Qurilma holati va auditni ko‘rish</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725" b="0">
                          <a:solidFill>
                            <a:srgbClr val="1E3047"/>
                          </a:solidFill>
                        </a:rPr>
                        <a:t>Hodisa va tekshiruv natijasi</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609681D-5989-401E-BFD7-26983FC669D6}"/>
              </a:ext>
            </a:extLst>
          </p:cNvPr>
          <p:cNvSpPr>
            <a:spLocks xmlns:a="http://schemas.openxmlformats.org/drawingml/2006/main" noGrp="1"/>
          </p:cNvSpPr>
          <p:nvPr/>
        </p:nvSpPr>
        <p:spPr>
          <a:xfrm xmlns:a="http://schemas.openxmlformats.org/drawingml/2006/main">
            <a:off x="514350" y="5743575"/>
            <a:ext cx="11163300" cy="504825"/>
          </a:xfrm>
          <a:prstGeom xmlns:a="http://schemas.openxmlformats.org/drawingml/2006/main" prst="roundRect">
            <a:avLst>
              <a:gd name="adj" fmla="val 22642"/>
            </a:avLst>
          </a:prstGeom>
          <a:solidFill xmlns:a="http://schemas.openxmlformats.org/drawingml/2006/main">
            <a:srgbClr val="15283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F2D469D-BD07-405B-AD64-D290D585DCBC}"/>
              </a:ext>
            </a:extLst>
          </p:cNvPr>
          <p:cNvSpPr>
            <a:spLocks xmlns:a="http://schemas.openxmlformats.org/drawingml/2006/main" noGrp="1"/>
          </p:cNvSpPr>
          <p:nvPr/>
        </p:nvSpPr>
        <p:spPr>
          <a:xfrm xmlns:a="http://schemas.openxmlformats.org/drawingml/2006/main">
            <a:off x="704850" y="5857875"/>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FFFFFF"/>
                </a:solidFill>
                <a:latin typeface="Aptos"/>
                <a:ea typeface="Aptos"/>
                <a:cs typeface="Aptos"/>
              </a:defRPr>
            </a:defPPr>
          </a:lstStyle>
          <a:p xmlns:a="http://schemas.openxmlformats.org/drawingml/2006/main">
            <a:pPr algn="l">
              <a:buNone/>
              <a:defRPr sz="1725" b="1">
                <a:solidFill>
                  <a:srgbClr val="FFFFFF"/>
                </a:solidFill>
                <a:latin typeface="Aptos"/>
                <a:ea typeface="Aptos"/>
                <a:cs typeface="Aptos"/>
              </a:defRPr>
            </a:pPr>
            <a:r>
              <a:rPr sz="1725" b="1">
                <a:solidFill>
                  <a:srgbClr val="FFFFFF"/>
                </a:solidFill>
                <a:latin typeface="Aptos"/>
                <a:ea typeface="Aptos"/>
                <a:cs typeface="Aptos"/>
              </a:rPr>
              <a:t>Administrator tasdig‘i va agentning kriptografik aktivatsiyasi alohida bosqichlardir.</a:t>
            </a:r>
          </a:p>
        </p:txBody>
      </p:sp>
    </p:spTree>
    <p:extLst>
      <p:ext uri="{BB962C8B-B14F-4D97-AF65-F5344CB8AC3E}">
        <p14:creationId xmlns:p14="http://schemas.microsoft.com/office/powerpoint/2010/main" val="1496150231"/>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2C1FBF-8250-4A8D-B4D8-E077E5A0B483}"/>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EA2889-8EE5-4B9D-BA2E-8C2026DBAE75}"/>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5283F"/>
                </a:solidFill>
              </a:defRPr>
            </a:defPPr>
          </a:lstStyle>
          <a:p xmlns:a="http://schemas.openxmlformats.org/drawingml/2006/main">
            <a:pPr>
              <a:buNone/>
              <a:defRPr sz="3000" b="1">
                <a:solidFill>
                  <a:srgbClr val="15283F"/>
                </a:solidFill>
              </a:defRPr>
            </a:pPr>
            <a:r>
              <a:rPr sz="3000" b="1">
                <a:solidFill>
                  <a:srgbClr val="15283F"/>
                </a:solidFill>
              </a:rPr>
              <a:t>Minimal vakolat va vazifalarni ajratish</a:t>
            </a:r>
          </a:p>
        </p:txBody>
      </p:sp>
      <p:sp>
        <p:nvSpPr>
          <p:cNvPr id="3" name="">
            <a:extLst xmlns:a="http://schemas.openxmlformats.org/drawingml/2006/main">
              <a:ext uri="{FF2B5EF4-FFF2-40B4-BE49-F238E27FC236}">
                <a16:creationId xmlns:a16="http://schemas.microsoft.com/office/drawing/2014/main" id="{5C52D10A-A57A-4F47-8208-77DADE9287AD}"/>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76C82"/>
                </a:solidFill>
              </a:defRPr>
            </a:defPPr>
          </a:lstStyle>
          <a:p xmlns:a="http://schemas.openxmlformats.org/drawingml/2006/main">
            <a:pPr>
              <a:buNone/>
              <a:defRPr sz="1725" b="0">
                <a:solidFill>
                  <a:srgbClr val="576C82"/>
                </a:solidFill>
              </a:defRPr>
            </a:pPr>
            <a:r>
              <a:rPr sz="1725" b="0">
                <a:solidFill>
                  <a:srgbClr val="576C82"/>
                </a:solidFill>
              </a:rPr>
              <a:t>Least Privilege — vazifa uchun zarur eng kam huquq. SoD — Separation of Duties.</a:t>
            </a:r>
          </a:p>
        </p:txBody>
      </p:sp>
      <p:sp>
        <p:nvSpPr>
          <p:cNvPr id="4" name="">
            <a:extLst xmlns:a="http://schemas.openxmlformats.org/drawingml/2006/main">
              <a:ext uri="{FF2B5EF4-FFF2-40B4-BE49-F238E27FC236}">
                <a16:creationId xmlns:a16="http://schemas.microsoft.com/office/drawing/2014/main" id="{2CBB0223-9E22-47F0-80D5-72DD65CBB5C8}"/>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76C82"/>
                </a:solidFill>
              </a:defRPr>
            </a:defPPr>
          </a:lstStyle>
          <a:p xmlns:a="http://schemas.openxmlformats.org/drawingml/2006/main">
            <a:pPr>
              <a:buNone/>
              <a:defRPr sz="975" b="0">
                <a:solidFill>
                  <a:srgbClr val="576C82"/>
                </a:solidFill>
              </a:defRPr>
            </a:pPr>
            <a:r>
              <a:rPr sz="975" b="0">
                <a:solidFill>
                  <a:srgbClr val="576C82"/>
                </a:solidFill>
              </a:rPr>
              <a:t>Manba: [1] NIST SP 800-53 Rev. 5 / [8] OWASP Cheat Sheet Series</a:t>
            </a:r>
          </a:p>
        </p:txBody>
      </p:sp>
      <p:sp>
        <p:nvSpPr>
          <p:cNvPr id="5" name="">
            <a:extLst xmlns:a="http://schemas.openxmlformats.org/drawingml/2006/main">
              <a:ext uri="{FF2B5EF4-FFF2-40B4-BE49-F238E27FC236}">
                <a16:creationId xmlns:a16="http://schemas.microsoft.com/office/drawing/2014/main" id="{2475ED00-4945-4167-AEE0-B627E1FA9510}"/>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09 / 25</a:t>
            </a:r>
          </a:p>
        </p:txBody>
      </p:sp>
      <p:sp>
        <p:nvSpPr>
          <p:cNvPr id="6" name="">
            <a:extLst xmlns:a="http://schemas.openxmlformats.org/drawingml/2006/main">
              <a:ext uri="{FF2B5EF4-FFF2-40B4-BE49-F238E27FC236}">
                <a16:creationId xmlns:a16="http://schemas.microsoft.com/office/drawing/2014/main" id="{C4DA34C4-2F00-43D4-ACE2-D1A0019886E1}"/>
              </a:ext>
            </a:extLst>
          </p:cNvPr>
          <p:cNvSpPr>
            <a:spLocks xmlns:a="http://schemas.openxmlformats.org/drawingml/2006/main" noGrp="1"/>
          </p:cNvSpPr>
          <p:nvPr/>
        </p:nvSpPr>
        <p:spPr>
          <a:xfrm xmlns:a="http://schemas.openxmlformats.org/drawingml/2006/main">
            <a:off x="514350" y="2057400"/>
            <a:ext cx="5286375" cy="3200400"/>
          </a:xfrm>
          <a:prstGeom xmlns:a="http://schemas.openxmlformats.org/drawingml/2006/main" prst="roundRect">
            <a:avLst>
              <a:gd name="adj" fmla="val 3571"/>
            </a:avLst>
          </a:prstGeom>
          <a:solidFill xmlns:a="http://schemas.openxmlformats.org/drawingml/2006/main">
            <a:srgbClr val="FCE4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5B736C-323B-4B07-8C37-91688A0410D1}"/>
              </a:ext>
            </a:extLst>
          </p:cNvPr>
          <p:cNvSpPr>
            <a:spLocks xmlns:a="http://schemas.openxmlformats.org/drawingml/2006/main" noGrp="1"/>
          </p:cNvSpPr>
          <p:nvPr/>
        </p:nvSpPr>
        <p:spPr>
          <a:xfrm xmlns:a="http://schemas.openxmlformats.org/drawingml/2006/main">
            <a:off x="723900" y="2247900"/>
            <a:ext cx="4867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B83B47"/>
                </a:solidFill>
              </a:defRPr>
            </a:defPPr>
          </a:lstStyle>
          <a:p xmlns:a="http://schemas.openxmlformats.org/drawingml/2006/main">
            <a:pPr>
              <a:buNone/>
              <a:defRPr sz="2100" b="1">
                <a:solidFill>
                  <a:srgbClr val="B83B47"/>
                </a:solidFill>
              </a:defRPr>
            </a:pPr>
            <a:r>
              <a:rPr sz="2100" b="1">
                <a:solidFill>
                  <a:srgbClr val="B83B47"/>
                </a:solidFill>
              </a:rPr>
              <a:t>ORTIQCHA HUQUQ</a:t>
            </a:r>
          </a:p>
        </p:txBody>
      </p:sp>
      <p:sp>
        <p:nvSpPr>
          <p:cNvPr id="8" name="">
            <a:extLst xmlns:a="http://schemas.openxmlformats.org/drawingml/2006/main">
              <a:ext uri="{FF2B5EF4-FFF2-40B4-BE49-F238E27FC236}">
                <a16:creationId xmlns:a16="http://schemas.microsoft.com/office/drawing/2014/main" id="{65429D56-6C49-492D-8557-D47F12EF3B11}"/>
              </a:ext>
            </a:extLst>
          </p:cNvPr>
          <p:cNvSpPr>
            <a:spLocks xmlns:a="http://schemas.openxmlformats.org/drawingml/2006/main" noGrp="1"/>
          </p:cNvSpPr>
          <p:nvPr/>
        </p:nvSpPr>
        <p:spPr>
          <a:xfrm xmlns:a="http://schemas.openxmlformats.org/drawingml/2006/main">
            <a:off x="723900" y="2990850"/>
            <a:ext cx="4867275"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E3047"/>
                </a:solidFill>
                <a:latin typeface="Aptos"/>
                <a:ea typeface="Aptos"/>
                <a:cs typeface="Aptos"/>
              </a:defRPr>
            </a:defPPr>
          </a:lstStyle>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Administrator barcha kompaniyalarning PC’larini ko‘radi.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Boshqa tashkilot qurilmasini ham o‘zgartira oladi.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Bitta xato bir nechta mijozga ta’sir qiladi.</a:t>
            </a:r>
          </a:p>
        </p:txBody>
      </p:sp>
      <p:sp>
        <p:nvSpPr>
          <p:cNvPr id="9" name="">
            <a:extLst xmlns:a="http://schemas.openxmlformats.org/drawingml/2006/main">
              <a:ext uri="{FF2B5EF4-FFF2-40B4-BE49-F238E27FC236}">
                <a16:creationId xmlns:a16="http://schemas.microsoft.com/office/drawing/2014/main" id="{971A55B5-E213-4739-B898-0A96F40794A8}"/>
              </a:ext>
            </a:extLst>
          </p:cNvPr>
          <p:cNvSpPr>
            <a:spLocks xmlns:a="http://schemas.openxmlformats.org/drawingml/2006/main" noGrp="1"/>
          </p:cNvSpPr>
          <p:nvPr/>
        </p:nvSpPr>
        <p:spPr>
          <a:xfrm xmlns:a="http://schemas.openxmlformats.org/drawingml/2006/main">
            <a:off x="6391275" y="2057400"/>
            <a:ext cx="5286375" cy="3200400"/>
          </a:xfrm>
          <a:prstGeom xmlns:a="http://schemas.openxmlformats.org/drawingml/2006/main" prst="roundRect">
            <a:avLst>
              <a:gd name="adj" fmla="val 3571"/>
            </a:avLst>
          </a:prstGeom>
          <a:solidFill xmlns:a="http://schemas.openxmlformats.org/drawingml/2006/main">
            <a:srgbClr val="DDF5E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72016E-9093-4E82-9D21-BA05C786C968}"/>
              </a:ext>
            </a:extLst>
          </p:cNvPr>
          <p:cNvSpPr>
            <a:spLocks xmlns:a="http://schemas.openxmlformats.org/drawingml/2006/main" noGrp="1"/>
          </p:cNvSpPr>
          <p:nvPr/>
        </p:nvSpPr>
        <p:spPr>
          <a:xfrm xmlns:a="http://schemas.openxmlformats.org/drawingml/2006/main">
            <a:off x="6600825" y="2247900"/>
            <a:ext cx="48672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F79"/>
                </a:solidFill>
              </a:defRPr>
            </a:defPPr>
          </a:lstStyle>
          <a:p xmlns:a="http://schemas.openxmlformats.org/drawingml/2006/main">
            <a:pPr>
              <a:buNone/>
              <a:defRPr sz="2100" b="1">
                <a:solidFill>
                  <a:srgbClr val="007F79"/>
                </a:solidFill>
              </a:defRPr>
            </a:pPr>
            <a:r>
              <a:rPr sz="2100" b="1">
                <a:solidFill>
                  <a:srgbClr val="007F79"/>
                </a:solidFill>
              </a:rPr>
              <a:t>CHEGARALANGAN HUQUQ</a:t>
            </a:r>
          </a:p>
        </p:txBody>
      </p:sp>
      <p:sp>
        <p:nvSpPr>
          <p:cNvPr id="11" name="">
            <a:extLst xmlns:a="http://schemas.openxmlformats.org/drawingml/2006/main">
              <a:ext uri="{FF2B5EF4-FFF2-40B4-BE49-F238E27FC236}">
                <a16:creationId xmlns:a16="http://schemas.microsoft.com/office/drawing/2014/main" id="{97F065A6-0094-4C3B-9D60-00EFE0285B78}"/>
              </a:ext>
            </a:extLst>
          </p:cNvPr>
          <p:cNvSpPr>
            <a:spLocks xmlns:a="http://schemas.openxmlformats.org/drawingml/2006/main" noGrp="1"/>
          </p:cNvSpPr>
          <p:nvPr/>
        </p:nvSpPr>
        <p:spPr>
          <a:xfrm xmlns:a="http://schemas.openxmlformats.org/drawingml/2006/main">
            <a:off x="6600825" y="2990850"/>
            <a:ext cx="4867275"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75" b="0">
                <a:solidFill>
                  <a:srgbClr val="1E3047"/>
                </a:solidFill>
                <a:latin typeface="Aptos"/>
                <a:ea typeface="Aptos"/>
                <a:cs typeface="Aptos"/>
              </a:defRPr>
            </a:defPPr>
          </a:lstStyle>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Administrator o‘z tashkiloti doirasida ishlaydi.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Server tashkilot va rol chegarasini har so‘rovda tekshiradi.</a:t>
            </a:r>
          </a:p>
          <a:p xmlns:a="http://schemas.openxmlformats.org/drawingml/2006/main">
            <a:r>
              <a:t/>
            </a:r>
          </a:p>
          <a:p xmlns:a="http://schemas.openxmlformats.org/drawingml/2006/main">
            <a:pPr algn="l">
              <a:buNone/>
              <a:defRPr sz="1875" b="0">
                <a:solidFill>
                  <a:srgbClr val="1E3047"/>
                </a:solidFill>
                <a:latin typeface="Aptos"/>
                <a:ea typeface="Aptos"/>
                <a:cs typeface="Aptos"/>
              </a:defRPr>
            </a:pPr>
            <a:r>
              <a:rPr sz="1875" b="0">
                <a:solidFill>
                  <a:srgbClr val="1E3047"/>
                </a:solidFill>
                <a:latin typeface="Aptos"/>
                <a:ea typeface="Aptos"/>
                <a:cs typeface="Aptos"/>
              </a:rPr>
              <a:t>Aktivatsiya va bekor qilish auditda qayd etiladi.</a:t>
            </a:r>
          </a:p>
        </p:txBody>
      </p:sp>
      <p:sp>
        <p:nvSpPr>
          <p:cNvPr id="12" name="">
            <a:extLst xmlns:a="http://schemas.openxmlformats.org/drawingml/2006/main">
              <a:ext uri="{FF2B5EF4-FFF2-40B4-BE49-F238E27FC236}">
                <a16:creationId xmlns:a16="http://schemas.microsoft.com/office/drawing/2014/main" id="{96572A42-23B4-4C9B-BCF0-8C6586A2158E}"/>
              </a:ext>
            </a:extLst>
          </p:cNvPr>
          <p:cNvSpPr>
            <a:spLocks xmlns:a="http://schemas.openxmlformats.org/drawingml/2006/main" noGrp="1"/>
          </p:cNvSpPr>
          <p:nvPr/>
        </p:nvSpPr>
        <p:spPr>
          <a:xfrm xmlns:a="http://schemas.openxmlformats.org/drawingml/2006/main">
            <a:off x="514350" y="5743575"/>
            <a:ext cx="11163300" cy="504825"/>
          </a:xfrm>
          <a:prstGeom xmlns:a="http://schemas.openxmlformats.org/drawingml/2006/main" prst="roundRect">
            <a:avLst>
              <a:gd name="adj" fmla="val 22642"/>
            </a:avLst>
          </a:prstGeom>
          <a:solidFill xmlns:a="http://schemas.openxmlformats.org/drawingml/2006/main">
            <a:srgbClr val="15283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0A9A133-3D75-4799-864C-56D1D9965D74}"/>
              </a:ext>
            </a:extLst>
          </p:cNvPr>
          <p:cNvSpPr>
            <a:spLocks xmlns:a="http://schemas.openxmlformats.org/drawingml/2006/main" noGrp="1"/>
          </p:cNvSpPr>
          <p:nvPr/>
        </p:nvSpPr>
        <p:spPr>
          <a:xfrm xmlns:a="http://schemas.openxmlformats.org/drawingml/2006/main">
            <a:off x="704850" y="5857875"/>
            <a:ext cx="10782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FFFFFF"/>
                </a:solidFill>
              </a:defRPr>
            </a:defPPr>
          </a:lstStyle>
          <a:p xmlns:a="http://schemas.openxmlformats.org/drawingml/2006/main">
            <a:pPr>
              <a:buNone/>
              <a:defRPr sz="1725" b="1">
                <a:solidFill>
                  <a:srgbClr val="FFFFFF"/>
                </a:solidFill>
              </a:defRPr>
            </a:pPr>
            <a:r>
              <a:rPr sz="1725" b="1">
                <a:solidFill>
                  <a:srgbClr val="FFFFFF"/>
                </a:solidFill>
              </a:rPr>
              <a:t>Deny by Default: aniq ruxsat berilmagan so‘rov sukut bo‘yicha rad etiladi.</a:t>
            </a:r>
          </a:p>
        </p:txBody>
      </p:sp>
    </p:spTree>
    <p:extLst>
      <p:ext uri="{BB962C8B-B14F-4D97-AF65-F5344CB8AC3E}">
        <p14:creationId xmlns:p14="http://schemas.microsoft.com/office/powerpoint/2010/main" val="1723994437"/>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C3426F-6F90-4532-99AF-5AA9D60BA671}"/>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4E0253-C4DA-4D40-A62C-BB40D1C17460}"/>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15283F"/>
                </a:solidFill>
              </a:defRPr>
            </a:defPPr>
          </a:lstStyle>
          <a:p xmlns:a="http://schemas.openxmlformats.org/drawingml/2006/main">
            <a:pPr>
              <a:buNone/>
              <a:defRPr sz="3000" b="1">
                <a:solidFill>
                  <a:srgbClr val="15283F"/>
                </a:solidFill>
              </a:defRPr>
            </a:pPr>
            <a:r>
              <a:rPr sz="3000" b="1">
                <a:solidFill>
                  <a:srgbClr val="15283F"/>
                </a:solidFill>
              </a:rPr>
              <a:t>Ruxsat modellari: qarorni nima belgilaydi?</a:t>
            </a:r>
          </a:p>
        </p:txBody>
      </p:sp>
      <p:sp>
        <p:nvSpPr>
          <p:cNvPr id="3" name="">
            <a:extLst xmlns:a="http://schemas.openxmlformats.org/drawingml/2006/main">
              <a:ext uri="{FF2B5EF4-FFF2-40B4-BE49-F238E27FC236}">
                <a16:creationId xmlns:a16="http://schemas.microsoft.com/office/drawing/2014/main" id="{C2943E39-4A73-43F1-9C6F-EE18F03BBE3C}"/>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Loyihada tashkilot va rol bo‘yicha tekshiruvlar ishlatiladi. ABAC umumiy model sifatida keltirilgan.</a:t>
            </a:r>
          </a:p>
        </p:txBody>
      </p:sp>
      <p:sp>
        <p:nvSpPr>
          <p:cNvPr id="4" name="">
            <a:extLst xmlns:a="http://schemas.openxmlformats.org/drawingml/2006/main">
              <a:ext uri="{FF2B5EF4-FFF2-40B4-BE49-F238E27FC236}">
                <a16:creationId xmlns:a16="http://schemas.microsoft.com/office/drawing/2014/main" id="{166B7A06-8BB0-4925-8426-F92CF6A9C6F6}"/>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75" b="0">
                <a:solidFill>
                  <a:srgbClr val="576C82"/>
                </a:solidFill>
              </a:defRPr>
            </a:defPPr>
          </a:lstStyle>
          <a:p xmlns:a="http://schemas.openxmlformats.org/drawingml/2006/main">
            <a:pPr>
              <a:buNone/>
              <a:defRPr sz="975" b="0">
                <a:solidFill>
                  <a:srgbClr val="576C82"/>
                </a:solidFill>
              </a:defRPr>
            </a:pPr>
            <a:r>
              <a:rPr sz="975" b="0">
                <a:solidFill>
                  <a:srgbClr val="576C82"/>
                </a:solidFill>
              </a:rPr>
              <a:t>Manba: [7] NIST SP 800-162</a:t>
            </a:r>
          </a:p>
        </p:txBody>
      </p:sp>
      <p:sp>
        <p:nvSpPr>
          <p:cNvPr id="5" name="">
            <a:extLst xmlns:a="http://schemas.openxmlformats.org/drawingml/2006/main">
              <a:ext uri="{FF2B5EF4-FFF2-40B4-BE49-F238E27FC236}">
                <a16:creationId xmlns:a16="http://schemas.microsoft.com/office/drawing/2014/main" id="{EAB3AA3F-FE47-4E52-9871-D38EC202B741}"/>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10 / 25</a:t>
            </a:r>
          </a:p>
        </p:txBody>
      </p:sp>
      <p:graphicFrame>
        <p:nvGraphicFramePr>
          <p:cNvPr id="6" name="">
            <a:extLst xmlns:a="http://schemas.openxmlformats.org/drawingml/2006/main">
              <a:ext uri="{FF2B5EF4-FFF2-40B4-BE49-F238E27FC236}">
                <a16:creationId xmlns:a16="http://schemas.microsoft.com/office/drawing/2014/main" id="{26CF4682-E19A-41D3-97AB-3B8751ACF979}"/>
              </a:ext>
            </a:extLst>
          </p:cNvPr>
          <p:cNvGraphicFramePr/>
          <p:nvPr/>
        </p:nvGraphicFramePr>
        <p:xfrm>
          <a:off xmlns:a="http://schemas.openxmlformats.org/drawingml/2006/main" x="514350" y="1990725"/>
          <a:ext xmlns:a="http://schemas.openxmlformats.org/drawingml/2006/main" cx="11163300" cy="4000500"/>
        </p:xfrm>
        <a:graphic xmlns:a="http://schemas.openxmlformats.org/drawingml/2006/main">
          <a:graphicData uri="http://schemas.openxmlformats.org/drawingml/2006/table">
            <a:tbl>
              <a:tblPr/>
              <a:tblGrid>
                <a:gridCol w="4048125"/>
                <a:gridCol w="2781300"/>
                <a:gridCol w="4333875"/>
              </a:tblGrid>
              <a:tr h="800100">
                <a:tc>
                  <a:txBody>
                    <a:bodyPr lIns="114300" tIns="114300" rIns="114300" bIns="114300"/>
                    <a:lstStyle/>
                    <a:p>
                      <a:r>
                        <a:rPr sz="1650" b="1">
                          <a:solidFill>
                            <a:srgbClr val="FFFFFF"/>
                          </a:solidFill>
                        </a:rPr>
                        <a:t>Model va yoyilmasi</a:t>
                      </a:r>
                    </a:p>
                  </a:txBody>
                  <a:tcPr marL="91440" marR="91440" marT="45720" marB="4572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650" b="1">
                          <a:solidFill>
                            <a:srgbClr val="FFFFFF"/>
                          </a:solidFill>
                        </a:rPr>
                        <a:t>Qaror asosi</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lIns="114300" tIns="114300" rIns="114300" bIns="114300"/>
                    <a:lstStyle/>
                    <a:p>
                      <a:r>
                        <a:rPr sz="1650" b="1">
                          <a:solidFill>
                            <a:srgbClr val="FFFFFF"/>
                          </a:solidFill>
                        </a:rPr>
                        <a:t>Afzallik / ehtiyot jihati</a:t>
                      </a:r>
                    </a:p>
                  </a:txBody>
                  <a:tcPr marL="91440" marR="91440" marT="45720" marB="4572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800100">
                <a:tc>
                  <a:txBody>
                    <a:bodyPr lIns="114300" tIns="114300" rIns="114300" bIns="114300"/>
                    <a:lstStyle/>
                    <a:p>
                      <a:r>
                        <a:rPr sz="1650" b="0">
                          <a:solidFill>
                            <a:srgbClr val="1E3047"/>
                          </a:solidFill>
                        </a:rPr>
                        <a:t>DAC</a:t>
                      </a:r>
                    </a:p>
                    <a:p>
                      <a:r>
                        <a:rPr sz="1650" b="0">
                          <a:solidFill>
                            <a:srgbClr val="1E3047"/>
                          </a:solidFill>
                        </a:rPr>
                        <a:t>Discretionary Access Control</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650" b="0">
                          <a:solidFill>
                            <a:srgbClr val="1E3047"/>
                          </a:solidFill>
                        </a:rPr>
                        <a:t>Resurs egasining qarori</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650" b="0">
                          <a:solidFill>
                            <a:srgbClr val="1E3047"/>
                          </a:solidFill>
                        </a:rPr>
                        <a:t>Ulashish qulay.</a:t>
                      </a:r>
                    </a:p>
                    <a:p>
                      <a:r>
                        <a:rPr sz="1650" b="0">
                          <a:solidFill>
                            <a:srgbClr val="1E3047"/>
                          </a:solidFill>
                        </a:rPr>
                        <a:t>Ortiqcha ruxsat berilishi mumkin.</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800100">
                <a:tc>
                  <a:txBody>
                    <a:bodyPr lIns="114300" tIns="114300" rIns="114300" bIns="114300"/>
                    <a:lstStyle/>
                    <a:p>
                      <a:r>
                        <a:rPr sz="1650" b="0">
                          <a:solidFill>
                            <a:srgbClr val="1E3047"/>
                          </a:solidFill>
                        </a:rPr>
                        <a:t>MAC</a:t>
                      </a:r>
                    </a:p>
                    <a:p>
                      <a:r>
                        <a:rPr sz="1650" b="0">
                          <a:solidFill>
                            <a:srgbClr val="1E3047"/>
                          </a:solidFill>
                        </a:rPr>
                        <a:t>Mandatory Access Control</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650" b="0">
                          <a:solidFill>
                            <a:srgbClr val="1E3047"/>
                          </a:solidFill>
                        </a:rPr>
                        <a:t>Markaziy qoida va</a:t>
                      </a:r>
                    </a:p>
                    <a:p>
                      <a:r>
                        <a:rPr sz="1650" b="0">
                          <a:solidFill>
                            <a:srgbClr val="1E3047"/>
                          </a:solidFill>
                        </a:rPr>
                        <a:t>xavfsizlik belgilari</a:t>
                      </a:r>
                    </a:p>
                  </a:txBody>
                  <a:tcPr marL="91440" marR="91440" marT="45720" marB="45720" anchor="ctr">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650" b="0">
                          <a:solidFill>
                            <a:srgbClr val="1E3047"/>
                          </a:solidFill>
                        </a:rPr>
                        <a:t>Qat’iy nazorat. Oddiy foydalanuvchi</a:t>
                      </a:r>
                    </a:p>
                    <a:p>
                      <a:r>
                        <a:rPr sz="1650" b="0">
                          <a:solidFill>
                            <a:srgbClr val="1E3047"/>
                          </a:solidFill>
                        </a:rPr>
                        <a:t>qoidani o‘zgartirmaydi.</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r h="800100">
                <a:tc>
                  <a:txBody>
                    <a:bodyPr lIns="114300" tIns="114300" rIns="114300" bIns="114300"/>
                    <a:lstStyle/>
                    <a:p>
                      <a:r>
                        <a:rPr sz="1650" b="0">
                          <a:solidFill>
                            <a:srgbClr val="1E3047"/>
                          </a:solidFill>
                        </a:rPr>
                        <a:t>RBAC</a:t>
                      </a:r>
                    </a:p>
                    <a:p>
                      <a:r>
                        <a:rPr sz="1650" b="0">
                          <a:solidFill>
                            <a:srgbClr val="1E3047"/>
                          </a:solidFill>
                        </a:rPr>
                        <a:t>Role-Based Access Control</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650" b="0">
                          <a:solidFill>
                            <a:srgbClr val="1E3047"/>
                          </a:solidFill>
                        </a:rPr>
                        <a:t>Vazifaga mos rol</a:t>
                      </a:r>
                    </a:p>
                  </a:txBody>
                  <a:tcPr marL="91440" marR="91440" marT="45720" marB="45720" anchor="ctr">
                    <a:lnR w="9525">
                      <a:solidFill>
                        <a:srgbClr val="D9E2EC"/>
                      </a:solidFill>
                      <a:prstDash val="solid"/>
                    </a:lnR>
                    <a:lnB w="9525">
                      <a:solidFill>
                        <a:srgbClr val="D9E2EC"/>
                      </a:solidFill>
                      <a:prstDash val="solid"/>
                    </a:lnB>
                    <a:solidFill>
                      <a:srgbClr val="FFFFFF"/>
                    </a:solidFill>
                  </a:tcPr>
                </a:tc>
                <a:tc>
                  <a:txBody>
                    <a:bodyPr lIns="114300" tIns="114300" rIns="114300" bIns="114300"/>
                    <a:lstStyle/>
                    <a:p>
                      <a:r>
                        <a:rPr sz="1650" b="0">
                          <a:solidFill>
                            <a:srgbClr val="1E3047"/>
                          </a:solidFill>
                        </a:rPr>
                        <a:t>Boshqarish sodda.</a:t>
                      </a:r>
                    </a:p>
                    <a:p>
                      <a:r>
                        <a:rPr sz="1650" b="0">
                          <a:solidFill>
                            <a:srgbClr val="1E3047"/>
                          </a:solidFill>
                        </a:rPr>
                        <a:t>Eski rollar yig‘ilib qolishi mumkin.</a:t>
                      </a:r>
                    </a:p>
                  </a:txBody>
                  <a:tcPr marL="91440" marR="91440" marT="45720" marB="45720" anchor="ctr">
                    <a:lnR w="9525">
                      <a:solidFill>
                        <a:srgbClr val="D9E2EC"/>
                      </a:solidFill>
                      <a:prstDash val="solid"/>
                    </a:lnR>
                    <a:lnB w="9525">
                      <a:solidFill>
                        <a:srgbClr val="D9E2EC"/>
                      </a:solidFill>
                      <a:prstDash val="solid"/>
                    </a:lnB>
                    <a:solidFill>
                      <a:srgbClr val="FFFFFF"/>
                    </a:solidFill>
                  </a:tcPr>
                </a:tc>
              </a:tr>
              <a:tr h="800100">
                <a:tc>
                  <a:txBody>
                    <a:bodyPr lIns="114300" tIns="114300" rIns="114300" bIns="114300"/>
                    <a:lstStyle/>
                    <a:p>
                      <a:r>
                        <a:rPr sz="1650" b="0">
                          <a:solidFill>
                            <a:srgbClr val="1E3047"/>
                          </a:solidFill>
                        </a:rPr>
                        <a:t>ABAC</a:t>
                      </a:r>
                    </a:p>
                    <a:p>
                      <a:r>
                        <a:rPr sz="1650" b="0">
                          <a:solidFill>
                            <a:srgbClr val="1E3047"/>
                          </a:solidFill>
                        </a:rPr>
                        <a:t>Attribute-Based Access Control</a:t>
                      </a:r>
                    </a:p>
                  </a:txBody>
                  <a:tcPr marL="91440" marR="91440" marT="45720" marB="45720" anchor="ctr">
                    <a:lnL w="9525">
                      <a:solidFill>
                        <a:srgbClr val="D9E2EC"/>
                      </a:solidFill>
                      <a:prstDash val="solid"/>
                    </a:lnL>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650" b="0">
                          <a:solidFill>
                            <a:srgbClr val="1E3047"/>
                          </a:solidFill>
                        </a:rPr>
                        <a:t>Shaxs, resurs, amal</a:t>
                      </a:r>
                    </a:p>
                    <a:p>
                      <a:r>
                        <a:rPr sz="1650" b="0">
                          <a:solidFill>
                            <a:srgbClr val="1E3047"/>
                          </a:solidFill>
                        </a:rPr>
                        <a:t>va muhit atributlari</a:t>
                      </a:r>
                    </a:p>
                  </a:txBody>
                  <a:tcPr marL="91440" marR="91440" marT="45720" marB="45720" anchor="ctr">
                    <a:lnR w="9525">
                      <a:solidFill>
                        <a:srgbClr val="D9E2EC"/>
                      </a:solidFill>
                      <a:prstDash val="solid"/>
                    </a:lnR>
                    <a:lnB w="9525">
                      <a:solidFill>
                        <a:srgbClr val="D9E2EC"/>
                      </a:solidFill>
                      <a:prstDash val="solid"/>
                    </a:lnB>
                    <a:solidFill>
                      <a:srgbClr val="EDF3F8"/>
                    </a:solidFill>
                  </a:tcPr>
                </a:tc>
                <a:tc>
                  <a:txBody>
                    <a:bodyPr lIns="114300" tIns="114300" rIns="114300" bIns="114300"/>
                    <a:lstStyle/>
                    <a:p>
                      <a:r>
                        <a:rPr sz="1650" b="0">
                          <a:solidFill>
                            <a:srgbClr val="1E3047"/>
                          </a:solidFill>
                        </a:rPr>
                        <a:t>Aniq shartlar. Atributlarning</a:t>
                      </a:r>
                    </a:p>
                    <a:p>
                      <a:r>
                        <a:rPr sz="1650" b="0">
                          <a:solidFill>
                            <a:srgbClr val="1E3047"/>
                          </a:solidFill>
                        </a:rPr>
                        <a:t>ishonchliligi zarur.</a:t>
                      </a:r>
                    </a:p>
                  </a:txBody>
                  <a:tcPr marL="91440" marR="91440" marT="45720" marB="45720" anchor="ctr">
                    <a:lnR w="9525">
                      <a:solidFill>
                        <a:srgbClr val="D9E2EC"/>
                      </a:solidFill>
                      <a:prstDash val="solid"/>
                    </a:lnR>
                    <a:lnB w="9525">
                      <a:solidFill>
                        <a:srgbClr val="D9E2EC"/>
                      </a:solidFill>
                      <a:prstDash val="solid"/>
                    </a:lnB>
                    <a:solidFill>
                      <a:srgbClr val="EDF3F8"/>
                    </a:solidFill>
                  </a:tcPr>
                </a:tc>
              </a:tr>
            </a:tbl>
          </a:graphicData>
        </a:graphic>
      </p:graphicFrame>
    </p:spTree>
    <p:extLst>
      <p:ext uri="{BB962C8B-B14F-4D97-AF65-F5344CB8AC3E}">
        <p14:creationId xmlns:p14="http://schemas.microsoft.com/office/powerpoint/2010/main" val="652817457"/>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DC5C86-E788-4174-A410-F5F2F5DADD82}"/>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05D97F-5C7E-4E64-8172-82083DA89701}"/>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Ma’lumotlar va tashkilot chegarasi</a:t>
            </a:r>
          </a:p>
        </p:txBody>
      </p:sp>
      <p:sp>
        <p:nvSpPr>
          <p:cNvPr id="3" name="">
            <a:extLst xmlns:a="http://schemas.openxmlformats.org/drawingml/2006/main">
              <a:ext uri="{FF2B5EF4-FFF2-40B4-BE49-F238E27FC236}">
                <a16:creationId xmlns:a16="http://schemas.microsoft.com/office/drawing/2014/main" id="{C6D9CF11-7CC0-402A-8D0B-18DF18BCF50E}"/>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Har bir kompaniyaning foydalanuvchi va PC yozuvlari tegishli tashkilotga bog‘langan.</a:t>
            </a:r>
          </a:p>
        </p:txBody>
      </p:sp>
      <p:sp>
        <p:nvSpPr>
          <p:cNvPr id="4" name="">
            <a:extLst xmlns:a="http://schemas.openxmlformats.org/drawingml/2006/main">
              <a:ext uri="{FF2B5EF4-FFF2-40B4-BE49-F238E27FC236}">
                <a16:creationId xmlns:a16="http://schemas.microsoft.com/office/drawing/2014/main" id="{BA26FD2D-CD12-4584-8853-8DC2C5D57BA1}"/>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38DBA1C5-71B9-4C5C-B31B-1DFD0F1F8EE3}"/>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11 / 25</a:t>
            </a:r>
          </a:p>
        </p:txBody>
      </p:sp>
      <p:graphicFrame>
        <p:nvGraphicFramePr>
          <p:cNvPr id="10" name="">
            <a:extLst xmlns:a="http://schemas.openxmlformats.org/drawingml/2006/main">
              <a:ext uri="{FF2B5EF4-FFF2-40B4-BE49-F238E27FC236}">
                <a16:creationId xmlns:a16="http://schemas.microsoft.com/office/drawing/2014/main" id="{906F750F-0F21-4333-ABCC-00575D55DAAE}"/>
              </a:ext>
            </a:extLst>
          </p:cNvPr>
          <p:cNvGraphicFramePr/>
          <p:nvPr/>
        </p:nvGraphicFramePr>
        <p:xfrm>
          <a:off xmlns:a="http://schemas.openxmlformats.org/drawingml/2006/main" x="514350" y="2105025"/>
          <a:ext xmlns:a="http://schemas.openxmlformats.org/drawingml/2006/main" cx="11163300" cy="3333750"/>
        </p:xfrm>
        <a:graphic xmlns:a="http://schemas.openxmlformats.org/drawingml/2006/main">
          <a:graphicData uri="http://schemas.openxmlformats.org/drawingml/2006/table">
            <a:tbl>
              <a:tblPr/>
              <a:tblGrid>
                <a:gridCol w="2476500"/>
                <a:gridCol w="4686300"/>
                <a:gridCol w="4000500"/>
              </a:tblGrid>
              <a:tr h="666750">
                <a:tc>
                  <a:txBody>
                    <a:bodyPr/>
                    <a:lstStyle/>
                    <a:p>
                      <a:r>
                        <a:rPr sz="1650" b="1">
                          <a:solidFill>
                            <a:srgbClr val="FFFFFF"/>
                          </a:solidFill>
                          <a:latin typeface="Aptos"/>
                          <a:ea typeface="Aptos"/>
                          <a:cs typeface="Aptos"/>
                        </a:rPr>
                        <a:t>Model</a:t>
                      </a:r>
                    </a:p>
                  </a:txBody>
                  <a:tcPr marL="114300" marR="114300" marT="76200" marB="7620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Vazifasi</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Bog‘lanish</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666750">
                <a:tc>
                  <a:txBody>
                    <a:bodyPr/>
                    <a:lstStyle/>
                    <a:p>
                      <a:r>
                        <a:rPr sz="1725" b="0">
                          <a:solidFill>
                            <a:srgbClr val="1E3047"/>
                          </a:solidFill>
                          <a:latin typeface="Aptos"/>
                          <a:ea typeface="Aptos"/>
                          <a:cs typeface="Aptos"/>
                        </a:rPr>
                        <a:t>Organization</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Kompaniya va uning holati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Asosiy tashkilot doirasi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66750">
                <a:tc>
                  <a:txBody>
                    <a:bodyPr/>
                    <a:lstStyle/>
                    <a:p>
                      <a:r>
                        <a:rPr sz="1725" b="0">
                          <a:solidFill>
                            <a:srgbClr val="1E3047"/>
                          </a:solidFill>
                          <a:latin typeface="Aptos"/>
                          <a:ea typeface="Aptos"/>
                          <a:cs typeface="Aptos"/>
                        </a:rPr>
                        <a:t>Users</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Xodim va uning roli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Organization va Roles</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666750">
                <a:tc>
                  <a:txBody>
                    <a:bodyPr/>
                    <a:lstStyle/>
                    <a:p>
                      <a:r>
                        <a:rPr sz="1725" b="0">
                          <a:solidFill>
                            <a:srgbClr val="1E3047"/>
                          </a:solidFill>
                          <a:latin typeface="Aptos"/>
                          <a:ea typeface="Aptos"/>
                          <a:cs typeface="Aptos"/>
                        </a:rPr>
                        <a:t>Device</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PC, kalit va aktivatsiya holati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Organization</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66750">
                <a:tc>
                  <a:txBody>
                    <a:bodyPr/>
                    <a:lstStyle/>
                    <a:p>
                      <a:r>
                        <a:rPr sz="1725" b="0">
                          <a:solidFill>
                            <a:srgbClr val="1E3047"/>
                          </a:solidFill>
                          <a:latin typeface="Aptos"/>
                          <a:ea typeface="Aptos"/>
                          <a:cs typeface="Aptos"/>
                        </a:rPr>
                        <a:t>AgentSession</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Kirishni tekshirish sessiyasi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Device va Users</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bl>
          </a:graphicData>
        </a:graphic>
      </p:graphicFrame>
      <p:sp>
        <p:nvSpPr>
          <p:cNvPr id="11" name="data-scope">
            <a:extLst xmlns:a="http://schemas.openxmlformats.org/drawingml/2006/main">
              <a:ext uri="{FF2B5EF4-FFF2-40B4-BE49-F238E27FC236}">
                <a16:creationId xmlns:a16="http://schemas.microsoft.com/office/drawing/2014/main" id="{7BAB304A-56A9-4E1D-9769-8E9D2404C6FC}"/>
              </a:ext>
            </a:extLst>
          </p:cNvPr>
          <p:cNvSpPr>
            <a:spLocks xmlns:a="http://schemas.openxmlformats.org/drawingml/2006/main" noGrp="1"/>
          </p:cNvSpPr>
          <p:nvPr/>
        </p:nvSpPr>
        <p:spPr>
          <a:xfrm xmlns:a="http://schemas.openxmlformats.org/drawingml/2006/main">
            <a:off x="514350" y="5753100"/>
            <a:ext cx="111633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007F79"/>
                </a:solidFill>
                <a:latin typeface="Aptos"/>
                <a:ea typeface="Aptos"/>
                <a:cs typeface="Aptos"/>
              </a:defRPr>
            </a:defPPr>
          </a:lstStyle>
          <a:p xmlns:a="http://schemas.openxmlformats.org/drawingml/2006/main">
            <a:pPr>
              <a:defRPr sz="1650" b="0">
                <a:solidFill>
                  <a:srgbClr val="007F79"/>
                </a:solidFill>
                <a:latin typeface="Aptos"/>
                <a:ea typeface="Aptos"/>
                <a:cs typeface="Aptos"/>
              </a:defRPr>
            </a:pPr>
            <a:r>
              <a:rPr sz="1650" b="0">
                <a:solidFill>
                  <a:srgbClr val="007F79"/>
                </a:solidFill>
                <a:latin typeface="Aptos"/>
                <a:ea typeface="Aptos"/>
                <a:cs typeface="Aptos"/>
              </a:rPr>
              <a:t>Filial va tarmoq segmenti uchun alohida model hozircha yo‘q. Joylashuv matn maydonida saqlanadi.</a:t>
            </a:r>
          </a:p>
        </p:txBody>
      </p:sp>
    </p:spTree>
    <p:extLst>
      <p:ext uri="{BB962C8B-B14F-4D97-AF65-F5344CB8AC3E}">
        <p14:creationId xmlns:p14="http://schemas.microsoft.com/office/powerpoint/2010/main" val="260198815"/>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9FC6DF7-9200-4B3A-A9B4-5B8E7C605A9F}"/>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09E4FF-5041-4CCC-B845-5259E3D6492C}"/>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Ishlab chiqilgan tizim komponentlari</a:t>
            </a:r>
          </a:p>
        </p:txBody>
      </p:sp>
      <p:sp>
        <p:nvSpPr>
          <p:cNvPr id="3" name="">
            <a:extLst xmlns:a="http://schemas.openxmlformats.org/drawingml/2006/main">
              <a:ext uri="{FF2B5EF4-FFF2-40B4-BE49-F238E27FC236}">
                <a16:creationId xmlns:a16="http://schemas.microsoft.com/office/drawing/2014/main" id="{3BBDBF7C-89BA-441A-A592-10752CF872D5}"/>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Brauzer interfeysi, markaziy server va lokal Windows agenti birgalikda ishlaydi.</a:t>
            </a:r>
          </a:p>
        </p:txBody>
      </p:sp>
      <p:sp>
        <p:nvSpPr>
          <p:cNvPr id="4" name="">
            <a:extLst xmlns:a="http://schemas.openxmlformats.org/drawingml/2006/main">
              <a:ext uri="{FF2B5EF4-FFF2-40B4-BE49-F238E27FC236}">
                <a16:creationId xmlns:a16="http://schemas.microsoft.com/office/drawing/2014/main" id="{58A44574-13CB-41E4-84F6-61605105A1CC}"/>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7F737BA4-B0CF-44C7-8033-4E8AC47CB02D}"/>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12 / 25</a:t>
            </a:r>
          </a:p>
        </p:txBody>
      </p:sp>
      <p:graphicFrame>
        <p:nvGraphicFramePr>
          <p:cNvPr id="16" name="">
            <a:extLst xmlns:a="http://schemas.openxmlformats.org/drawingml/2006/main">
              <a:ext uri="{FF2B5EF4-FFF2-40B4-BE49-F238E27FC236}">
                <a16:creationId xmlns:a16="http://schemas.microsoft.com/office/drawing/2014/main" id="{5C2F02AD-97D9-4CFB-8272-2295B6EF9E47}"/>
              </a:ext>
            </a:extLst>
          </p:cNvPr>
          <p:cNvGraphicFramePr/>
          <p:nvPr/>
        </p:nvGraphicFramePr>
        <p:xfrm>
          <a:off xmlns:a="http://schemas.openxmlformats.org/drawingml/2006/main" x="514350" y="2105025"/>
          <a:ext xmlns:a="http://schemas.openxmlformats.org/drawingml/2006/main" cx="11163300" cy="3476625"/>
        </p:xfrm>
        <a:graphic xmlns:a="http://schemas.openxmlformats.org/drawingml/2006/main">
          <a:graphicData uri="http://schemas.openxmlformats.org/drawingml/2006/table">
            <a:tbl>
              <a:tblPr/>
              <a:tblGrid>
                <a:gridCol w="2667000"/>
                <a:gridCol w="3238500"/>
                <a:gridCol w="5257800"/>
              </a:tblGrid>
              <a:tr h="579438">
                <a:tc>
                  <a:txBody>
                    <a:bodyPr/>
                    <a:lstStyle/>
                    <a:p>
                      <a:r>
                        <a:rPr sz="1650" b="1">
                          <a:solidFill>
                            <a:srgbClr val="FFFFFF"/>
                          </a:solidFill>
                          <a:latin typeface="Aptos"/>
                          <a:ea typeface="Aptos"/>
                          <a:cs typeface="Aptos"/>
                        </a:rPr>
                        <a:t>Komponent</a:t>
                      </a:r>
                    </a:p>
                  </a:txBody>
                  <a:tcPr marL="114300" marR="114300" marT="76200" marB="7620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Texnologiya</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Asosiy vazifa</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579438">
                <a:tc>
                  <a:txBody>
                    <a:bodyPr/>
                    <a:lstStyle/>
                    <a:p>
                      <a:r>
                        <a:rPr sz="1725" b="0">
                          <a:solidFill>
                            <a:srgbClr val="1E3047"/>
                          </a:solidFill>
                          <a:latin typeface="Aptos"/>
                          <a:ea typeface="Aptos"/>
                          <a:cs typeface="Aptos"/>
                        </a:rPr>
                        <a:t>Veb interfeys</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React 19 va Vite 8</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PC registratsiyasi va boshqaruv</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579438">
                <a:tc>
                  <a:txBody>
                    <a:bodyPr/>
                    <a:lstStyle/>
                    <a:p>
                      <a:r>
                        <a:rPr sz="1725" b="0">
                          <a:solidFill>
                            <a:srgbClr val="1E3047"/>
                          </a:solidFill>
                          <a:latin typeface="Aptos"/>
                          <a:ea typeface="Aptos"/>
                          <a:cs typeface="Aptos"/>
                        </a:rPr>
                        <a:t>Markaziy server</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Django 6 va DRF</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API, tashkilot chegarasi, tasdiq</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579438">
                <a:tc>
                  <a:txBody>
                    <a:bodyPr/>
                    <a:lstStyle/>
                    <a:p>
                      <a:r>
                        <a:rPr sz="1725" b="0">
                          <a:solidFill>
                            <a:srgbClr val="1E3047"/>
                          </a:solidFill>
                          <a:latin typeface="Aptos"/>
                          <a:ea typeface="Aptos"/>
                          <a:cs typeface="Aptos"/>
                        </a:rPr>
                        <a:t>Ma’lumotlar bazasi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SQLite</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Mahalliy prototip ma’lumotlari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579438">
                <a:tc>
                  <a:txBody>
                    <a:bodyPr/>
                    <a:lstStyle/>
                    <a:p>
                      <a:r>
                        <a:rPr sz="1725" b="0">
                          <a:solidFill>
                            <a:srgbClr val="1E3047"/>
                          </a:solidFill>
                          <a:latin typeface="Aptos"/>
                          <a:ea typeface="Aptos"/>
                          <a:cs typeface="Aptos"/>
                        </a:rPr>
                        <a:t>Ro‘yxat yordamchisi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Go</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PC identifikatorlarini olish</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579438">
                <a:tc>
                  <a:txBody>
                    <a:bodyPr/>
                    <a:lstStyle/>
                    <a:p>
                      <a:r>
                        <a:rPr sz="1725" b="0">
                          <a:solidFill>
                            <a:srgbClr val="1E3047"/>
                          </a:solidFill>
                          <a:latin typeface="Aptos"/>
                          <a:ea typeface="Aptos"/>
                          <a:cs typeface="Aptos"/>
                        </a:rPr>
                        <a:t>Windows agent</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Python</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Autentifikatsiya va telemetriya</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bl>
          </a:graphicData>
        </a:graphic>
      </p:graphicFrame>
      <p:sp>
        <p:nvSpPr>
          <p:cNvPr id="17" name="deployment-note">
            <a:extLst xmlns:a="http://schemas.openxmlformats.org/drawingml/2006/main">
              <a:ext uri="{FF2B5EF4-FFF2-40B4-BE49-F238E27FC236}">
                <a16:creationId xmlns:a16="http://schemas.microsoft.com/office/drawing/2014/main" id="{131700C0-082C-4366-A28C-F763A403F9C8}"/>
              </a:ext>
            </a:extLst>
          </p:cNvPr>
          <p:cNvSpPr>
            <a:spLocks xmlns:a="http://schemas.openxmlformats.org/drawingml/2006/main" noGrp="1"/>
          </p:cNvSpPr>
          <p:nvPr/>
        </p:nvSpPr>
        <p:spPr>
          <a:xfrm xmlns:a="http://schemas.openxmlformats.org/drawingml/2006/main">
            <a:off x="514350" y="5781675"/>
            <a:ext cx="11163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007F79"/>
                </a:solidFill>
                <a:latin typeface="Aptos"/>
                <a:ea typeface="Aptos"/>
                <a:cs typeface="Aptos"/>
              </a:defRPr>
            </a:defPPr>
          </a:lstStyle>
          <a:p xmlns:a="http://schemas.openxmlformats.org/drawingml/2006/main">
            <a:pPr>
              <a:defRPr sz="1650" b="0">
                <a:solidFill>
                  <a:srgbClr val="007F79"/>
                </a:solidFill>
                <a:latin typeface="Aptos"/>
                <a:ea typeface="Aptos"/>
                <a:cs typeface="Aptos"/>
              </a:defRPr>
            </a:pPr>
            <a:r>
              <a:rPr sz="1650" b="0">
                <a:solidFill>
                  <a:srgbClr val="007F79"/>
                </a:solidFill>
                <a:latin typeface="Aptos"/>
                <a:ea typeface="Aptos"/>
                <a:cs typeface="Aptos"/>
              </a:rPr>
              <a:t>Ko‘p PC bilan joriy etishda PostgreSQL va uzluksiz fon monitoringi alohida sozlanadi.</a:t>
            </a:r>
          </a:p>
        </p:txBody>
      </p:sp>
    </p:spTree>
    <p:extLst>
      <p:ext uri="{BB962C8B-B14F-4D97-AF65-F5344CB8AC3E}">
        <p14:creationId xmlns:p14="http://schemas.microsoft.com/office/powerpoint/2010/main" val="125215580"/>
      </p:ext>
    </p:extLst>
  </p:cSld>
</p:sld>
</file>

<file path=ppt/slides/slide1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43DCE90-26EF-49FC-9013-DA9D56B08DCF}"/>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144190-6A7C-4DDA-B62B-AB27A6556407}"/>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Turli tarmoqlardagi PC’larni boshqarish</a:t>
            </a:r>
          </a:p>
        </p:txBody>
      </p:sp>
      <p:sp>
        <p:nvSpPr>
          <p:cNvPr id="3" name="">
            <a:extLst xmlns:a="http://schemas.openxmlformats.org/drawingml/2006/main">
              <a:ext uri="{FF2B5EF4-FFF2-40B4-BE49-F238E27FC236}">
                <a16:creationId xmlns:a16="http://schemas.microsoft.com/office/drawing/2014/main" id="{826DCE8F-21B3-440F-9C68-05DEC7450657}"/>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Filial va bo‘lim PC’lari HTTPS orqali bitta markaziy server bilan bog‘lanadi.</a:t>
            </a:r>
          </a:p>
        </p:txBody>
      </p:sp>
      <p:sp>
        <p:nvSpPr>
          <p:cNvPr id="4" name="">
            <a:extLst xmlns:a="http://schemas.openxmlformats.org/drawingml/2006/main">
              <a:ext uri="{FF2B5EF4-FFF2-40B4-BE49-F238E27FC236}">
                <a16:creationId xmlns:a16="http://schemas.microsoft.com/office/drawing/2014/main" id="{071790B0-E5CB-43FC-84CD-84D7ABE681AB}"/>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9E6C9CEF-ADB1-4715-8BAA-7ECB1B4894E4}"/>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13 / 25</a:t>
            </a:r>
          </a:p>
        </p:txBody>
      </p:sp>
      <p:pic>
        <p:nvPicPr>
          <p:cNvPr id="24" name="">
            <a:extLst xmlns:a="http://schemas.openxmlformats.org/drawingml/2006/main">
              <a:ext uri="{FF2B5EF4-FFF2-40B4-BE49-F238E27FC236}">
                <a16:creationId xmlns:a16="http://schemas.microsoft.com/office/drawing/2014/main" id="{077E8180-0C89-401A-9A5C-AFA220BDC5A1}"/>
              </a:ext>
            </a:extLst>
          </p:cNvPr>
          <p:cNvPicPr>
            <a:picLocks xmlns:a="http://schemas.openxmlformats.org/drawingml/2006/main" noChangeAspect="1"/>
          </p:cNvPicPr>
          <p:nvPr/>
        </p:nvPicPr>
        <p:blipFill>
          <a:blip xmlns:r="http://schemas.openxmlformats.org/officeDocument/2006/relationships" xmlns:a="http://schemas.openxmlformats.org/drawingml/2006/main" r:embed="R76facf78d2124c85"/>
          <a:stretch xmlns:a="http://schemas.openxmlformats.org/drawingml/2006/main"/>
        </p:blipFill>
        <p:spPr>
          <a:xfrm xmlns:a="http://schemas.openxmlformats.org/drawingml/2006/main">
            <a:off x="1826344" y="1952625"/>
            <a:ext cx="8539311" cy="3905250"/>
          </a:xfrm>
          <a:prstGeom xmlns:a="http://schemas.openxmlformats.org/drawingml/2006/main" prst="rect">
            <a:avLst/>
          </a:prstGeom>
        </p:spPr>
      </p:pic>
      <p:sp>
        <p:nvSpPr>
          <p:cNvPr id="25" name="network-context">
            <a:extLst xmlns:a="http://schemas.openxmlformats.org/drawingml/2006/main">
              <a:ext uri="{FF2B5EF4-FFF2-40B4-BE49-F238E27FC236}">
                <a16:creationId xmlns:a16="http://schemas.microsoft.com/office/drawing/2014/main" id="{98816B4A-0129-42DB-A9B8-D865BF6E7A4D}"/>
              </a:ext>
            </a:extLst>
          </p:cNvPr>
          <p:cNvSpPr>
            <a:spLocks xmlns:a="http://schemas.openxmlformats.org/drawingml/2006/main" noGrp="1"/>
          </p:cNvSpPr>
          <p:nvPr/>
        </p:nvSpPr>
        <p:spPr>
          <a:xfrm xmlns:a="http://schemas.openxmlformats.org/drawingml/2006/main">
            <a:off x="514350" y="5829300"/>
            <a:ext cx="11163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007F79"/>
                </a:solidFill>
                <a:latin typeface="Aptos"/>
                <a:ea typeface="Aptos"/>
                <a:cs typeface="Aptos"/>
              </a:defRPr>
            </a:defPPr>
          </a:lstStyle>
          <a:p xmlns:a="http://schemas.openxmlformats.org/drawingml/2006/main">
            <a:pPr>
              <a:defRPr sz="1575" b="0">
                <a:solidFill>
                  <a:srgbClr val="007F79"/>
                </a:solidFill>
                <a:latin typeface="Aptos"/>
                <a:ea typeface="Aptos"/>
                <a:cs typeface="Aptos"/>
              </a:defRPr>
            </a:pPr>
            <a:r>
              <a:rPr sz="1575" b="0">
                <a:solidFill>
                  <a:srgbClr val="007F79"/>
                </a:solidFill>
                <a:latin typeface="Aptos"/>
                <a:ea typeface="Aptos"/>
                <a:cs typeface="Aptos"/>
              </a:rPr>
              <a:t>Sxema korporativ joylashtirish variantini ko‘rsatadi. Ko‘p tarmoqdagi yuklama sinovi hali bajarilmagan.</a:t>
            </a:r>
          </a:p>
        </p:txBody>
      </p:sp>
    </p:spTree>
    <p:extLst>
      <p:ext uri="{BB962C8B-B14F-4D97-AF65-F5344CB8AC3E}">
        <p14:creationId xmlns:p14="http://schemas.microsoft.com/office/powerpoint/2010/main" val="546400848"/>
      </p:ext>
    </p:extLst>
  </p:cSld>
</p:sld>
</file>

<file path=ppt/slides/slide1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5C9F955-D8A4-42AE-BA4E-9F469A035725}"/>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19B71FE-2A21-4B85-9DE3-69810B5B83EA}"/>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PC’ni ro‘yxatga olishni boshlash</a:t>
            </a:r>
          </a:p>
        </p:txBody>
      </p:sp>
      <p:sp>
        <p:nvSpPr>
          <p:cNvPr id="3" name="">
            <a:extLst xmlns:a="http://schemas.openxmlformats.org/drawingml/2006/main">
              <a:ext uri="{FF2B5EF4-FFF2-40B4-BE49-F238E27FC236}">
                <a16:creationId xmlns:a16="http://schemas.microsoft.com/office/drawing/2014/main" id="{9B96B741-81AC-4FF5-8EE9-AD21EFB8F172}"/>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Brauzer platformani tanlaydi va identifikatsiya yordamchisini ishga tushirishni taklif qiladi.</a:t>
            </a:r>
          </a:p>
        </p:txBody>
      </p:sp>
      <p:sp>
        <p:nvSpPr>
          <p:cNvPr id="4" name="">
            <a:extLst xmlns:a="http://schemas.openxmlformats.org/drawingml/2006/main">
              <a:ext uri="{FF2B5EF4-FFF2-40B4-BE49-F238E27FC236}">
                <a16:creationId xmlns:a16="http://schemas.microsoft.com/office/drawing/2014/main" id="{28840F96-69E6-4115-812D-220F483D7794}"/>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AEBEF8EA-0CBA-4E8B-ACD6-5C13FB19BBBC}"/>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14 / 25</a:t>
            </a:r>
          </a:p>
        </p:txBody>
      </p:sp>
      <p:sp>
        <p:nvSpPr>
          <p:cNvPr id="30" name="start-caption">
            <a:extLst xmlns:a="http://schemas.openxmlformats.org/drawingml/2006/main">
              <a:ext uri="{FF2B5EF4-FFF2-40B4-BE49-F238E27FC236}">
                <a16:creationId xmlns:a16="http://schemas.microsoft.com/office/drawing/2014/main" id="{555A1133-0EA1-499F-91AD-3D84409EBC65}"/>
              </a:ext>
            </a:extLst>
          </p:cNvPr>
          <p:cNvSpPr>
            <a:spLocks xmlns:a="http://schemas.openxmlformats.org/drawingml/2006/main" noGrp="1"/>
          </p:cNvSpPr>
          <p:nvPr/>
        </p:nvSpPr>
        <p:spPr>
          <a:xfrm xmlns:a="http://schemas.openxmlformats.org/drawingml/2006/main">
            <a:off x="514350" y="20002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07F79"/>
                </a:solidFill>
                <a:latin typeface="Aptos"/>
                <a:ea typeface="Aptos"/>
                <a:cs typeface="Aptos"/>
              </a:defRPr>
            </a:defPPr>
          </a:lstStyle>
          <a:p xmlns:a="http://schemas.openxmlformats.org/drawingml/2006/main">
            <a:pPr>
              <a:defRPr sz="1875" b="1">
                <a:solidFill>
                  <a:srgbClr val="007F79"/>
                </a:solidFill>
                <a:latin typeface="Aptos"/>
                <a:ea typeface="Aptos"/>
                <a:cs typeface="Aptos"/>
              </a:defRPr>
            </a:pPr>
            <a:r>
              <a:rPr sz="1875" b="1">
                <a:solidFill>
                  <a:srgbClr val="007F79"/>
                </a:solidFill>
                <a:latin typeface="Aptos"/>
                <a:ea typeface="Aptos"/>
                <a:cs typeface="Aptos"/>
              </a:rPr>
              <a:t>1. Ro‘yxatga olishni boshlash</a:t>
            </a:r>
          </a:p>
        </p:txBody>
      </p:sp>
      <p:sp>
        <p:nvSpPr>
          <p:cNvPr id="31" name="helper-caption">
            <a:extLst xmlns:a="http://schemas.openxmlformats.org/drawingml/2006/main">
              <a:ext uri="{FF2B5EF4-FFF2-40B4-BE49-F238E27FC236}">
                <a16:creationId xmlns:a16="http://schemas.microsoft.com/office/drawing/2014/main" id="{D1A6B5DD-F91E-44D7-BFA1-8C8E45F2E82A}"/>
              </a:ext>
            </a:extLst>
          </p:cNvPr>
          <p:cNvSpPr>
            <a:spLocks xmlns:a="http://schemas.openxmlformats.org/drawingml/2006/main" noGrp="1"/>
          </p:cNvSpPr>
          <p:nvPr/>
        </p:nvSpPr>
        <p:spPr>
          <a:xfrm xmlns:a="http://schemas.openxmlformats.org/drawingml/2006/main">
            <a:off x="6305550" y="2000250"/>
            <a:ext cx="537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007F79"/>
                </a:solidFill>
                <a:latin typeface="Aptos"/>
                <a:ea typeface="Aptos"/>
                <a:cs typeface="Aptos"/>
              </a:defRPr>
            </a:defPPr>
          </a:lstStyle>
          <a:p xmlns:a="http://schemas.openxmlformats.org/drawingml/2006/main">
            <a:pPr>
              <a:defRPr sz="1875" b="1">
                <a:solidFill>
                  <a:srgbClr val="007F79"/>
                </a:solidFill>
                <a:latin typeface="Aptos"/>
                <a:ea typeface="Aptos"/>
                <a:cs typeface="Aptos"/>
              </a:defRPr>
            </a:pPr>
            <a:r>
              <a:rPr sz="1875" b="1">
                <a:solidFill>
                  <a:srgbClr val="007F79"/>
                </a:solidFill>
                <a:latin typeface="Aptos"/>
                <a:ea typeface="Aptos"/>
                <a:cs typeface="Aptos"/>
              </a:rPr>
              <a:t>2. Yordamchini yuklash va ishga tushirish</a:t>
            </a:r>
          </a:p>
        </p:txBody>
      </p:sp>
      <p:pic>
        <p:nvPicPr>
          <p:cNvPr id="32" name="">
            <a:extLst xmlns:a="http://schemas.openxmlformats.org/drawingml/2006/main">
              <a:ext uri="{FF2B5EF4-FFF2-40B4-BE49-F238E27FC236}">
                <a16:creationId xmlns:a16="http://schemas.microsoft.com/office/drawing/2014/main" id="{361D7CCF-186C-45B5-A773-3F7F1B025670}"/>
              </a:ext>
            </a:extLst>
          </p:cNvPr>
          <p:cNvPicPr>
            <a:picLocks xmlns:a="http://schemas.openxmlformats.org/drawingml/2006/main" noChangeAspect="1"/>
          </p:cNvPicPr>
          <p:nvPr/>
        </p:nvPicPr>
        <p:blipFill>
          <a:blip xmlns:r="http://schemas.openxmlformats.org/officeDocument/2006/relationships" xmlns:a="http://schemas.openxmlformats.org/drawingml/2006/main" r:embed="R5cc94045fc084f1f"/>
          <a:stretch xmlns:a="http://schemas.openxmlformats.org/drawingml/2006/main"/>
        </p:blipFill>
        <p:spPr>
          <a:xfrm xmlns:a="http://schemas.openxmlformats.org/drawingml/2006/main">
            <a:off x="518552" y="2543175"/>
            <a:ext cx="5135096" cy="2686050"/>
          </a:xfrm>
          <a:prstGeom xmlns:a="http://schemas.openxmlformats.org/drawingml/2006/main" prst="rect">
            <a:avLst/>
          </a:prstGeom>
        </p:spPr>
      </p:pic>
      <p:pic>
        <p:nvPicPr>
          <p:cNvPr id="33" name="">
            <a:extLst xmlns:a="http://schemas.openxmlformats.org/drawingml/2006/main">
              <a:ext uri="{FF2B5EF4-FFF2-40B4-BE49-F238E27FC236}">
                <a16:creationId xmlns:a16="http://schemas.microsoft.com/office/drawing/2014/main" id="{D6413E5C-7036-4953-A0A9-C8B5F85F5549}"/>
              </a:ext>
            </a:extLst>
          </p:cNvPr>
          <p:cNvPicPr>
            <a:picLocks xmlns:a="http://schemas.openxmlformats.org/drawingml/2006/main" noChangeAspect="1"/>
          </p:cNvPicPr>
          <p:nvPr/>
        </p:nvPicPr>
        <p:blipFill>
          <a:blip xmlns:r="http://schemas.openxmlformats.org/officeDocument/2006/relationships" xmlns:a="http://schemas.openxmlformats.org/drawingml/2006/main" r:embed="R79575231bd974977"/>
          <a:stretch xmlns:a="http://schemas.openxmlformats.org/drawingml/2006/main"/>
        </p:blipFill>
        <p:spPr>
          <a:xfrm xmlns:a="http://schemas.openxmlformats.org/drawingml/2006/main">
            <a:off x="6634848" y="2390775"/>
            <a:ext cx="4713503" cy="3524250"/>
          </a:xfrm>
          <a:prstGeom xmlns:a="http://schemas.openxmlformats.org/drawingml/2006/main" prst="rect">
            <a:avLst/>
          </a:prstGeom>
        </p:spPr>
      </p:pic>
      <p:sp>
        <p:nvSpPr>
          <p:cNvPr id="34" name="registration-caption">
            <a:extLst xmlns:a="http://schemas.openxmlformats.org/drawingml/2006/main">
              <a:ext uri="{FF2B5EF4-FFF2-40B4-BE49-F238E27FC236}">
                <a16:creationId xmlns:a16="http://schemas.microsoft.com/office/drawing/2014/main" id="{6DA2C0FF-51BB-49A3-B6E4-8B6E4E44DBA9}"/>
              </a:ext>
            </a:extLst>
          </p:cNvPr>
          <p:cNvSpPr>
            <a:spLocks xmlns:a="http://schemas.openxmlformats.org/drawingml/2006/main" noGrp="1"/>
          </p:cNvSpPr>
          <p:nvPr/>
        </p:nvSpPr>
        <p:spPr>
          <a:xfrm xmlns:a="http://schemas.openxmlformats.org/drawingml/2006/main">
            <a:off x="514350" y="60198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76C82"/>
                </a:solidFill>
                <a:latin typeface="Aptos"/>
                <a:ea typeface="Aptos"/>
                <a:cs typeface="Aptos"/>
              </a:defRPr>
            </a:defPPr>
          </a:lstStyle>
          <a:p xmlns:a="http://schemas.openxmlformats.org/drawingml/2006/main">
            <a:pPr>
              <a:defRPr sz="1500" b="0">
                <a:solidFill>
                  <a:srgbClr val="576C82"/>
                </a:solidFill>
                <a:latin typeface="Aptos"/>
                <a:ea typeface="Aptos"/>
                <a:cs typeface="Aptos"/>
              </a:defRPr>
            </a:pPr>
            <a:r>
              <a:rPr sz="1500" b="0">
                <a:solidFill>
                  <a:srgbClr val="576C82"/>
                </a:solidFill>
                <a:latin typeface="Aptos"/>
                <a:ea typeface="Aptos"/>
                <a:cs typeface="Aptos"/>
              </a:rPr>
              <a:t>Namuna kompaniyasi bilan olingan haqiqiy veb interfeys ekranlari.</a:t>
            </a:r>
          </a:p>
        </p:txBody>
      </p:sp>
    </p:spTree>
    <p:extLst>
      <p:ext uri="{BB962C8B-B14F-4D97-AF65-F5344CB8AC3E}">
        <p14:creationId xmlns:p14="http://schemas.microsoft.com/office/powerpoint/2010/main" val="1239188699"/>
      </p:ext>
    </p:extLst>
  </p:cSld>
</p:sld>
</file>

<file path=ppt/slides/slide1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FF90124-62F4-45E7-B594-8259B5C50487}"/>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D7F7E9-D88C-4786-8616-5BE64DA7EB71}"/>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Qurilma ma’lumotlari va QR sessiyasi</a:t>
            </a:r>
          </a:p>
        </p:txBody>
      </p:sp>
      <p:sp>
        <p:nvSpPr>
          <p:cNvPr id="3" name="">
            <a:extLst xmlns:a="http://schemas.openxmlformats.org/drawingml/2006/main">
              <a:ext uri="{FF2B5EF4-FFF2-40B4-BE49-F238E27FC236}">
                <a16:creationId xmlns:a16="http://schemas.microsoft.com/office/drawing/2014/main" id="{FFC3B0A9-2060-49E8-BCD9-D52F403E5EE5}"/>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Yordamchi PC metama’lumotlarini yuborgach, brauzer administrator uchun QR chiqaradi.</a:t>
            </a:r>
          </a:p>
        </p:txBody>
      </p:sp>
      <p:sp>
        <p:nvSpPr>
          <p:cNvPr id="4" name="">
            <a:extLst xmlns:a="http://schemas.openxmlformats.org/drawingml/2006/main">
              <a:ext uri="{FF2B5EF4-FFF2-40B4-BE49-F238E27FC236}">
                <a16:creationId xmlns:a16="http://schemas.microsoft.com/office/drawing/2014/main" id="{70307583-8648-435A-9163-F84F5A355EA5}"/>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06305390-32D7-4457-AF22-0AE1AE010511}"/>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15 / 25</a:t>
            </a:r>
          </a:p>
        </p:txBody>
      </p:sp>
      <p:pic>
        <p:nvPicPr>
          <p:cNvPr id="25" name="">
            <a:extLst xmlns:a="http://schemas.openxmlformats.org/drawingml/2006/main">
              <a:ext uri="{FF2B5EF4-FFF2-40B4-BE49-F238E27FC236}">
                <a16:creationId xmlns:a16="http://schemas.microsoft.com/office/drawing/2014/main" id="{92E34A0F-3060-49C8-9750-2D5F58BCB80E}"/>
              </a:ext>
            </a:extLst>
          </p:cNvPr>
          <p:cNvPicPr>
            <a:picLocks xmlns:a="http://schemas.openxmlformats.org/drawingml/2006/main" noChangeAspect="1"/>
          </p:cNvPicPr>
          <p:nvPr/>
        </p:nvPicPr>
        <p:blipFill>
          <a:blip xmlns:r="http://schemas.openxmlformats.org/officeDocument/2006/relationships" xmlns:a="http://schemas.openxmlformats.org/drawingml/2006/main" r:embed="R18b17c043a7d46d1"/>
          <a:stretch xmlns:a="http://schemas.openxmlformats.org/drawingml/2006/main"/>
        </p:blipFill>
        <p:spPr>
          <a:xfrm xmlns:a="http://schemas.openxmlformats.org/drawingml/2006/main">
            <a:off x="667872" y="1952625"/>
            <a:ext cx="3169582" cy="4286250"/>
          </a:xfrm>
          <a:prstGeom xmlns:a="http://schemas.openxmlformats.org/drawingml/2006/main" prst="rect">
            <a:avLst/>
          </a:prstGeom>
        </p:spPr>
      </p:pic>
      <p:sp>
        <p:nvSpPr>
          <p:cNvPr id="26" name="qr-title">
            <a:extLst xmlns:a="http://schemas.openxmlformats.org/drawingml/2006/main">
              <a:ext uri="{FF2B5EF4-FFF2-40B4-BE49-F238E27FC236}">
                <a16:creationId xmlns:a16="http://schemas.microsoft.com/office/drawing/2014/main" id="{B80673F6-8524-4722-91A7-87F0C4C8C338}"/>
              </a:ext>
            </a:extLst>
          </p:cNvPr>
          <p:cNvSpPr>
            <a:spLocks xmlns:a="http://schemas.openxmlformats.org/drawingml/2006/main" noGrp="1"/>
          </p:cNvSpPr>
          <p:nvPr/>
        </p:nvSpPr>
        <p:spPr>
          <a:xfrm xmlns:a="http://schemas.openxmlformats.org/drawingml/2006/main">
            <a:off x="4676775" y="2152650"/>
            <a:ext cx="695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07F79"/>
                </a:solidFill>
                <a:latin typeface="Aptos"/>
                <a:ea typeface="Aptos"/>
                <a:cs typeface="Aptos"/>
              </a:defRPr>
            </a:defPPr>
          </a:lstStyle>
          <a:p xmlns:a="http://schemas.openxmlformats.org/drawingml/2006/main">
            <a:pPr>
              <a:defRPr sz="2175" b="1">
                <a:solidFill>
                  <a:srgbClr val="007F79"/>
                </a:solidFill>
                <a:latin typeface="Aptos"/>
                <a:ea typeface="Aptos"/>
                <a:cs typeface="Aptos"/>
              </a:defRPr>
            </a:pPr>
            <a:r>
              <a:rPr sz="2175" b="1">
                <a:solidFill>
                  <a:srgbClr val="007F79"/>
                </a:solidFill>
                <a:latin typeface="Aptos"/>
                <a:ea typeface="Aptos"/>
                <a:cs typeface="Aptos"/>
              </a:rPr>
              <a:t>Administrator tasdig‘ini kutish</a:t>
            </a:r>
          </a:p>
        </p:txBody>
      </p:sp>
      <p:sp>
        <p:nvSpPr>
          <p:cNvPr id="27" name="qr-body">
            <a:extLst xmlns:a="http://schemas.openxmlformats.org/drawingml/2006/main">
              <a:ext uri="{FF2B5EF4-FFF2-40B4-BE49-F238E27FC236}">
                <a16:creationId xmlns:a16="http://schemas.microsoft.com/office/drawing/2014/main" id="{7FD43E00-EBB6-45C3-9EB1-5C38578E564A}"/>
              </a:ext>
            </a:extLst>
          </p:cNvPr>
          <p:cNvSpPr>
            <a:spLocks xmlns:a="http://schemas.openxmlformats.org/drawingml/2006/main" noGrp="1"/>
          </p:cNvSpPr>
          <p:nvPr/>
        </p:nvSpPr>
        <p:spPr>
          <a:xfrm xmlns:a="http://schemas.openxmlformats.org/drawingml/2006/main">
            <a:off x="4676775" y="2781300"/>
            <a:ext cx="6953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3047"/>
                </a:solidFill>
                <a:latin typeface="Aptos"/>
                <a:ea typeface="Aptos"/>
                <a:cs typeface="Aptos"/>
              </a:defRPr>
            </a:defPPr>
          </a:lstStyle>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Sessiya 5 daqiqa amal qiladi.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QR ichidagi scan token bir marta ishlatiladi.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Administrator PC’ni o‘z tashkilotiga biriktiradi.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PC identifikatorlari yordamchi ma’lumotdir. Ular kriptografik shaxs tasdig‘i bo‘la olmaydi.</a:t>
            </a:r>
          </a:p>
        </p:txBody>
      </p:sp>
      <p:sp>
        <p:nvSpPr>
          <p:cNvPr id="28" name="qr-expired">
            <a:extLst xmlns:a="http://schemas.openxmlformats.org/drawingml/2006/main">
              <a:ext uri="{FF2B5EF4-FFF2-40B4-BE49-F238E27FC236}">
                <a16:creationId xmlns:a16="http://schemas.microsoft.com/office/drawing/2014/main" id="{50E831F1-DC92-4821-993A-D3D7A90ED53C}"/>
              </a:ext>
            </a:extLst>
          </p:cNvPr>
          <p:cNvSpPr>
            <a:spLocks xmlns:a="http://schemas.openxmlformats.org/drawingml/2006/main" noGrp="1"/>
          </p:cNvSpPr>
          <p:nvPr/>
        </p:nvSpPr>
        <p:spPr>
          <a:xfrm xmlns:a="http://schemas.openxmlformats.org/drawingml/2006/main">
            <a:off x="4676775" y="5876925"/>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76C82"/>
                </a:solidFill>
                <a:latin typeface="Aptos"/>
                <a:ea typeface="Aptos"/>
                <a:cs typeface="Aptos"/>
              </a:defRPr>
            </a:defPPr>
          </a:lstStyle>
          <a:p xmlns:a="http://schemas.openxmlformats.org/drawingml/2006/main">
            <a:pPr>
              <a:defRPr sz="1500" b="0">
                <a:solidFill>
                  <a:srgbClr val="576C82"/>
                </a:solidFill>
                <a:latin typeface="Aptos"/>
                <a:ea typeface="Aptos"/>
                <a:cs typeface="Aptos"/>
              </a:defRPr>
            </a:pPr>
            <a:r>
              <a:rPr sz="1500" b="0">
                <a:solidFill>
                  <a:srgbClr val="576C82"/>
                </a:solidFill>
                <a:latin typeface="Aptos"/>
                <a:ea typeface="Aptos"/>
                <a:cs typeface="Aptos"/>
              </a:rPr>
              <a:t>Tasvirdagi QR va kodlar amaldan chiqarilgan.</a:t>
            </a:r>
          </a:p>
        </p:txBody>
      </p:sp>
    </p:spTree>
    <p:extLst>
      <p:ext uri="{BB962C8B-B14F-4D97-AF65-F5344CB8AC3E}">
        <p14:creationId xmlns:p14="http://schemas.microsoft.com/office/powerpoint/2010/main" val="1573619304"/>
      </p:ext>
    </p:extLst>
  </p:cSld>
</p:sld>
</file>

<file path=ppt/slides/slide1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61724C4-45BE-40A5-B9E8-F7CD5EAC486A}"/>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1DC1FD-D085-44D7-9CD5-13CCEBD5D220}"/>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Mobil brauzerda administrator tasdig‘i</a:t>
            </a:r>
          </a:p>
        </p:txBody>
      </p:sp>
      <p:sp>
        <p:nvSpPr>
          <p:cNvPr id="3" name="">
            <a:extLst xmlns:a="http://schemas.openxmlformats.org/drawingml/2006/main">
              <a:ext uri="{FF2B5EF4-FFF2-40B4-BE49-F238E27FC236}">
                <a16:creationId xmlns:a16="http://schemas.microsoft.com/office/drawing/2014/main" id="{DF03D48D-9314-453B-8C48-512AB3121825}"/>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Administrator QR havolasini ochadi, PC ma’lumotlarini ko‘rib kompaniyaga biriktiradi.</a:t>
            </a:r>
          </a:p>
        </p:txBody>
      </p:sp>
      <p:sp>
        <p:nvSpPr>
          <p:cNvPr id="4" name="">
            <a:extLst xmlns:a="http://schemas.openxmlformats.org/drawingml/2006/main">
              <a:ext uri="{FF2B5EF4-FFF2-40B4-BE49-F238E27FC236}">
                <a16:creationId xmlns:a16="http://schemas.microsoft.com/office/drawing/2014/main" id="{D58F1D0A-7188-4027-BB74-25546CA172C0}"/>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64340CE1-EB10-4B80-83CE-F1A6C67847D9}"/>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16 / 25</a:t>
            </a:r>
          </a:p>
        </p:txBody>
      </p:sp>
      <p:pic>
        <p:nvPicPr>
          <p:cNvPr id="19" name="">
            <a:extLst xmlns:a="http://schemas.openxmlformats.org/drawingml/2006/main">
              <a:ext uri="{FF2B5EF4-FFF2-40B4-BE49-F238E27FC236}">
                <a16:creationId xmlns:a16="http://schemas.microsoft.com/office/drawing/2014/main" id="{38F9B17A-AFF9-45D7-A801-E20500EFA2F9}"/>
              </a:ext>
            </a:extLst>
          </p:cNvPr>
          <p:cNvPicPr>
            <a:picLocks xmlns:a="http://schemas.openxmlformats.org/drawingml/2006/main" noChangeAspect="1"/>
          </p:cNvPicPr>
          <p:nvPr/>
        </p:nvPicPr>
        <p:blipFill>
          <a:blip xmlns:r="http://schemas.openxmlformats.org/officeDocument/2006/relationships" xmlns:a="http://schemas.openxmlformats.org/drawingml/2006/main" r:embed="R35b000d1eebd4dd4"/>
          <a:stretch xmlns:a="http://schemas.openxmlformats.org/drawingml/2006/main"/>
        </p:blipFill>
        <p:spPr>
          <a:xfrm xmlns:a="http://schemas.openxmlformats.org/drawingml/2006/main">
            <a:off x="514350" y="1958316"/>
            <a:ext cx="1962150" cy="4246294"/>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72EDD92A-3722-4D0D-B569-2CEBEC76244E}"/>
              </a:ext>
            </a:extLst>
          </p:cNvPr>
          <p:cNvPicPr>
            <a:picLocks xmlns:a="http://schemas.openxmlformats.org/drawingml/2006/main" noChangeAspect="1"/>
          </p:cNvPicPr>
          <p:nvPr/>
        </p:nvPicPr>
        <p:blipFill>
          <a:blip xmlns:r="http://schemas.openxmlformats.org/officeDocument/2006/relationships" xmlns:a="http://schemas.openxmlformats.org/drawingml/2006/main" r:embed="R735b455a87414d7c"/>
          <a:stretch xmlns:a="http://schemas.openxmlformats.org/drawingml/2006/main"/>
        </p:blipFill>
        <p:spPr>
          <a:xfrm xmlns:a="http://schemas.openxmlformats.org/drawingml/2006/main">
            <a:off x="2733675" y="1958316"/>
            <a:ext cx="1962150" cy="4246294"/>
          </a:xfrm>
          <a:prstGeom xmlns:a="http://schemas.openxmlformats.org/drawingml/2006/main" prst="rect">
            <a:avLst/>
          </a:prstGeom>
        </p:spPr>
      </p:pic>
      <p:sp>
        <p:nvSpPr>
          <p:cNvPr id="21" name="mobile-title">
            <a:extLst xmlns:a="http://schemas.openxmlformats.org/drawingml/2006/main">
              <a:ext uri="{FF2B5EF4-FFF2-40B4-BE49-F238E27FC236}">
                <a16:creationId xmlns:a16="http://schemas.microsoft.com/office/drawing/2014/main" id="{01AD2253-9546-4845-AC59-4E4E39545982}"/>
              </a:ext>
            </a:extLst>
          </p:cNvPr>
          <p:cNvSpPr>
            <a:spLocks xmlns:a="http://schemas.openxmlformats.org/drawingml/2006/main" noGrp="1"/>
          </p:cNvSpPr>
          <p:nvPr/>
        </p:nvSpPr>
        <p:spPr>
          <a:xfrm xmlns:a="http://schemas.openxmlformats.org/drawingml/2006/main">
            <a:off x="5353050" y="2143125"/>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07F79"/>
                </a:solidFill>
                <a:latin typeface="Aptos"/>
                <a:ea typeface="Aptos"/>
                <a:cs typeface="Aptos"/>
              </a:defRPr>
            </a:defPPr>
          </a:lstStyle>
          <a:p xmlns:a="http://schemas.openxmlformats.org/drawingml/2006/main">
            <a:pPr>
              <a:defRPr sz="2175" b="1">
                <a:solidFill>
                  <a:srgbClr val="007F79"/>
                </a:solidFill>
                <a:latin typeface="Aptos"/>
                <a:ea typeface="Aptos"/>
                <a:cs typeface="Aptos"/>
              </a:defRPr>
            </a:pPr>
            <a:r>
              <a:rPr sz="2175" b="1">
                <a:solidFill>
                  <a:srgbClr val="007F79"/>
                </a:solidFill>
                <a:latin typeface="Aptos"/>
                <a:ea typeface="Aptos"/>
                <a:cs typeface="Aptos"/>
              </a:rPr>
              <a:t>Tasdiqlash jarayoni</a:t>
            </a:r>
          </a:p>
        </p:txBody>
      </p:sp>
      <p:sp>
        <p:nvSpPr>
          <p:cNvPr id="22" name="mobile-body">
            <a:extLst xmlns:a="http://schemas.openxmlformats.org/drawingml/2006/main">
              <a:ext uri="{FF2B5EF4-FFF2-40B4-BE49-F238E27FC236}">
                <a16:creationId xmlns:a16="http://schemas.microsoft.com/office/drawing/2014/main" id="{5BD78A31-72D1-4791-B609-7D30C2CD70AC}"/>
              </a:ext>
            </a:extLst>
          </p:cNvPr>
          <p:cNvSpPr>
            <a:spLocks xmlns:a="http://schemas.openxmlformats.org/drawingml/2006/main" noGrp="1"/>
          </p:cNvSpPr>
          <p:nvPr/>
        </p:nvSpPr>
        <p:spPr>
          <a:xfrm xmlns:a="http://schemas.openxmlformats.org/drawingml/2006/main">
            <a:off x="5353050" y="2733675"/>
            <a:ext cx="62865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3047"/>
                </a:solidFill>
                <a:latin typeface="Aptos"/>
                <a:ea typeface="Aptos"/>
                <a:cs typeface="Aptos"/>
              </a:defRPr>
            </a:defPPr>
          </a:lstStyle>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1. Vakolatli administrator hisobiga kiradi.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2. Tashkilot va PC ma’lumotlarini tekshiradi.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3. Joylashuvni kiritib, PC’ni tasdiqlaydi.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4. Server qurilmani browser_approved holatiga o‘tkazadi.</a:t>
            </a:r>
          </a:p>
        </p:txBody>
      </p:sp>
      <p:sp>
        <p:nvSpPr>
          <p:cNvPr id="23" name="mobile-note">
            <a:extLst xmlns:a="http://schemas.openxmlformats.org/drawingml/2006/main">
              <a:ext uri="{FF2B5EF4-FFF2-40B4-BE49-F238E27FC236}">
                <a16:creationId xmlns:a16="http://schemas.microsoft.com/office/drawing/2014/main" id="{3BA2B6C1-7EB5-4A54-8E85-2254001715DD}"/>
              </a:ext>
            </a:extLst>
          </p:cNvPr>
          <p:cNvSpPr>
            <a:spLocks xmlns:a="http://schemas.openxmlformats.org/drawingml/2006/main" noGrp="1"/>
          </p:cNvSpPr>
          <p:nvPr/>
        </p:nvSpPr>
        <p:spPr>
          <a:xfrm xmlns:a="http://schemas.openxmlformats.org/drawingml/2006/main">
            <a:off x="5353050" y="5829300"/>
            <a:ext cx="628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76C82"/>
                </a:solidFill>
                <a:latin typeface="Aptos"/>
                <a:ea typeface="Aptos"/>
                <a:cs typeface="Aptos"/>
              </a:defRPr>
            </a:defPPr>
          </a:lstStyle>
          <a:p xmlns:a="http://schemas.openxmlformats.org/drawingml/2006/main">
            <a:pPr>
              <a:defRPr sz="1500" b="0">
                <a:solidFill>
                  <a:srgbClr val="576C82"/>
                </a:solidFill>
                <a:latin typeface="Aptos"/>
                <a:ea typeface="Aptos"/>
                <a:cs typeface="Aptos"/>
              </a:defRPr>
            </a:pPr>
            <a:r>
              <a:rPr sz="1500" b="0">
                <a:solidFill>
                  <a:srgbClr val="576C82"/>
                </a:solidFill>
                <a:latin typeface="Aptos"/>
                <a:ea typeface="Aptos"/>
                <a:cs typeface="Aptos"/>
              </a:rPr>
              <a:t>Mobil brauzer ko‘rinishi. Bu bosqichdan keyin agent aktivatsiyasi kerak.</a:t>
            </a:r>
          </a:p>
        </p:txBody>
      </p:sp>
    </p:spTree>
    <p:extLst>
      <p:ext uri="{BB962C8B-B14F-4D97-AF65-F5344CB8AC3E}">
        <p14:creationId xmlns:p14="http://schemas.microsoft.com/office/powerpoint/2010/main" val="487244001"/>
      </p:ext>
    </p:extLst>
  </p:cSld>
</p:sld>
</file>

<file path=ppt/slides/slide1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74BBA6A-F465-4794-9102-F767EB3B132C}"/>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F3DE83-03D3-4D1B-A312-82E7CEBDD97D}"/>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Windows agentini faollashtirish</a:t>
            </a:r>
          </a:p>
        </p:txBody>
      </p:sp>
      <p:sp>
        <p:nvSpPr>
          <p:cNvPr id="3" name="">
            <a:extLst xmlns:a="http://schemas.openxmlformats.org/drawingml/2006/main">
              <a:ext uri="{FF2B5EF4-FFF2-40B4-BE49-F238E27FC236}">
                <a16:creationId xmlns:a16="http://schemas.microsoft.com/office/drawing/2014/main" id="{BAFF767E-93D8-470C-92C5-8EAEA10EDC94}"/>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PC uchun brauzer tasdig‘i va agentning kriptografik aktivatsiyasi alohida bajariladi.</a:t>
            </a:r>
          </a:p>
        </p:txBody>
      </p:sp>
      <p:sp>
        <p:nvSpPr>
          <p:cNvPr id="4" name="">
            <a:extLst xmlns:a="http://schemas.openxmlformats.org/drawingml/2006/main">
              <a:ext uri="{FF2B5EF4-FFF2-40B4-BE49-F238E27FC236}">
                <a16:creationId xmlns:a16="http://schemas.microsoft.com/office/drawing/2014/main" id="{955F8DBE-04D2-441B-ACF2-366BD055084E}"/>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4B97257D-30C0-4DBA-AA5D-0749C304608B}"/>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17 / 25</a:t>
            </a:r>
          </a:p>
        </p:txBody>
      </p:sp>
      <p:pic>
        <p:nvPicPr>
          <p:cNvPr id="25" name="">
            <a:extLst xmlns:a="http://schemas.openxmlformats.org/drawingml/2006/main">
              <a:ext uri="{FF2B5EF4-FFF2-40B4-BE49-F238E27FC236}">
                <a16:creationId xmlns:a16="http://schemas.microsoft.com/office/drawing/2014/main" id="{805DBE4B-0A5D-4556-9DCE-CA8B07FE7AED}"/>
              </a:ext>
            </a:extLst>
          </p:cNvPr>
          <p:cNvPicPr>
            <a:picLocks xmlns:a="http://schemas.openxmlformats.org/drawingml/2006/main" noChangeAspect="1"/>
          </p:cNvPicPr>
          <p:nvPr/>
        </p:nvPicPr>
        <p:blipFill>
          <a:blip xmlns:r="http://schemas.openxmlformats.org/officeDocument/2006/relationships" xmlns:a="http://schemas.openxmlformats.org/drawingml/2006/main" r:embed="Rcaa746a001bf455c"/>
          <a:stretch xmlns:a="http://schemas.openxmlformats.org/drawingml/2006/main"/>
        </p:blipFill>
        <p:spPr>
          <a:xfrm xmlns:a="http://schemas.openxmlformats.org/drawingml/2006/main">
            <a:off x="517432" y="2219325"/>
            <a:ext cx="5499287" cy="2876550"/>
          </a:xfrm>
          <a:prstGeom xmlns:a="http://schemas.openxmlformats.org/drawingml/2006/main" prst="rect">
            <a:avLst/>
          </a:prstGeom>
        </p:spPr>
      </p:pic>
      <p:sp>
        <p:nvSpPr>
          <p:cNvPr id="26" name="activation-title">
            <a:extLst xmlns:a="http://schemas.openxmlformats.org/drawingml/2006/main">
              <a:ext uri="{FF2B5EF4-FFF2-40B4-BE49-F238E27FC236}">
                <a16:creationId xmlns:a16="http://schemas.microsoft.com/office/drawing/2014/main" id="{B8B45E33-E24E-4118-9487-77FA6CD6E6BA}"/>
              </a:ext>
            </a:extLst>
          </p:cNvPr>
          <p:cNvSpPr>
            <a:spLocks xmlns:a="http://schemas.openxmlformats.org/drawingml/2006/main" noGrp="1"/>
          </p:cNvSpPr>
          <p:nvPr/>
        </p:nvSpPr>
        <p:spPr>
          <a:xfrm xmlns:a="http://schemas.openxmlformats.org/drawingml/2006/main">
            <a:off x="6515100" y="2085975"/>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07F79"/>
                </a:solidFill>
                <a:latin typeface="Aptos"/>
                <a:ea typeface="Aptos"/>
                <a:cs typeface="Aptos"/>
              </a:defRPr>
            </a:defPPr>
          </a:lstStyle>
          <a:p xmlns:a="http://schemas.openxmlformats.org/drawingml/2006/main">
            <a:pPr>
              <a:defRPr sz="2175" b="1">
                <a:solidFill>
                  <a:srgbClr val="007F79"/>
                </a:solidFill>
                <a:latin typeface="Aptos"/>
                <a:ea typeface="Aptos"/>
                <a:cs typeface="Aptos"/>
              </a:defRPr>
            </a:pPr>
            <a:r>
              <a:rPr sz="2175" b="1">
                <a:solidFill>
                  <a:srgbClr val="007F79"/>
                </a:solidFill>
                <a:latin typeface="Aptos"/>
                <a:ea typeface="Aptos"/>
                <a:cs typeface="Aptos"/>
              </a:rPr>
              <a:t>Aktivatsiya bosqichlari</a:t>
            </a:r>
          </a:p>
        </p:txBody>
      </p:sp>
      <p:sp>
        <p:nvSpPr>
          <p:cNvPr id="27" name="activation-body">
            <a:extLst xmlns:a="http://schemas.openxmlformats.org/drawingml/2006/main">
              <a:ext uri="{FF2B5EF4-FFF2-40B4-BE49-F238E27FC236}">
                <a16:creationId xmlns:a16="http://schemas.microsoft.com/office/drawing/2014/main" id="{314B1F98-9D5D-413C-B21F-4E4142A11D22}"/>
              </a:ext>
            </a:extLst>
          </p:cNvPr>
          <p:cNvSpPr>
            <a:spLocks xmlns:a="http://schemas.openxmlformats.org/drawingml/2006/main" noGrp="1"/>
          </p:cNvSpPr>
          <p:nvPr/>
        </p:nvSpPr>
        <p:spPr>
          <a:xfrm xmlns:a="http://schemas.openxmlformats.org/drawingml/2006/main">
            <a:off x="6515100" y="2667000"/>
            <a:ext cx="514350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1E3047"/>
                </a:solidFill>
                <a:latin typeface="Aptos"/>
                <a:ea typeface="Aptos"/>
                <a:cs typeface="Aptos"/>
              </a:defRPr>
            </a:defPPr>
          </a:lstStyle>
          <a:p xmlns:a="http://schemas.openxmlformats.org/drawingml/2006/main">
            <a:pPr>
              <a:defRPr sz="1800" b="0">
                <a:solidFill>
                  <a:srgbClr val="1E3047"/>
                </a:solidFill>
                <a:latin typeface="Aptos"/>
                <a:ea typeface="Aptos"/>
                <a:cs typeface="Aptos"/>
              </a:defRPr>
            </a:pPr>
            <a:r>
              <a:rPr sz="1800" b="0">
                <a:solidFill>
                  <a:srgbClr val="1E3047"/>
                </a:solidFill>
                <a:latin typeface="Aptos"/>
                <a:ea typeface="Aptos"/>
                <a:cs typeface="Aptos"/>
              </a:rPr>
              <a:t>1. Administrator bir martalik tashkilot tokenini oladi.</a:t>
            </a:r>
          </a:p>
          <a:p xmlns:a="http://schemas.openxmlformats.org/drawingml/2006/main">
            <a:r>
              <a:t/>
            </a:r>
          </a:p>
          <a:p xmlns:a="http://schemas.openxmlformats.org/drawingml/2006/main">
            <a:pPr>
              <a:defRPr sz="1800" b="0">
                <a:solidFill>
                  <a:srgbClr val="1E3047"/>
                </a:solidFill>
                <a:latin typeface="Aptos"/>
                <a:ea typeface="Aptos"/>
                <a:cs typeface="Aptos"/>
              </a:defRPr>
            </a:pPr>
            <a:r>
              <a:rPr sz="1800" b="0">
                <a:solidFill>
                  <a:srgbClr val="1E3047"/>
                </a:solidFill>
                <a:latin typeface="Aptos"/>
                <a:ea typeface="Aptos"/>
                <a:cs typeface="Aptos"/>
              </a:rPr>
              <a:t>2. Agent lokal RSA kalit juftini yaratadi.</a:t>
            </a:r>
          </a:p>
          <a:p xmlns:a="http://schemas.openxmlformats.org/drawingml/2006/main">
            <a:r>
              <a:t/>
            </a:r>
          </a:p>
          <a:p xmlns:a="http://schemas.openxmlformats.org/drawingml/2006/main">
            <a:pPr>
              <a:defRPr sz="1800" b="0">
                <a:solidFill>
                  <a:srgbClr val="1E3047"/>
                </a:solidFill>
                <a:latin typeface="Aptos"/>
                <a:ea typeface="Aptos"/>
                <a:cs typeface="Aptos"/>
              </a:defRPr>
            </a:pPr>
            <a:r>
              <a:rPr sz="1800" b="0">
                <a:solidFill>
                  <a:srgbClr val="1E3047"/>
                </a:solidFill>
                <a:latin typeface="Aptos"/>
                <a:ea typeface="Aptos"/>
                <a:cs typeface="Aptos"/>
              </a:rPr>
              <a:t>3. Token va ochiq kalitni imzoli so‘rov bilan yuboradi.</a:t>
            </a:r>
          </a:p>
          <a:p xmlns:a="http://schemas.openxmlformats.org/drawingml/2006/main">
            <a:r>
              <a:t/>
            </a:r>
          </a:p>
          <a:p xmlns:a="http://schemas.openxmlformats.org/drawingml/2006/main">
            <a:pPr>
              <a:defRPr sz="1800" b="0">
                <a:solidFill>
                  <a:srgbClr val="1E3047"/>
                </a:solidFill>
                <a:latin typeface="Aptos"/>
                <a:ea typeface="Aptos"/>
                <a:cs typeface="Aptos"/>
              </a:defRPr>
            </a:pPr>
            <a:r>
              <a:rPr sz="1800" b="0">
                <a:solidFill>
                  <a:srgbClr val="1E3047"/>
                </a:solidFill>
                <a:latin typeface="Aptos"/>
                <a:ea typeface="Aptos"/>
                <a:cs typeface="Aptos"/>
              </a:rPr>
              <a:t>4. Server kalitni tekshirib qurilmani faollashtiradi.</a:t>
            </a:r>
          </a:p>
        </p:txBody>
      </p:sp>
      <p:sp>
        <p:nvSpPr>
          <p:cNvPr id="28" name="activation-note">
            <a:extLst xmlns:a="http://schemas.openxmlformats.org/drawingml/2006/main">
              <a:ext uri="{FF2B5EF4-FFF2-40B4-BE49-F238E27FC236}">
                <a16:creationId xmlns:a16="http://schemas.microsoft.com/office/drawing/2014/main" id="{90CD3CC4-31A1-4A0A-B777-567CD2351591}"/>
              </a:ext>
            </a:extLst>
          </p:cNvPr>
          <p:cNvSpPr>
            <a:spLocks xmlns:a="http://schemas.openxmlformats.org/drawingml/2006/main" noGrp="1"/>
          </p:cNvSpPr>
          <p:nvPr/>
        </p:nvSpPr>
        <p:spPr>
          <a:xfrm xmlns:a="http://schemas.openxmlformats.org/drawingml/2006/main">
            <a:off x="514350" y="5857875"/>
            <a:ext cx="11163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Tasvir veb tasdiqni ko‘rsatadi. Windows o‘rnatuvchisining oynalari hali kiritilmagan.</a:t>
            </a:r>
          </a:p>
        </p:txBody>
      </p:sp>
    </p:spTree>
    <p:extLst>
      <p:ext uri="{BB962C8B-B14F-4D97-AF65-F5344CB8AC3E}">
        <p14:creationId xmlns:p14="http://schemas.microsoft.com/office/powerpoint/2010/main" val="246240230"/>
      </p:ext>
    </p:extLst>
  </p:cSld>
</p:sld>
</file>

<file path=ppt/slides/slide1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BCE20C-0C65-4DF8-A8D2-21D16F3540D3}"/>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3BC4F4-0FC8-4CA8-A49F-5304F79147E7}"/>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MFA va mobil biometrik tasdiq</a:t>
            </a:r>
          </a:p>
        </p:txBody>
      </p:sp>
      <p:sp>
        <p:nvSpPr>
          <p:cNvPr id="3" name="">
            <a:extLst xmlns:a="http://schemas.openxmlformats.org/drawingml/2006/main">
              <a:ext uri="{FF2B5EF4-FFF2-40B4-BE49-F238E27FC236}">
                <a16:creationId xmlns:a16="http://schemas.microsoft.com/office/drawing/2014/main" id="{BFEAE1A4-0D62-4434-B8CA-4BA4D6EF74FD}"/>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MFA bilim, egalik va biometrik omillarni tegishli siyosat asosida birlashtiradi.</a:t>
            </a:r>
          </a:p>
        </p:txBody>
      </p:sp>
      <p:sp>
        <p:nvSpPr>
          <p:cNvPr id="4" name="">
            <a:extLst xmlns:a="http://schemas.openxmlformats.org/drawingml/2006/main">
              <a:ext uri="{FF2B5EF4-FFF2-40B4-BE49-F238E27FC236}">
                <a16:creationId xmlns:a16="http://schemas.microsoft.com/office/drawing/2014/main" id="{D4F916B5-30B8-4146-A2DC-8AF8E0EB906F}"/>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[4] NIST SP 800-63B-4 / [10] auth / [11] agent</a:t>
            </a:r>
          </a:p>
        </p:txBody>
      </p:sp>
      <p:sp>
        <p:nvSpPr>
          <p:cNvPr id="5" name="">
            <a:extLst xmlns:a="http://schemas.openxmlformats.org/drawingml/2006/main">
              <a:ext uri="{FF2B5EF4-FFF2-40B4-BE49-F238E27FC236}">
                <a16:creationId xmlns:a16="http://schemas.microsoft.com/office/drawing/2014/main" id="{04F20119-A28A-44D1-9B9D-A988006481CE}"/>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18 / 25</a:t>
            </a:r>
          </a:p>
        </p:txBody>
      </p:sp>
      <p:pic>
        <p:nvPicPr>
          <p:cNvPr id="10" name="">
            <a:extLst xmlns:a="http://schemas.openxmlformats.org/drawingml/2006/main">
              <a:ext uri="{FF2B5EF4-FFF2-40B4-BE49-F238E27FC236}">
                <a16:creationId xmlns:a16="http://schemas.microsoft.com/office/drawing/2014/main" id="{C31B4EBB-5378-4E58-964B-B08E4D4F5607}"/>
              </a:ext>
            </a:extLst>
          </p:cNvPr>
          <p:cNvPicPr>
            <a:picLocks xmlns:a="http://schemas.openxmlformats.org/drawingml/2006/main" noChangeAspect="1"/>
          </p:cNvPicPr>
          <p:nvPr/>
        </p:nvPicPr>
        <p:blipFill>
          <a:blip xmlns:r="http://schemas.openxmlformats.org/officeDocument/2006/relationships" xmlns:a="http://schemas.openxmlformats.org/drawingml/2006/main" r:embed="R0367263dffdd4cfc"/>
          <a:stretch xmlns:a="http://schemas.openxmlformats.org/drawingml/2006/main"/>
        </p:blipFill>
        <p:spPr>
          <a:xfrm xmlns:a="http://schemas.openxmlformats.org/drawingml/2006/main">
            <a:off x="514350" y="1952772"/>
            <a:ext cx="1971675" cy="4266907"/>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FB320A4-38E7-46C3-A485-B50EA2416150}"/>
              </a:ext>
            </a:extLst>
          </p:cNvPr>
          <p:cNvPicPr>
            <a:picLocks xmlns:a="http://schemas.openxmlformats.org/drawingml/2006/main" noChangeAspect="1"/>
          </p:cNvPicPr>
          <p:nvPr/>
        </p:nvPicPr>
        <p:blipFill>
          <a:blip xmlns:r="http://schemas.openxmlformats.org/officeDocument/2006/relationships" xmlns:a="http://schemas.openxmlformats.org/drawingml/2006/main" r:embed="R05f566f2c7044616"/>
          <a:stretch xmlns:a="http://schemas.openxmlformats.org/drawingml/2006/main"/>
        </p:blipFill>
        <p:spPr>
          <a:xfrm xmlns:a="http://schemas.openxmlformats.org/drawingml/2006/main">
            <a:off x="2724150" y="1954457"/>
            <a:ext cx="1571625" cy="4263537"/>
          </a:xfrm>
          <a:prstGeom xmlns:a="http://schemas.openxmlformats.org/drawingml/2006/main" prst="rect">
            <a:avLst/>
          </a:prstGeom>
        </p:spPr>
      </p:pic>
      <p:sp>
        <p:nvSpPr>
          <p:cNvPr id="12" name="mfa-heading">
            <a:extLst xmlns:a="http://schemas.openxmlformats.org/drawingml/2006/main">
              <a:ext uri="{FF2B5EF4-FFF2-40B4-BE49-F238E27FC236}">
                <a16:creationId xmlns:a16="http://schemas.microsoft.com/office/drawing/2014/main" id="{784B5177-195A-44A6-822F-962B4A3D84FA}"/>
              </a:ext>
            </a:extLst>
          </p:cNvPr>
          <p:cNvSpPr>
            <a:spLocks xmlns:a="http://schemas.openxmlformats.org/drawingml/2006/main" noGrp="1"/>
          </p:cNvSpPr>
          <p:nvPr/>
        </p:nvSpPr>
        <p:spPr>
          <a:xfrm xmlns:a="http://schemas.openxmlformats.org/drawingml/2006/main">
            <a:off x="4876800" y="2076450"/>
            <a:ext cx="676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07F79"/>
                </a:solidFill>
                <a:latin typeface="Aptos"/>
                <a:ea typeface="Aptos"/>
                <a:cs typeface="Aptos"/>
              </a:defRPr>
            </a:defPPr>
          </a:lstStyle>
          <a:p xmlns:a="http://schemas.openxmlformats.org/drawingml/2006/main">
            <a:pPr>
              <a:defRPr sz="2175" b="1">
                <a:solidFill>
                  <a:srgbClr val="007F79"/>
                </a:solidFill>
                <a:latin typeface="Aptos"/>
                <a:ea typeface="Aptos"/>
                <a:cs typeface="Aptos"/>
              </a:defRPr>
            </a:pPr>
            <a:r>
              <a:rPr sz="2175" b="1">
                <a:solidFill>
                  <a:srgbClr val="007F79"/>
                </a:solidFill>
                <a:latin typeface="Aptos"/>
                <a:ea typeface="Aptos"/>
                <a:cs typeface="Aptos"/>
              </a:rPr>
              <a:t>Loyihadagi usullar</a:t>
            </a:r>
          </a:p>
        </p:txBody>
      </p:sp>
      <p:sp>
        <p:nvSpPr>
          <p:cNvPr id="13" name="mfa-body">
            <a:extLst xmlns:a="http://schemas.openxmlformats.org/drawingml/2006/main">
              <a:ext uri="{FF2B5EF4-FFF2-40B4-BE49-F238E27FC236}">
                <a16:creationId xmlns:a16="http://schemas.microsoft.com/office/drawing/2014/main" id="{33124AC9-F443-4399-8038-1BE71509C4B0}"/>
              </a:ext>
            </a:extLst>
          </p:cNvPr>
          <p:cNvSpPr>
            <a:spLocks xmlns:a="http://schemas.openxmlformats.org/drawingml/2006/main" noGrp="1"/>
          </p:cNvSpPr>
          <p:nvPr/>
        </p:nvSpPr>
        <p:spPr>
          <a:xfrm xmlns:a="http://schemas.openxmlformats.org/drawingml/2006/main">
            <a:off x="4876800" y="2714625"/>
            <a:ext cx="6762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E3047"/>
                </a:solidFill>
                <a:latin typeface="Aptos"/>
                <a:ea typeface="Aptos"/>
                <a:cs typeface="Aptos"/>
              </a:defRPr>
            </a:defPPr>
          </a:lstStyle>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WebAuthn qurilma kaliti va foydalanuvchi tasdig‘ini tekshiradi.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Yuz usuli DeepFace orqali solishtirishni qo‘llaydi.</a:t>
            </a:r>
          </a:p>
          <a:p xmlns:a="http://schemas.openxmlformats.org/drawingml/2006/main">
            <a:r>
              <a:t/>
            </a:r>
          </a:p>
          <a:p xmlns:a="http://schemas.openxmlformats.org/drawingml/2006/main">
            <a:pPr>
              <a:defRPr sz="1875" b="0">
                <a:solidFill>
                  <a:srgbClr val="1E3047"/>
                </a:solidFill>
                <a:latin typeface="Aptos"/>
                <a:ea typeface="Aptos"/>
                <a:cs typeface="Aptos"/>
              </a:defRPr>
            </a:pPr>
            <a:r>
              <a:rPr sz="1875" b="0">
                <a:solidFill>
                  <a:srgbClr val="1E3047"/>
                </a:solidFill>
                <a:latin typeface="Aptos"/>
                <a:ea typeface="Aptos"/>
                <a:cs typeface="Aptos"/>
              </a:rPr>
              <a:t>Agent siyosatga qarab yuz yoki masofaviy usulni tanlaydi.</a:t>
            </a:r>
          </a:p>
        </p:txBody>
      </p:sp>
      <p:sp>
        <p:nvSpPr>
          <p:cNvPr id="14" name="mfa-limit">
            <a:extLst xmlns:a="http://schemas.openxmlformats.org/drawingml/2006/main">
              <a:ext uri="{FF2B5EF4-FFF2-40B4-BE49-F238E27FC236}">
                <a16:creationId xmlns:a16="http://schemas.microsoft.com/office/drawing/2014/main" id="{EFE24DA3-45DC-4EFA-B60A-742204DFCFBC}"/>
              </a:ext>
            </a:extLst>
          </p:cNvPr>
          <p:cNvSpPr>
            <a:spLocks xmlns:a="http://schemas.openxmlformats.org/drawingml/2006/main" noGrp="1"/>
          </p:cNvSpPr>
          <p:nvPr/>
        </p:nvSpPr>
        <p:spPr>
          <a:xfrm xmlns:a="http://schemas.openxmlformats.org/drawingml/2006/main">
            <a:off x="4876800" y="4972050"/>
            <a:ext cx="676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007F79"/>
                </a:solidFill>
                <a:latin typeface="Aptos"/>
                <a:ea typeface="Aptos"/>
                <a:cs typeface="Aptos"/>
              </a:defRPr>
            </a:defPPr>
          </a:lstStyle>
          <a:p xmlns:a="http://schemas.openxmlformats.org/drawingml/2006/main">
            <a:pPr>
              <a:defRPr sz="1800" b="1">
                <a:solidFill>
                  <a:srgbClr val="007F79"/>
                </a:solidFill>
                <a:latin typeface="Aptos"/>
                <a:ea typeface="Aptos"/>
                <a:cs typeface="Aptos"/>
              </a:defRPr>
            </a:pPr>
            <a:r>
              <a:rPr sz="1800" b="1">
                <a:solidFill>
                  <a:srgbClr val="007F79"/>
                </a:solidFill>
                <a:latin typeface="Aptos"/>
                <a:ea typeface="Aptos"/>
                <a:cs typeface="Aptos"/>
              </a:rPr>
              <a:t>Har kirishda ikki usulning majburiy ketma-ketligi hali ta’minlanmagan.</a:t>
            </a:r>
          </a:p>
        </p:txBody>
      </p:sp>
      <p:sp>
        <p:nvSpPr>
          <p:cNvPr id="15" name="mfa-photo-note">
            <a:extLst xmlns:a="http://schemas.openxmlformats.org/drawingml/2006/main">
              <a:ext uri="{FF2B5EF4-FFF2-40B4-BE49-F238E27FC236}">
                <a16:creationId xmlns:a16="http://schemas.microsoft.com/office/drawing/2014/main" id="{06170478-B032-4721-BC30-F42F88481945}"/>
              </a:ext>
            </a:extLst>
          </p:cNvPr>
          <p:cNvSpPr>
            <a:spLocks xmlns:a="http://schemas.openxmlformats.org/drawingml/2006/main" noGrp="1"/>
          </p:cNvSpPr>
          <p:nvPr/>
        </p:nvSpPr>
        <p:spPr>
          <a:xfrm xmlns:a="http://schemas.openxmlformats.org/drawingml/2006/main">
            <a:off x="4876800" y="5781675"/>
            <a:ext cx="676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76C82"/>
                </a:solidFill>
                <a:latin typeface="Aptos"/>
                <a:ea typeface="Aptos"/>
                <a:cs typeface="Aptos"/>
              </a:defRPr>
            </a:defPPr>
          </a:lstStyle>
          <a:p xmlns:a="http://schemas.openxmlformats.org/drawingml/2006/main">
            <a:pPr>
              <a:defRPr sz="1500" b="0">
                <a:solidFill>
                  <a:srgbClr val="576C82"/>
                </a:solidFill>
                <a:latin typeface="Aptos"/>
                <a:ea typeface="Aptos"/>
                <a:cs typeface="Aptos"/>
              </a:defRPr>
            </a:pPr>
            <a:r>
              <a:rPr sz="1500" b="0">
                <a:solidFill>
                  <a:srgbClr val="576C82"/>
                </a:solidFill>
                <a:latin typeface="Aptos"/>
                <a:ea typeface="Aptos"/>
                <a:cs typeface="Aptos"/>
              </a:rPr>
              <a:t>Mobil brauzer ekranlari. Fizik sensor va tiriklik tekshiruvi bajarilmagan. WebAuthn tasdig‘i PIN ham bo‘lishi mumkin.</a:t>
            </a:r>
          </a:p>
        </p:txBody>
      </p:sp>
    </p:spTree>
    <p:extLst>
      <p:ext uri="{BB962C8B-B14F-4D97-AF65-F5344CB8AC3E}">
        <p14:creationId xmlns:p14="http://schemas.microsoft.com/office/powerpoint/2010/main" val="1706473707"/>
      </p:ext>
    </p:extLst>
  </p:cSld>
</p:sld>
</file>

<file path=ppt/slides/slide1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BC7876C-9118-473F-97F2-CE65BB2E2469}"/>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4D3BC6-78D1-4A12-A37F-0E726E13EEFC}"/>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Agent va server orasidagi so‘rov himoyasi</a:t>
            </a:r>
          </a:p>
        </p:txBody>
      </p:sp>
      <p:sp>
        <p:nvSpPr>
          <p:cNvPr id="3" name="">
            <a:extLst xmlns:a="http://schemas.openxmlformats.org/drawingml/2006/main">
              <a:ext uri="{FF2B5EF4-FFF2-40B4-BE49-F238E27FC236}">
                <a16:creationId xmlns:a16="http://schemas.microsoft.com/office/drawing/2014/main" id="{C76AD944-361D-40C5-986A-D1AF003B1E1D}"/>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Server agentni kalit, vaqt va bir martalik qiymat (nonce) bo‘yicha tekshiradi.</a:t>
            </a:r>
          </a:p>
        </p:txBody>
      </p:sp>
      <p:sp>
        <p:nvSpPr>
          <p:cNvPr id="4" name="">
            <a:extLst xmlns:a="http://schemas.openxmlformats.org/drawingml/2006/main">
              <a:ext uri="{FF2B5EF4-FFF2-40B4-BE49-F238E27FC236}">
                <a16:creationId xmlns:a16="http://schemas.microsoft.com/office/drawing/2014/main" id="{355E0334-A813-48B2-8469-1265B22933D5}"/>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100E3A9E-D097-4426-8A09-50D61552F3EA}"/>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19 / 25</a:t>
            </a:r>
          </a:p>
        </p:txBody>
      </p:sp>
      <p:graphicFrame>
        <p:nvGraphicFramePr>
          <p:cNvPr id="18" name="">
            <a:extLst xmlns:a="http://schemas.openxmlformats.org/drawingml/2006/main">
              <a:ext uri="{FF2B5EF4-FFF2-40B4-BE49-F238E27FC236}">
                <a16:creationId xmlns:a16="http://schemas.microsoft.com/office/drawing/2014/main" id="{7FB40965-CEB5-440E-8FA6-C830A6D87B7A}"/>
              </a:ext>
            </a:extLst>
          </p:cNvPr>
          <p:cNvGraphicFramePr/>
          <p:nvPr/>
        </p:nvGraphicFramePr>
        <p:xfrm>
          <a:off xmlns:a="http://schemas.openxmlformats.org/drawingml/2006/main" x="514350" y="2105025"/>
          <a:ext xmlns:a="http://schemas.openxmlformats.org/drawingml/2006/main" cx="11163300" cy="3333750"/>
        </p:xfrm>
        <a:graphic xmlns:a="http://schemas.openxmlformats.org/drawingml/2006/main">
          <a:graphicData uri="http://schemas.openxmlformats.org/drawingml/2006/table">
            <a:tbl>
              <a:tblPr/>
              <a:tblGrid>
                <a:gridCol w="2762250"/>
                <a:gridCol w="4381500"/>
                <a:gridCol w="4019550"/>
              </a:tblGrid>
              <a:tr h="666750">
                <a:tc>
                  <a:txBody>
                    <a:bodyPr/>
                    <a:lstStyle/>
                    <a:p>
                      <a:r>
                        <a:rPr sz="1650" b="1">
                          <a:solidFill>
                            <a:srgbClr val="FFFFFF"/>
                          </a:solidFill>
                          <a:latin typeface="Aptos"/>
                          <a:ea typeface="Aptos"/>
                          <a:cs typeface="Aptos"/>
                        </a:rPr>
                        <a:t>Himoya</a:t>
                      </a:r>
                    </a:p>
                  </a:txBody>
                  <a:tcPr marL="114300" marR="114300" marT="76200" marB="7620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Tekshiriladigan ma’lumot</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Maqsad</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666750">
                <a:tc>
                  <a:txBody>
                    <a:bodyPr/>
                    <a:lstStyle/>
                    <a:p>
                      <a:r>
                        <a:rPr sz="1725" b="0">
                          <a:solidFill>
                            <a:srgbClr val="1E3047"/>
                          </a:solidFill>
                          <a:latin typeface="Aptos"/>
                          <a:ea typeface="Aptos"/>
                          <a:cs typeface="Aptos"/>
                        </a:rPr>
                        <a:t>RSA-PSS / SHA-256</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Kalit va so‘rov imzosi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Agent so‘rovining yaxlitligi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66750">
                <a:tc>
                  <a:txBody>
                    <a:bodyPr/>
                    <a:lstStyle/>
                    <a:p>
                      <a:r>
                        <a:rPr sz="1725" b="0">
                          <a:solidFill>
                            <a:srgbClr val="1E3047"/>
                          </a:solidFill>
                          <a:latin typeface="Aptos"/>
                          <a:ea typeface="Aptos"/>
                          <a:cs typeface="Aptos"/>
                        </a:rPr>
                        <a:t>Vaqt chegarasi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Timestamp</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Juda eski so‘rovni rad etish</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666750">
                <a:tc>
                  <a:txBody>
                    <a:bodyPr/>
                    <a:lstStyle/>
                    <a:p>
                      <a:r>
                        <a:rPr sz="1725" b="0">
                          <a:solidFill>
                            <a:srgbClr val="1E3047"/>
                          </a:solidFill>
                          <a:latin typeface="Aptos"/>
                          <a:ea typeface="Aptos"/>
                          <a:cs typeface="Aptos"/>
                        </a:rPr>
                        <a:t>Bir martalik nonce</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Sertifikat va nonce jufti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Takroriy yuborishni rad etish</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66750">
                <a:tc>
                  <a:txBody>
                    <a:bodyPr/>
                    <a:lstStyle/>
                    <a:p>
                      <a:r>
                        <a:rPr sz="1725" b="0">
                          <a:solidFill>
                            <a:srgbClr val="1E3047"/>
                          </a:solidFill>
                          <a:latin typeface="Aptos"/>
                          <a:ea typeface="Aptos"/>
                          <a:cs typeface="Aptos"/>
                        </a:rPr>
                        <a:t>Tashkilot tekshiruvi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Qurilma va organization</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Kompaniya chegarasini saqlash</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bl>
          </a:graphicData>
        </a:graphic>
      </p:graphicFrame>
      <p:sp>
        <p:nvSpPr>
          <p:cNvPr id="19" name="signature-details">
            <a:extLst xmlns:a="http://schemas.openxmlformats.org/drawingml/2006/main">
              <a:ext uri="{FF2B5EF4-FFF2-40B4-BE49-F238E27FC236}">
                <a16:creationId xmlns:a16="http://schemas.microsoft.com/office/drawing/2014/main" id="{D3A361CE-CCD6-4750-B1EC-52F1983429BA}"/>
              </a:ext>
            </a:extLst>
          </p:cNvPr>
          <p:cNvSpPr>
            <a:spLocks xmlns:a="http://schemas.openxmlformats.org/drawingml/2006/main" noGrp="1"/>
          </p:cNvSpPr>
          <p:nvPr/>
        </p:nvSpPr>
        <p:spPr>
          <a:xfrm xmlns:a="http://schemas.openxmlformats.org/drawingml/2006/main">
            <a:off x="514350" y="5772150"/>
            <a:ext cx="11163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007F79"/>
                </a:solidFill>
                <a:latin typeface="Aptos"/>
                <a:ea typeface="Aptos"/>
                <a:cs typeface="Aptos"/>
              </a:defRPr>
            </a:defPPr>
          </a:lstStyle>
          <a:p xmlns:a="http://schemas.openxmlformats.org/drawingml/2006/main">
            <a:pPr>
              <a:defRPr sz="1650" b="0">
                <a:solidFill>
                  <a:srgbClr val="007F79"/>
                </a:solidFill>
                <a:latin typeface="Aptos"/>
                <a:ea typeface="Aptos"/>
                <a:cs typeface="Aptos"/>
              </a:defRPr>
            </a:pPr>
            <a:r>
              <a:rPr sz="1650" b="0">
                <a:solidFill>
                  <a:srgbClr val="007F79"/>
                </a:solidFill>
                <a:latin typeface="Aptos"/>
                <a:ea typeface="Aptos"/>
                <a:cs typeface="Aptos"/>
              </a:rPr>
              <a:t>Imzo HTTP usuli, so‘rov yo‘li va tananing xeshini ham qamrab oladi. TLS alohida sozlanadi.</a:t>
            </a:r>
          </a:p>
        </p:txBody>
      </p:sp>
    </p:spTree>
    <p:extLst>
      <p:ext uri="{BB962C8B-B14F-4D97-AF65-F5344CB8AC3E}">
        <p14:creationId xmlns:p14="http://schemas.microsoft.com/office/powerpoint/2010/main" val="1897026611"/>
      </p:ext>
    </p:extLst>
  </p:cSld>
</p:sld>
</file>

<file path=ppt/slides/slide2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FCFFDC-DAC0-4789-A7EC-D892F0D19364}"/>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E09C86-2A48-482C-A244-F1485A1F2A4D}"/>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Audit jurnali va agent monitoringi</a:t>
            </a:r>
          </a:p>
        </p:txBody>
      </p:sp>
      <p:sp>
        <p:nvSpPr>
          <p:cNvPr id="3" name="">
            <a:extLst xmlns:a="http://schemas.openxmlformats.org/drawingml/2006/main">
              <a:ext uri="{FF2B5EF4-FFF2-40B4-BE49-F238E27FC236}">
                <a16:creationId xmlns:a16="http://schemas.microsoft.com/office/drawing/2014/main" id="{65EF2DF0-E8C1-4A2F-8D96-59EA6995D65B}"/>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Agent davriy heartbeat (aloqa signali) yuboradi. Server holatni qayd etadi.</a:t>
            </a:r>
          </a:p>
        </p:txBody>
      </p:sp>
      <p:sp>
        <p:nvSpPr>
          <p:cNvPr id="4" name="">
            <a:extLst xmlns:a="http://schemas.openxmlformats.org/drawingml/2006/main">
              <a:ext uri="{FF2B5EF4-FFF2-40B4-BE49-F238E27FC236}">
                <a16:creationId xmlns:a16="http://schemas.microsoft.com/office/drawing/2014/main" id="{ED929B68-118F-44DB-B07E-19D34F54D46A}"/>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1EA217FB-8114-494C-A67C-99C48DED6937}"/>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20 / 25</a:t>
            </a:r>
          </a:p>
        </p:txBody>
      </p:sp>
      <p:graphicFrame>
        <p:nvGraphicFramePr>
          <p:cNvPr id="14" name="">
            <a:extLst xmlns:a="http://schemas.openxmlformats.org/drawingml/2006/main">
              <a:ext uri="{FF2B5EF4-FFF2-40B4-BE49-F238E27FC236}">
                <a16:creationId xmlns:a16="http://schemas.microsoft.com/office/drawing/2014/main" id="{65AB84D6-4476-4689-A7DF-00BAC11307D9}"/>
              </a:ext>
            </a:extLst>
          </p:cNvPr>
          <p:cNvGraphicFramePr/>
          <p:nvPr/>
        </p:nvGraphicFramePr>
        <p:xfrm>
          <a:off xmlns:a="http://schemas.openxmlformats.org/drawingml/2006/main" x="514350" y="2105025"/>
          <a:ext xmlns:a="http://schemas.openxmlformats.org/drawingml/2006/main" cx="11163300" cy="3333750"/>
        </p:xfrm>
        <a:graphic xmlns:a="http://schemas.openxmlformats.org/drawingml/2006/main">
          <a:graphicData uri="http://schemas.openxmlformats.org/drawingml/2006/table">
            <a:tbl>
              <a:tblPr/>
              <a:tblGrid>
                <a:gridCol w="2857500"/>
                <a:gridCol w="3733800"/>
                <a:gridCol w="4572000"/>
              </a:tblGrid>
              <a:tr h="666750">
                <a:tc>
                  <a:txBody>
                    <a:bodyPr/>
                    <a:lstStyle/>
                    <a:p>
                      <a:r>
                        <a:rPr sz="1650" b="1">
                          <a:solidFill>
                            <a:srgbClr val="FFFFFF"/>
                          </a:solidFill>
                          <a:latin typeface="Aptos"/>
                          <a:ea typeface="Aptos"/>
                          <a:cs typeface="Aptos"/>
                        </a:rPr>
                        <a:t>Hodisa</a:t>
                      </a:r>
                    </a:p>
                  </a:txBody>
                  <a:tcPr marL="114300" marR="114300" marT="76200" marB="7620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Qayd etiladigan dalil</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Talqin</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666750">
                <a:tc>
                  <a:txBody>
                    <a:bodyPr/>
                    <a:lstStyle/>
                    <a:p>
                      <a:r>
                        <a:rPr sz="1725" b="0">
                          <a:solidFill>
                            <a:srgbClr val="1E3047"/>
                          </a:solidFill>
                          <a:latin typeface="Aptos"/>
                          <a:ea typeface="Aptos"/>
                          <a:cs typeface="Aptos"/>
                        </a:rPr>
                        <a:t>PC tasdiqlanishi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Tashkilot va qurilma yozuvi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Administrator PC’ni biriktirdi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66750">
                <a:tc>
                  <a:txBody>
                    <a:bodyPr/>
                    <a:lstStyle/>
                    <a:p>
                      <a:r>
                        <a:rPr sz="1725" b="0">
                          <a:solidFill>
                            <a:srgbClr val="1E3047"/>
                          </a:solidFill>
                          <a:latin typeface="Aptos"/>
                          <a:ea typeface="Aptos"/>
                          <a:cs typeface="Aptos"/>
                        </a:rPr>
                        <a:t>Agent aktivatsiyasi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Kalit va sertifikat holati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Qurilma imzoli so‘rovga tayyor</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666750">
                <a:tc>
                  <a:txBody>
                    <a:bodyPr/>
                    <a:lstStyle/>
                    <a:p>
                      <a:r>
                        <a:rPr sz="1725" b="0">
                          <a:solidFill>
                            <a:srgbClr val="1E3047"/>
                          </a:solidFill>
                          <a:latin typeface="Aptos"/>
                          <a:ea typeface="Aptos"/>
                          <a:cs typeface="Aptos"/>
                        </a:rPr>
                        <a:t>Heartbeat yo‘qligi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Oxirgi aloqa vaqti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Tarmoq yoki quvvat uzilgan bo‘lishi mumkin</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66750">
                <a:tc>
                  <a:txBody>
                    <a:bodyPr/>
                    <a:lstStyle/>
                    <a:p>
                      <a:r>
                        <a:rPr sz="1725" b="0">
                          <a:solidFill>
                            <a:srgbClr val="1E3047"/>
                          </a:solidFill>
                          <a:latin typeface="Aptos"/>
                          <a:ea typeface="Aptos"/>
                          <a:cs typeface="Aptos"/>
                        </a:rPr>
                        <a:t>Qurilma bekor qilinishi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Sabab, mas’ul va vaqt</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Eski ruxsat qayta baholandi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bl>
          </a:graphicData>
        </a:graphic>
      </p:graphicFrame>
      <p:sp>
        <p:nvSpPr>
          <p:cNvPr id="15" name="monitoring-note">
            <a:extLst xmlns:a="http://schemas.openxmlformats.org/drawingml/2006/main">
              <a:ext uri="{FF2B5EF4-FFF2-40B4-BE49-F238E27FC236}">
                <a16:creationId xmlns:a16="http://schemas.microsoft.com/office/drawing/2014/main" id="{10BC4667-FA84-4C74-9C8F-DAFDD4B53F5E}"/>
              </a:ext>
            </a:extLst>
          </p:cNvPr>
          <p:cNvSpPr>
            <a:spLocks xmlns:a="http://schemas.openxmlformats.org/drawingml/2006/main" noGrp="1"/>
          </p:cNvSpPr>
          <p:nvPr/>
        </p:nvSpPr>
        <p:spPr>
          <a:xfrm xmlns:a="http://schemas.openxmlformats.org/drawingml/2006/main">
            <a:off x="514350" y="5781675"/>
            <a:ext cx="11163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007F79"/>
                </a:solidFill>
                <a:latin typeface="Aptos"/>
                <a:ea typeface="Aptos"/>
                <a:cs typeface="Aptos"/>
              </a:defRPr>
            </a:defPPr>
          </a:lstStyle>
          <a:p xmlns:a="http://schemas.openxmlformats.org/drawingml/2006/main">
            <a:pPr>
              <a:defRPr sz="1650" b="0">
                <a:solidFill>
                  <a:srgbClr val="007F79"/>
                </a:solidFill>
                <a:latin typeface="Aptos"/>
                <a:ea typeface="Aptos"/>
                <a:cs typeface="Aptos"/>
              </a:defRPr>
            </a:pPr>
            <a:r>
              <a:rPr sz="1650" b="0">
                <a:solidFill>
                  <a:srgbClr val="007F79"/>
                </a:solidFill>
                <a:latin typeface="Aptos"/>
                <a:ea typeface="Aptos"/>
                <a:cs typeface="Aptos"/>
              </a:rPr>
              <a:t>Birinchi heartbeatdan keyin 120 soniya aloqa bo‘lmasa, server uzilish holatini belgilaydi.</a:t>
            </a:r>
          </a:p>
        </p:txBody>
      </p:sp>
    </p:spTree>
    <p:extLst>
      <p:ext uri="{BB962C8B-B14F-4D97-AF65-F5344CB8AC3E}">
        <p14:creationId xmlns:p14="http://schemas.microsoft.com/office/powerpoint/2010/main" val="346923263"/>
      </p:ext>
    </p:extLst>
  </p:cSld>
</p:sld>
</file>

<file path=ppt/slides/slide2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089AF0-F678-4DBB-B6EA-D31F41BBCF21}"/>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30B2C3-3248-4CCF-99D2-CB0F5EEBC9A2}"/>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Qurilma ruxsatini bekor qilish</a:t>
            </a:r>
          </a:p>
        </p:txBody>
      </p:sp>
      <p:sp>
        <p:nvSpPr>
          <p:cNvPr id="3" name="">
            <a:extLst xmlns:a="http://schemas.openxmlformats.org/drawingml/2006/main">
              <a:ext uri="{FF2B5EF4-FFF2-40B4-BE49-F238E27FC236}">
                <a16:creationId xmlns:a16="http://schemas.microsoft.com/office/drawing/2014/main" id="{CA79BEF8-B665-4E62-8AF0-34358FF12BB0}"/>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PC foydalanishdan chiqsa yoki agentni olib tashlash kerak bo‘lsa, serverdagi kalit ham bekor qilinadi.</a:t>
            </a:r>
          </a:p>
        </p:txBody>
      </p:sp>
      <p:sp>
        <p:nvSpPr>
          <p:cNvPr id="4" name="">
            <a:extLst xmlns:a="http://schemas.openxmlformats.org/drawingml/2006/main">
              <a:ext uri="{FF2B5EF4-FFF2-40B4-BE49-F238E27FC236}">
                <a16:creationId xmlns:a16="http://schemas.microsoft.com/office/drawing/2014/main" id="{74773FDB-44B9-4636-AA37-90FB25460802}"/>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07FB898A-4BBD-4DFA-A672-A1AF747A9090}"/>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21 / 25</a:t>
            </a:r>
          </a:p>
        </p:txBody>
      </p:sp>
      <p:graphicFrame>
        <p:nvGraphicFramePr>
          <p:cNvPr id="10" name="">
            <a:extLst xmlns:a="http://schemas.openxmlformats.org/drawingml/2006/main">
              <a:ext uri="{FF2B5EF4-FFF2-40B4-BE49-F238E27FC236}">
                <a16:creationId xmlns:a16="http://schemas.microsoft.com/office/drawing/2014/main" id="{6AE30381-50E6-4AE7-99BC-AE48919C9024}"/>
              </a:ext>
            </a:extLst>
          </p:cNvPr>
          <p:cNvGraphicFramePr/>
          <p:nvPr/>
        </p:nvGraphicFramePr>
        <p:xfrm>
          <a:off xmlns:a="http://schemas.openxmlformats.org/drawingml/2006/main" x="514350" y="2105025"/>
          <a:ext xmlns:a="http://schemas.openxmlformats.org/drawingml/2006/main" cx="11163300" cy="3476625"/>
        </p:xfrm>
        <a:graphic xmlns:a="http://schemas.openxmlformats.org/drawingml/2006/main">
          <a:graphicData uri="http://schemas.openxmlformats.org/drawingml/2006/table">
            <a:tbl>
              <a:tblPr/>
              <a:tblGrid>
                <a:gridCol w="2095500"/>
                <a:gridCol w="4667250"/>
                <a:gridCol w="4400550"/>
              </a:tblGrid>
              <a:tr h="579438">
                <a:tc>
                  <a:txBody>
                    <a:bodyPr/>
                    <a:lstStyle/>
                    <a:p>
                      <a:r>
                        <a:rPr sz="1650" b="1">
                          <a:solidFill>
                            <a:srgbClr val="FFFFFF"/>
                          </a:solidFill>
                          <a:latin typeface="Aptos"/>
                          <a:ea typeface="Aptos"/>
                          <a:cs typeface="Aptos"/>
                        </a:rPr>
                        <a:t>Bosqich</a:t>
                      </a:r>
                    </a:p>
                  </a:txBody>
                  <a:tcPr marL="114300" marR="114300" marT="76200" marB="7620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Amal</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Natija</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579438">
                <a:tc>
                  <a:txBody>
                    <a:bodyPr/>
                    <a:lstStyle/>
                    <a:p>
                      <a:r>
                        <a:rPr sz="1725" b="0">
                          <a:solidFill>
                            <a:srgbClr val="1E3047"/>
                          </a:solidFill>
                          <a:latin typeface="Aptos"/>
                          <a:ea typeface="Aptos"/>
                          <a:cs typeface="Aptos"/>
                        </a:rPr>
                        <a:t>1. Asos</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Sabab va mas’ulni qayd etish</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Bekor qilishga asos mavjud</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579438">
                <a:tc>
                  <a:txBody>
                    <a:bodyPr/>
                    <a:lstStyle/>
                    <a:p>
                      <a:r>
                        <a:rPr sz="1725" b="0">
                          <a:solidFill>
                            <a:srgbClr val="1E3047"/>
                          </a:solidFill>
                          <a:latin typeface="Aptos"/>
                          <a:ea typeface="Aptos"/>
                          <a:cs typeface="Aptos"/>
                        </a:rPr>
                        <a:t>2. Kod</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Qurilmaga bog‘langan removal code</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Cheklangan muddatli ruxsat</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579438">
                <a:tc>
                  <a:txBody>
                    <a:bodyPr/>
                    <a:lstStyle/>
                    <a:p>
                      <a:r>
                        <a:rPr sz="1725" b="0">
                          <a:solidFill>
                            <a:srgbClr val="1E3047"/>
                          </a:solidFill>
                          <a:latin typeface="Aptos"/>
                          <a:ea typeface="Aptos"/>
                          <a:cs typeface="Aptos"/>
                        </a:rPr>
                        <a:t>3. Tekshirish</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Agent serverga imzoli so‘rov yuboradi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Server bilan tekshirish va kod sarfi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579438">
                <a:tc>
                  <a:txBody>
                    <a:bodyPr/>
                    <a:lstStyle/>
                    <a:p>
                      <a:r>
                        <a:rPr sz="1725" b="0">
                          <a:solidFill>
                            <a:srgbClr val="1E3047"/>
                          </a:solidFill>
                          <a:latin typeface="Aptos"/>
                          <a:ea typeface="Aptos"/>
                          <a:cs typeface="Aptos"/>
                        </a:rPr>
                        <a:t>4. Bekor qilish</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Server sertifikatni bekor qiladi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Eski kalit bilan so‘rovlar rad etiladi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579438">
                <a:tc>
                  <a:txBody>
                    <a:bodyPr/>
                    <a:lstStyle/>
                    <a:p>
                      <a:r>
                        <a:rPr sz="1725" b="0">
                          <a:solidFill>
                            <a:srgbClr val="1E3047"/>
                          </a:solidFill>
                          <a:latin typeface="Aptos"/>
                          <a:ea typeface="Aptos"/>
                          <a:cs typeface="Aptos"/>
                        </a:rPr>
                        <a:t>5. Yakun</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Lokal tozalash va natija qaydi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Auditda yakuniy holat saqlanadi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bl>
          </a:graphicData>
        </a:graphic>
      </p:graphicFrame>
      <p:sp>
        <p:nvSpPr>
          <p:cNvPr id="11" name="removal-note">
            <a:extLst xmlns:a="http://schemas.openxmlformats.org/drawingml/2006/main">
              <a:ext uri="{FF2B5EF4-FFF2-40B4-BE49-F238E27FC236}">
                <a16:creationId xmlns:a16="http://schemas.microsoft.com/office/drawing/2014/main" id="{E34A941B-B0FC-4FEB-9CFA-619DEF9ED4ED}"/>
              </a:ext>
            </a:extLst>
          </p:cNvPr>
          <p:cNvSpPr>
            <a:spLocks xmlns:a="http://schemas.openxmlformats.org/drawingml/2006/main" noGrp="1"/>
          </p:cNvSpPr>
          <p:nvPr/>
        </p:nvSpPr>
        <p:spPr>
          <a:xfrm xmlns:a="http://schemas.openxmlformats.org/drawingml/2006/main">
            <a:off x="514350" y="5819775"/>
            <a:ext cx="11163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007F79"/>
                </a:solidFill>
                <a:latin typeface="Aptos"/>
                <a:ea typeface="Aptos"/>
                <a:cs typeface="Aptos"/>
              </a:defRPr>
            </a:defPPr>
          </a:lstStyle>
          <a:p xmlns:a="http://schemas.openxmlformats.org/drawingml/2006/main">
            <a:pPr>
              <a:defRPr sz="1650" b="0">
                <a:solidFill>
                  <a:srgbClr val="007F79"/>
                </a:solidFill>
                <a:latin typeface="Aptos"/>
                <a:ea typeface="Aptos"/>
                <a:cs typeface="Aptos"/>
              </a:defRPr>
            </a:pPr>
            <a:r>
              <a:rPr sz="1650" b="0">
                <a:solidFill>
                  <a:srgbClr val="007F79"/>
                </a:solidFill>
                <a:latin typeface="Aptos"/>
                <a:ea typeface="Aptos"/>
                <a:cs typeface="Aptos"/>
              </a:rPr>
              <a:t>Olib tashlash kodi 10 daqiqa amal qiladi. Windowsda to‘liq olib tashlash sinovi hali kerak.</a:t>
            </a:r>
          </a:p>
        </p:txBody>
      </p:sp>
    </p:spTree>
    <p:extLst>
      <p:ext uri="{BB962C8B-B14F-4D97-AF65-F5344CB8AC3E}">
        <p14:creationId xmlns:p14="http://schemas.microsoft.com/office/powerpoint/2010/main" val="1160381760"/>
      </p:ext>
    </p:extLst>
  </p:cSld>
</p:sld>
</file>

<file path=ppt/slides/slide2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C26E466-3F92-452B-B0E3-D95D45037275}"/>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7D14A1-C4E9-438F-AD70-573343216F24}"/>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Qoldiq xavflar va joriy cheklovlar</a:t>
            </a:r>
          </a:p>
        </p:txBody>
      </p:sp>
      <p:sp>
        <p:nvSpPr>
          <p:cNvPr id="3" name="">
            <a:extLst xmlns:a="http://schemas.openxmlformats.org/drawingml/2006/main">
              <a:ext uri="{FF2B5EF4-FFF2-40B4-BE49-F238E27FC236}">
                <a16:creationId xmlns:a16="http://schemas.microsoft.com/office/drawing/2014/main" id="{A73100F5-E8B2-4968-B4AE-B652C581E81B}"/>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Nazorat vositalari ayrim xavflarni kamaytiradi. Quyidagi cheklovlar qo‘shimcha ish talab qiladi.</a:t>
            </a:r>
          </a:p>
        </p:txBody>
      </p:sp>
      <p:sp>
        <p:nvSpPr>
          <p:cNvPr id="4" name="">
            <a:extLst xmlns:a="http://schemas.openxmlformats.org/drawingml/2006/main">
              <a:ext uri="{FF2B5EF4-FFF2-40B4-BE49-F238E27FC236}">
                <a16:creationId xmlns:a16="http://schemas.microsoft.com/office/drawing/2014/main" id="{4B65C737-750D-487C-B8FB-8F1290C69B75}"/>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E71C14CD-CF0B-475B-84DC-863486553559}"/>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22 / 25</a:t>
            </a:r>
          </a:p>
        </p:txBody>
      </p:sp>
      <p:graphicFrame>
        <p:nvGraphicFramePr>
          <p:cNvPr id="17" name="">
            <a:extLst xmlns:a="http://schemas.openxmlformats.org/drawingml/2006/main">
              <a:ext uri="{FF2B5EF4-FFF2-40B4-BE49-F238E27FC236}">
                <a16:creationId xmlns:a16="http://schemas.microsoft.com/office/drawing/2014/main" id="{34C982A0-6FBA-452A-AB93-B46B657AAE63}"/>
              </a:ext>
            </a:extLst>
          </p:cNvPr>
          <p:cNvGraphicFramePr/>
          <p:nvPr/>
        </p:nvGraphicFramePr>
        <p:xfrm>
          <a:off xmlns:a="http://schemas.openxmlformats.org/drawingml/2006/main" x="514350" y="2105025"/>
          <a:ext xmlns:a="http://schemas.openxmlformats.org/drawingml/2006/main" cx="11163300" cy="3381375"/>
        </p:xfrm>
        <a:graphic xmlns:a="http://schemas.openxmlformats.org/drawingml/2006/main">
          <a:graphicData uri="http://schemas.openxmlformats.org/drawingml/2006/table">
            <a:tbl>
              <a:tblPr/>
              <a:tblGrid>
                <a:gridCol w="3143250"/>
                <a:gridCol w="3733800"/>
                <a:gridCol w="4286250"/>
              </a:tblGrid>
              <a:tr h="676275">
                <a:tc>
                  <a:txBody>
                    <a:bodyPr/>
                    <a:lstStyle/>
                    <a:p>
                      <a:r>
                        <a:rPr sz="1650" b="1">
                          <a:solidFill>
                            <a:srgbClr val="FFFFFF"/>
                          </a:solidFill>
                          <a:latin typeface="Aptos"/>
                          <a:ea typeface="Aptos"/>
                          <a:cs typeface="Aptos"/>
                        </a:rPr>
                        <a:t>Xavf</a:t>
                      </a:r>
                    </a:p>
                  </a:txBody>
                  <a:tcPr marL="114300" marR="114300" marT="76200" marB="7620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Mavjud chora</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Qolgan cheklov</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676275">
                <a:tc>
                  <a:txBody>
                    <a:bodyPr/>
                    <a:lstStyle/>
                    <a:p>
                      <a:r>
                        <a:rPr sz="1725" b="0">
                          <a:solidFill>
                            <a:srgbClr val="1E3047"/>
                          </a:solidFill>
                          <a:latin typeface="Aptos"/>
                          <a:ea typeface="Aptos"/>
                          <a:cs typeface="Aptos"/>
                        </a:rPr>
                        <a:t>So‘rovni qayta yuborish</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Imzo va bir martalik nonce</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Vaqt sinxronlash zarur</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76275">
                <a:tc>
                  <a:txBody>
                    <a:bodyPr/>
                    <a:lstStyle/>
                    <a:p>
                      <a:r>
                        <a:rPr sz="1725" b="0">
                          <a:solidFill>
                            <a:srgbClr val="1E3047"/>
                          </a:solidFill>
                          <a:latin typeface="Aptos"/>
                          <a:ea typeface="Aptos"/>
                          <a:cs typeface="Aptos"/>
                        </a:rPr>
                        <a:t>Lokal administrator aralashuvi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Imzoli server protokoli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Admin agentni to‘xtata oladi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676275">
                <a:tc>
                  <a:txBody>
                    <a:bodyPr/>
                    <a:lstStyle/>
                    <a:p>
                      <a:r>
                        <a:rPr sz="1725" b="0">
                          <a:solidFill>
                            <a:srgbClr val="1E3047"/>
                          </a:solidFill>
                          <a:latin typeface="Aptos"/>
                          <a:ea typeface="Aptos"/>
                          <a:cs typeface="Aptos"/>
                        </a:rPr>
                        <a:t>Yuz tasvirini soxtalashtirish</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Biometrik solishtirish</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Tiriklik va aniqlik mezonlari o‘lchanmagan</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76275">
                <a:tc>
                  <a:txBody>
                    <a:bodyPr/>
                    <a:lstStyle/>
                    <a:p>
                      <a:r>
                        <a:rPr sz="1725" b="0">
                          <a:solidFill>
                            <a:srgbClr val="1E3047"/>
                          </a:solidFill>
                          <a:latin typeface="Aptos"/>
                          <a:ea typeface="Aptos"/>
                          <a:cs typeface="Aptos"/>
                        </a:rPr>
                        <a:t>Server yoki tarmoq uzilishi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Holat va hodisa qaydi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Offline siyosatini kuchaytirish kerak</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bl>
          </a:graphicData>
        </a:graphic>
      </p:graphicFrame>
      <p:sp>
        <p:nvSpPr>
          <p:cNvPr id="18" name="risk-no-fake">
            <a:extLst xmlns:a="http://schemas.openxmlformats.org/drawingml/2006/main">
              <a:ext uri="{FF2B5EF4-FFF2-40B4-BE49-F238E27FC236}">
                <a16:creationId xmlns:a16="http://schemas.microsoft.com/office/drawing/2014/main" id="{4F28024E-14E3-4927-93FD-5B10A7E39AE2}"/>
              </a:ext>
            </a:extLst>
          </p:cNvPr>
          <p:cNvSpPr>
            <a:spLocks xmlns:a="http://schemas.openxmlformats.org/drawingml/2006/main" noGrp="1"/>
          </p:cNvSpPr>
          <p:nvPr/>
        </p:nvSpPr>
        <p:spPr>
          <a:xfrm xmlns:a="http://schemas.openxmlformats.org/drawingml/2006/main">
            <a:off x="514350" y="5800725"/>
            <a:ext cx="11163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007F79"/>
                </a:solidFill>
                <a:latin typeface="Aptos"/>
                <a:ea typeface="Aptos"/>
                <a:cs typeface="Aptos"/>
              </a:defRPr>
            </a:defPPr>
          </a:lstStyle>
          <a:p xmlns:a="http://schemas.openxmlformats.org/drawingml/2006/main">
            <a:pPr>
              <a:defRPr sz="1650" b="0">
                <a:solidFill>
                  <a:srgbClr val="007F79"/>
                </a:solidFill>
                <a:latin typeface="Aptos"/>
                <a:ea typeface="Aptos"/>
                <a:cs typeface="Aptos"/>
              </a:defRPr>
            </a:pPr>
            <a:r>
              <a:rPr sz="1650" b="0">
                <a:solidFill>
                  <a:srgbClr val="007F79"/>
                </a:solidFill>
                <a:latin typeface="Aptos"/>
                <a:ea typeface="Aptos"/>
                <a:cs typeface="Aptos"/>
              </a:rPr>
              <a:t>Xavf kamayishi foizi yoki biometrik aniqlik uchun o‘lchangan natija hozircha mavjud emas.</a:t>
            </a:r>
          </a:p>
        </p:txBody>
      </p:sp>
    </p:spTree>
    <p:extLst>
      <p:ext uri="{BB962C8B-B14F-4D97-AF65-F5344CB8AC3E}">
        <p14:creationId xmlns:p14="http://schemas.microsoft.com/office/powerpoint/2010/main" val="638373358"/>
      </p:ext>
    </p:extLst>
  </p:cSld>
</p:sld>
</file>

<file path=ppt/slides/slide2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DC0C43F-33B6-45B5-949A-38B81EE1827B}"/>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99118D-8E63-408F-B260-8762CD823F64}"/>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Qayd etilgan sinov natijalari</a:t>
            </a:r>
          </a:p>
        </p:txBody>
      </p:sp>
      <p:sp>
        <p:nvSpPr>
          <p:cNvPr id="3" name="">
            <a:extLst xmlns:a="http://schemas.openxmlformats.org/drawingml/2006/main">
              <a:ext uri="{FF2B5EF4-FFF2-40B4-BE49-F238E27FC236}">
                <a16:creationId xmlns:a16="http://schemas.microsoft.com/office/drawing/2014/main" id="{B468525F-127E-4DAF-B654-DA7E7640A6D9}"/>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Natijalar avvalgi mahalliy Linux tekshiruvlariga tegishli. Ular real korporativ yuklama sinovi emas.</a:t>
            </a:r>
          </a:p>
        </p:txBody>
      </p:sp>
      <p:sp>
        <p:nvSpPr>
          <p:cNvPr id="4" name="">
            <a:extLst xmlns:a="http://schemas.openxmlformats.org/drawingml/2006/main">
              <a:ext uri="{FF2B5EF4-FFF2-40B4-BE49-F238E27FC236}">
                <a16:creationId xmlns:a16="http://schemas.microsoft.com/office/drawing/2014/main" id="{BDC70484-4706-4225-9964-723FE492F7EF}"/>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1470F78E-444B-4C44-9B55-60A66E7F9BF5}"/>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23 / 25</a:t>
            </a:r>
          </a:p>
        </p:txBody>
      </p:sp>
      <p:graphicFrame>
        <p:nvGraphicFramePr>
          <p:cNvPr id="17" name="">
            <a:extLst xmlns:a="http://schemas.openxmlformats.org/drawingml/2006/main">
              <a:ext uri="{FF2B5EF4-FFF2-40B4-BE49-F238E27FC236}">
                <a16:creationId xmlns:a16="http://schemas.microsoft.com/office/drawing/2014/main" id="{8B158009-9904-4CE4-BF55-DBE5FCEE8AE1}"/>
              </a:ext>
            </a:extLst>
          </p:cNvPr>
          <p:cNvGraphicFramePr/>
          <p:nvPr/>
        </p:nvGraphicFramePr>
        <p:xfrm>
          <a:off xmlns:a="http://schemas.openxmlformats.org/drawingml/2006/main" x="514350" y="2105025"/>
          <a:ext xmlns:a="http://schemas.openxmlformats.org/drawingml/2006/main" cx="11163300" cy="3286125"/>
        </p:xfrm>
        <a:graphic xmlns:a="http://schemas.openxmlformats.org/drawingml/2006/main">
          <a:graphicData uri="http://schemas.openxmlformats.org/drawingml/2006/table">
            <a:tbl>
              <a:tblPr/>
              <a:tblGrid>
                <a:gridCol w="3048000"/>
                <a:gridCol w="3429000"/>
                <a:gridCol w="4686300"/>
              </a:tblGrid>
              <a:tr h="657225">
                <a:tc>
                  <a:txBody>
                    <a:bodyPr/>
                    <a:lstStyle/>
                    <a:p>
                      <a:r>
                        <a:rPr sz="1650" b="1">
                          <a:solidFill>
                            <a:srgbClr val="FFFFFF"/>
                          </a:solidFill>
                          <a:latin typeface="Aptos"/>
                          <a:ea typeface="Aptos"/>
                          <a:cs typeface="Aptos"/>
                        </a:rPr>
                        <a:t>Yo‘nalish</a:t>
                      </a:r>
                    </a:p>
                  </a:txBody>
                  <a:tcPr marL="114300" marR="114300" marT="76200" marB="76200" anchor="ctr">
                    <a:lnL w="9525">
                      <a:solidFill>
                        <a:srgbClr val="D9E2EC"/>
                      </a:solidFill>
                      <a:prstDash val="solid"/>
                    </a:lnL>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Natija</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c>
                  <a:txBody>
                    <a:bodyPr/>
                    <a:lstStyle/>
                    <a:p>
                      <a:r>
                        <a:rPr sz="1650" b="1">
                          <a:solidFill>
                            <a:srgbClr val="FFFFFF"/>
                          </a:solidFill>
                          <a:latin typeface="Aptos"/>
                          <a:ea typeface="Aptos"/>
                          <a:cs typeface="Aptos"/>
                        </a:rPr>
                        <a:t>Qamrov</a:t>
                      </a:r>
                    </a:p>
                  </a:txBody>
                  <a:tcPr marL="114300" marR="114300" marT="76200" marB="76200" anchor="ctr">
                    <a:lnR w="9525">
                      <a:solidFill>
                        <a:srgbClr val="D9E2EC"/>
                      </a:solidFill>
                      <a:prstDash val="solid"/>
                    </a:lnR>
                    <a:lnT w="9525">
                      <a:solidFill>
                        <a:srgbClr val="D9E2EC"/>
                      </a:solidFill>
                      <a:prstDash val="solid"/>
                    </a:lnT>
                    <a:lnB w="9525">
                      <a:solidFill>
                        <a:srgbClr val="D9E2EC"/>
                      </a:solidFill>
                      <a:prstDash val="solid"/>
                    </a:lnB>
                    <a:solidFill>
                      <a:srgbClr val="15283F"/>
                    </a:solidFill>
                  </a:tcPr>
                </a:tc>
              </a:tr>
              <a:tr h="657225">
                <a:tc>
                  <a:txBody>
                    <a:bodyPr/>
                    <a:lstStyle/>
                    <a:p>
                      <a:r>
                        <a:rPr sz="1725" b="0">
                          <a:solidFill>
                            <a:srgbClr val="1E3047"/>
                          </a:solidFill>
                          <a:latin typeface="Aptos"/>
                          <a:ea typeface="Aptos"/>
                          <a:cs typeface="Aptos"/>
                        </a:rPr>
                        <a:t>Backend</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82 ta test o‘tdi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API va tashkilot/agent tekshiruvlari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57225">
                <a:tc>
                  <a:txBody>
                    <a:bodyPr/>
                    <a:lstStyle/>
                    <a:p>
                      <a:r>
                        <a:rPr sz="1725" b="0">
                          <a:solidFill>
                            <a:srgbClr val="1E3047"/>
                          </a:solidFill>
                          <a:latin typeface="Aptos"/>
                          <a:ea typeface="Aptos"/>
                          <a:cs typeface="Aptos"/>
                        </a:rPr>
                        <a:t>Frontend</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11 ta test o‘tdi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Interfeysning unit testlari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r h="657225">
                <a:tc>
                  <a:txBody>
                    <a:bodyPr/>
                    <a:lstStyle/>
                    <a:p>
                      <a:r>
                        <a:rPr sz="1725" b="0">
                          <a:solidFill>
                            <a:srgbClr val="1E3047"/>
                          </a:solidFill>
                          <a:latin typeface="Aptos"/>
                          <a:ea typeface="Aptos"/>
                          <a:cs typeface="Aptos"/>
                        </a:rPr>
                        <a:t>Brauzer</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45 / 46 dastlab o‘tdi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c>
                  <a:txBody>
                    <a:bodyPr/>
                    <a:lstStyle/>
                    <a:p>
                      <a:r>
                        <a:rPr sz="1725" b="0">
                          <a:solidFill>
                            <a:srgbClr val="1E3047"/>
                          </a:solidFill>
                          <a:latin typeface="Aptos"/>
                          <a:ea typeface="Aptos"/>
                          <a:cs typeface="Aptos"/>
                        </a:rPr>
                        <a:t>Bitta timeout testi qayta urinishda o‘tdi</a:t>
                      </a:r>
                    </a:p>
                  </a:txBody>
                  <a:tcPr marL="114300" marR="114300" marT="76200" marB="76200" anchor="ctr">
                    <a:lnR w="9525">
                      <a:solidFill>
                        <a:srgbClr val="D9E2EC"/>
                      </a:solidFill>
                      <a:prstDash val="solid"/>
                    </a:lnR>
                    <a:lnB w="9525">
                      <a:solidFill>
                        <a:srgbClr val="D9E2EC"/>
                      </a:solidFill>
                      <a:prstDash val="solid"/>
                    </a:lnB>
                    <a:solidFill>
                      <a:srgbClr val="FFFFFF"/>
                    </a:solidFill>
                  </a:tcPr>
                </a:tc>
              </a:tr>
              <a:tr h="657225">
                <a:tc>
                  <a:txBody>
                    <a:bodyPr/>
                    <a:lstStyle/>
                    <a:p>
                      <a:r>
                        <a:rPr sz="1725" b="0">
                          <a:solidFill>
                            <a:srgbClr val="1E3047"/>
                          </a:solidFill>
                          <a:latin typeface="Aptos"/>
                          <a:ea typeface="Aptos"/>
                          <a:cs typeface="Aptos"/>
                        </a:rPr>
                        <a:t>Agentning umumiy modullari</a:t>
                      </a:r>
                    </a:p>
                  </a:txBody>
                  <a:tcPr marL="114300" marR="114300" marT="76200" marB="76200" anchor="ctr">
                    <a:lnL w="9525">
                      <a:solidFill>
                        <a:srgbClr val="D9E2EC"/>
                      </a:solidFill>
                      <a:prstDash val="solid"/>
                    </a:lnL>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37 o‘tdi, 1 o‘tkazib yuborildi</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c>
                  <a:txBody>
                    <a:bodyPr/>
                    <a:lstStyle/>
                    <a:p>
                      <a:r>
                        <a:rPr sz="1725" b="0">
                          <a:solidFill>
                            <a:srgbClr val="1E3047"/>
                          </a:solidFill>
                          <a:latin typeface="Aptos"/>
                          <a:ea typeface="Aptos"/>
                          <a:cs typeface="Aptos"/>
                        </a:rPr>
                        <a:t>Windowsga bog‘liq bo‘lmagan qismlar</a:t>
                      </a:r>
                    </a:p>
                  </a:txBody>
                  <a:tcPr marL="114300" marR="114300" marT="76200" marB="76200" anchor="ctr">
                    <a:lnR w="9525">
                      <a:solidFill>
                        <a:srgbClr val="D9E2EC"/>
                      </a:solidFill>
                      <a:prstDash val="solid"/>
                    </a:lnR>
                    <a:lnB w="9525">
                      <a:solidFill>
                        <a:srgbClr val="D9E2EC"/>
                      </a:solidFill>
                      <a:prstDash val="solid"/>
                    </a:lnB>
                    <a:solidFill>
                      <a:srgbClr val="EAF2F8"/>
                    </a:solidFill>
                  </a:tcPr>
                </a:tc>
              </a:tr>
            </a:tbl>
          </a:graphicData>
        </a:graphic>
      </p:graphicFrame>
      <p:sp>
        <p:nvSpPr>
          <p:cNvPr id="18" name="test-limit">
            <a:extLst xmlns:a="http://schemas.openxmlformats.org/drawingml/2006/main">
              <a:ext uri="{FF2B5EF4-FFF2-40B4-BE49-F238E27FC236}">
                <a16:creationId xmlns:a16="http://schemas.microsoft.com/office/drawing/2014/main" id="{D7C15A7D-AD87-4BA2-8D70-61E3E4A2C24E}"/>
              </a:ext>
            </a:extLst>
          </p:cNvPr>
          <p:cNvSpPr>
            <a:spLocks xmlns:a="http://schemas.openxmlformats.org/drawingml/2006/main" noGrp="1"/>
          </p:cNvSpPr>
          <p:nvPr/>
        </p:nvSpPr>
        <p:spPr>
          <a:xfrm xmlns:a="http://schemas.openxmlformats.org/drawingml/2006/main">
            <a:off x="514350" y="5743575"/>
            <a:ext cx="111633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007F79"/>
                </a:solidFill>
                <a:latin typeface="Aptos"/>
                <a:ea typeface="Aptos"/>
                <a:cs typeface="Aptos"/>
              </a:defRPr>
            </a:defPPr>
          </a:lstStyle>
          <a:p xmlns:a="http://schemas.openxmlformats.org/drawingml/2006/main">
            <a:pPr>
              <a:defRPr sz="1650" b="0">
                <a:solidFill>
                  <a:srgbClr val="007F79"/>
                </a:solidFill>
                <a:latin typeface="Aptos"/>
                <a:ea typeface="Aptos"/>
                <a:cs typeface="Aptos"/>
              </a:defRPr>
            </a:pPr>
            <a:r>
              <a:rPr sz="1650" b="0">
                <a:solidFill>
                  <a:srgbClr val="007F79"/>
                </a:solidFill>
                <a:latin typeface="Aptos"/>
                <a:ea typeface="Aptos"/>
                <a:cs typeface="Aptos"/>
              </a:rPr>
              <a:t>Agentning to‘liq to‘plami Linuxda 6 ta Windowsga bog‘liq xato berdi. Windowsdagi amaliy sinov alohida kerak.</a:t>
            </a:r>
          </a:p>
        </p:txBody>
      </p:sp>
    </p:spTree>
    <p:extLst>
      <p:ext uri="{BB962C8B-B14F-4D97-AF65-F5344CB8AC3E}">
        <p14:creationId xmlns:p14="http://schemas.microsoft.com/office/powerpoint/2010/main" val="1447292522"/>
      </p:ext>
    </p:extLst>
  </p:cSld>
</p:sld>
</file>

<file path=ppt/slides/slide2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E64833-40CF-44FE-AA8B-76EA2E078782}"/>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CB475E-B0CC-41CB-86F7-10C506E58C04}"/>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Natija va keyingi bosqichlar</a:t>
            </a:r>
          </a:p>
        </p:txBody>
      </p:sp>
      <p:sp>
        <p:nvSpPr>
          <p:cNvPr id="3" name="">
            <a:extLst xmlns:a="http://schemas.openxmlformats.org/drawingml/2006/main">
              <a:ext uri="{FF2B5EF4-FFF2-40B4-BE49-F238E27FC236}">
                <a16:creationId xmlns:a16="http://schemas.microsoft.com/office/drawing/2014/main" id="{8067FDD8-3A86-4629-B255-0DA06379C5D1}"/>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Kompaniya PC’larini markazdan boshqarish prototipi ishlab chiqilgan.</a:t>
            </a:r>
          </a:p>
        </p:txBody>
      </p:sp>
      <p:sp>
        <p:nvSpPr>
          <p:cNvPr id="4" name="">
            <a:extLst xmlns:a="http://schemas.openxmlformats.org/drawingml/2006/main">
              <a:ext uri="{FF2B5EF4-FFF2-40B4-BE49-F238E27FC236}">
                <a16:creationId xmlns:a16="http://schemas.microsoft.com/office/drawing/2014/main" id="{CAC51EDC-8C13-4C42-88B9-038CE1A6F714}"/>
              </a:ext>
            </a:extLst>
          </p:cNvPr>
          <p:cNvSpPr>
            <a:spLocks xmlns:a="http://schemas.openxmlformats.org/drawingml/2006/main" noGrp="1"/>
          </p:cNvSpPr>
          <p:nvPr/>
        </p:nvSpPr>
        <p:spPr>
          <a:xfrm xmlns:a="http://schemas.openxmlformats.org/drawingml/2006/main">
            <a:off x="514350" y="6438900"/>
            <a:ext cx="10382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0">
                <a:solidFill>
                  <a:srgbClr val="576C82"/>
                </a:solidFill>
                <a:latin typeface="Aptos"/>
                <a:ea typeface="Aptos"/>
                <a:cs typeface="Aptos"/>
              </a:defRPr>
            </a:defPPr>
          </a:lstStyle>
          <a:p xmlns:a="http://schemas.openxmlformats.org/drawingml/2006/main">
            <a:pPr algn="l">
              <a:buNone/>
              <a:defRPr sz="975" b="0">
                <a:solidFill>
                  <a:srgbClr val="576C82"/>
                </a:solidFill>
                <a:latin typeface="Aptos"/>
                <a:ea typeface="Aptos"/>
                <a:cs typeface="Aptos"/>
              </a:defRPr>
            </a:pPr>
            <a:r>
              <a:rPr sz="975" b="0">
                <a:solidFill>
                  <a:srgbClr val="576C82"/>
                </a:solidFill>
                <a:latin typeface="Aptos"/>
                <a:ea typeface="Aptos"/>
                <a:cs typeface="Aptos"/>
              </a:rPr>
              <a:t>Manba: [10] auth / [11] agent</a:t>
            </a:r>
          </a:p>
        </p:txBody>
      </p:sp>
      <p:sp>
        <p:nvSpPr>
          <p:cNvPr id="5" name="">
            <a:extLst xmlns:a="http://schemas.openxmlformats.org/drawingml/2006/main">
              <a:ext uri="{FF2B5EF4-FFF2-40B4-BE49-F238E27FC236}">
                <a16:creationId xmlns:a16="http://schemas.microsoft.com/office/drawing/2014/main" id="{71A3472D-827C-46F2-9AE4-149248993426}"/>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24 / 25</a:t>
            </a:r>
          </a:p>
        </p:txBody>
      </p:sp>
      <p:sp>
        <p:nvSpPr>
          <p:cNvPr id="15" name="result-heading">
            <a:extLst xmlns:a="http://schemas.openxmlformats.org/drawingml/2006/main">
              <a:ext uri="{FF2B5EF4-FFF2-40B4-BE49-F238E27FC236}">
                <a16:creationId xmlns:a16="http://schemas.microsoft.com/office/drawing/2014/main" id="{802228D5-3FEC-4E9D-AF47-C47C8250B29A}"/>
              </a:ext>
            </a:extLst>
          </p:cNvPr>
          <p:cNvSpPr>
            <a:spLocks xmlns:a="http://schemas.openxmlformats.org/drawingml/2006/main" noGrp="1"/>
          </p:cNvSpPr>
          <p:nvPr/>
        </p:nvSpPr>
        <p:spPr>
          <a:xfrm xmlns:a="http://schemas.openxmlformats.org/drawingml/2006/main">
            <a:off x="514350" y="2076450"/>
            <a:ext cx="5219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07F79"/>
                </a:solidFill>
                <a:latin typeface="Aptos"/>
                <a:ea typeface="Aptos"/>
                <a:cs typeface="Aptos"/>
              </a:defRPr>
            </a:defPPr>
          </a:lstStyle>
          <a:p xmlns:a="http://schemas.openxmlformats.org/drawingml/2006/main">
            <a:pPr>
              <a:defRPr sz="2175" b="1">
                <a:solidFill>
                  <a:srgbClr val="007F79"/>
                </a:solidFill>
                <a:latin typeface="Aptos"/>
                <a:ea typeface="Aptos"/>
                <a:cs typeface="Aptos"/>
              </a:defRPr>
            </a:pPr>
            <a:r>
              <a:rPr sz="2175" b="1">
                <a:solidFill>
                  <a:srgbClr val="007F79"/>
                </a:solidFill>
                <a:latin typeface="Aptos"/>
                <a:ea typeface="Aptos"/>
                <a:cs typeface="Aptos"/>
              </a:rPr>
              <a:t>Ishlab chiqilgan qismlar</a:t>
            </a:r>
          </a:p>
        </p:txBody>
      </p:sp>
      <p:sp>
        <p:nvSpPr>
          <p:cNvPr id="16" name="result-body">
            <a:extLst xmlns:a="http://schemas.openxmlformats.org/drawingml/2006/main">
              <a:ext uri="{FF2B5EF4-FFF2-40B4-BE49-F238E27FC236}">
                <a16:creationId xmlns:a16="http://schemas.microsoft.com/office/drawing/2014/main" id="{95855CED-FCDB-49A8-A0AD-97652525F4A3}"/>
              </a:ext>
            </a:extLst>
          </p:cNvPr>
          <p:cNvSpPr>
            <a:spLocks xmlns:a="http://schemas.openxmlformats.org/drawingml/2006/main" noGrp="1"/>
          </p:cNvSpPr>
          <p:nvPr/>
        </p:nvSpPr>
        <p:spPr>
          <a:xfrm xmlns:a="http://schemas.openxmlformats.org/drawingml/2006/main">
            <a:off x="514350" y="2724150"/>
            <a:ext cx="52197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E3047"/>
                </a:solidFill>
                <a:latin typeface="Aptos"/>
                <a:ea typeface="Aptos"/>
                <a:cs typeface="Aptos"/>
              </a:defRPr>
            </a:defPPr>
          </a:lstStyle>
          <a:p xmlns:a="http://schemas.openxmlformats.org/drawingml/2006/main">
            <a:pPr>
              <a:defRPr sz="1950" b="0">
                <a:solidFill>
                  <a:srgbClr val="1E3047"/>
                </a:solidFill>
                <a:latin typeface="Aptos"/>
                <a:ea typeface="Aptos"/>
                <a:cs typeface="Aptos"/>
              </a:defRPr>
            </a:pPr>
            <a:r>
              <a:rPr sz="1950" b="0">
                <a:solidFill>
                  <a:srgbClr val="1E3047"/>
                </a:solidFill>
                <a:latin typeface="Aptos"/>
                <a:ea typeface="Aptos"/>
                <a:cs typeface="Aptos"/>
              </a:rPr>
              <a:t>Tashkilot doirasida foydalanuvchi va PC’larni boshqarish.</a:t>
            </a:r>
          </a:p>
          <a:p xmlns:a="http://schemas.openxmlformats.org/drawingml/2006/main">
            <a:r>
              <a:t/>
            </a:r>
          </a:p>
          <a:p xmlns:a="http://schemas.openxmlformats.org/drawingml/2006/main">
            <a:pPr>
              <a:defRPr sz="1950" b="0">
                <a:solidFill>
                  <a:srgbClr val="1E3047"/>
                </a:solidFill>
                <a:latin typeface="Aptos"/>
                <a:ea typeface="Aptos"/>
                <a:cs typeface="Aptos"/>
              </a:defRPr>
            </a:pPr>
            <a:r>
              <a:rPr sz="1950" b="0">
                <a:solidFill>
                  <a:srgbClr val="1E3047"/>
                </a:solidFill>
                <a:latin typeface="Aptos"/>
                <a:ea typeface="Aptos"/>
                <a:cs typeface="Aptos"/>
              </a:rPr>
              <a:t>QR orqali administrator tasdig‘i va agent aktivatsiyasi.</a:t>
            </a:r>
          </a:p>
          <a:p xmlns:a="http://schemas.openxmlformats.org/drawingml/2006/main">
            <a:r>
              <a:t/>
            </a:r>
          </a:p>
          <a:p xmlns:a="http://schemas.openxmlformats.org/drawingml/2006/main">
            <a:pPr>
              <a:defRPr sz="1950" b="0">
                <a:solidFill>
                  <a:srgbClr val="1E3047"/>
                </a:solidFill>
                <a:latin typeface="Aptos"/>
                <a:ea typeface="Aptos"/>
                <a:cs typeface="Aptos"/>
              </a:defRPr>
            </a:pPr>
            <a:r>
              <a:rPr sz="1950" b="0">
                <a:solidFill>
                  <a:srgbClr val="1E3047"/>
                </a:solidFill>
                <a:latin typeface="Aptos"/>
                <a:ea typeface="Aptos"/>
                <a:cs typeface="Aptos"/>
              </a:rPr>
              <a:t>Imzoli so‘rovlar, holat monitoringi va audit yozuvlari.</a:t>
            </a:r>
          </a:p>
        </p:txBody>
      </p:sp>
      <p:sp>
        <p:nvSpPr>
          <p:cNvPr id="17" name="next-heading">
            <a:extLst xmlns:a="http://schemas.openxmlformats.org/drawingml/2006/main">
              <a:ext uri="{FF2B5EF4-FFF2-40B4-BE49-F238E27FC236}">
                <a16:creationId xmlns:a16="http://schemas.microsoft.com/office/drawing/2014/main" id="{D0E691E1-A632-454A-AEBE-A00C79EAF888}"/>
              </a:ext>
            </a:extLst>
          </p:cNvPr>
          <p:cNvSpPr>
            <a:spLocks xmlns:a="http://schemas.openxmlformats.org/drawingml/2006/main" noGrp="1"/>
          </p:cNvSpPr>
          <p:nvPr/>
        </p:nvSpPr>
        <p:spPr>
          <a:xfrm xmlns:a="http://schemas.openxmlformats.org/drawingml/2006/main">
            <a:off x="6419850" y="2076450"/>
            <a:ext cx="525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007F79"/>
                </a:solidFill>
                <a:latin typeface="Aptos"/>
                <a:ea typeface="Aptos"/>
                <a:cs typeface="Aptos"/>
              </a:defRPr>
            </a:defPPr>
          </a:lstStyle>
          <a:p xmlns:a="http://schemas.openxmlformats.org/drawingml/2006/main">
            <a:pPr>
              <a:defRPr sz="2175" b="1">
                <a:solidFill>
                  <a:srgbClr val="007F79"/>
                </a:solidFill>
                <a:latin typeface="Aptos"/>
                <a:ea typeface="Aptos"/>
                <a:cs typeface="Aptos"/>
              </a:defRPr>
            </a:pPr>
            <a:r>
              <a:rPr sz="2175" b="1">
                <a:solidFill>
                  <a:srgbClr val="007F79"/>
                </a:solidFill>
                <a:latin typeface="Aptos"/>
                <a:ea typeface="Aptos"/>
                <a:cs typeface="Aptos"/>
              </a:rPr>
              <a:t>Keyingi tekshiruvlar</a:t>
            </a:r>
          </a:p>
        </p:txBody>
      </p:sp>
      <p:sp>
        <p:nvSpPr>
          <p:cNvPr id="18" name="next-body">
            <a:extLst xmlns:a="http://schemas.openxmlformats.org/drawingml/2006/main">
              <a:ext uri="{FF2B5EF4-FFF2-40B4-BE49-F238E27FC236}">
                <a16:creationId xmlns:a16="http://schemas.microsoft.com/office/drawing/2014/main" id="{3EB905FE-F6DF-4792-860B-E5F3CEC172E5}"/>
              </a:ext>
            </a:extLst>
          </p:cNvPr>
          <p:cNvSpPr>
            <a:spLocks xmlns:a="http://schemas.openxmlformats.org/drawingml/2006/main" noGrp="1"/>
          </p:cNvSpPr>
          <p:nvPr/>
        </p:nvSpPr>
        <p:spPr>
          <a:xfrm xmlns:a="http://schemas.openxmlformats.org/drawingml/2006/main">
            <a:off x="6419850" y="2724150"/>
            <a:ext cx="52578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E3047"/>
                </a:solidFill>
                <a:latin typeface="Aptos"/>
                <a:ea typeface="Aptos"/>
                <a:cs typeface="Aptos"/>
              </a:defRPr>
            </a:defPPr>
          </a:lstStyle>
          <a:p xmlns:a="http://schemas.openxmlformats.org/drawingml/2006/main">
            <a:pPr>
              <a:defRPr sz="1950" b="0">
                <a:solidFill>
                  <a:srgbClr val="1E3047"/>
                </a:solidFill>
                <a:latin typeface="Aptos"/>
                <a:ea typeface="Aptos"/>
                <a:cs typeface="Aptos"/>
              </a:defRPr>
            </a:pPr>
            <a:r>
              <a:rPr sz="1950" b="0">
                <a:solidFill>
                  <a:srgbClr val="1E3047"/>
                </a:solidFill>
                <a:latin typeface="Aptos"/>
                <a:ea typeface="Aptos"/>
                <a:cs typeface="Aptos"/>
              </a:rPr>
              <a:t>Windows kirish oynasi bilan to‘liq integratsiya.</a:t>
            </a:r>
          </a:p>
          <a:p xmlns:a="http://schemas.openxmlformats.org/drawingml/2006/main">
            <a:r>
              <a:t/>
            </a:r>
          </a:p>
          <a:p xmlns:a="http://schemas.openxmlformats.org/drawingml/2006/main">
            <a:pPr>
              <a:defRPr sz="1950" b="0">
                <a:solidFill>
                  <a:srgbClr val="1E3047"/>
                </a:solidFill>
                <a:latin typeface="Aptos"/>
                <a:ea typeface="Aptos"/>
                <a:cs typeface="Aptos"/>
              </a:defRPr>
            </a:pPr>
            <a:r>
              <a:rPr sz="1950" b="0">
                <a:solidFill>
                  <a:srgbClr val="1E3047"/>
                </a:solidFill>
                <a:latin typeface="Aptos"/>
                <a:ea typeface="Aptos"/>
                <a:cs typeface="Aptos"/>
              </a:rPr>
              <a:t>Majburiy MFA ketma-ketligi va biometrik tiriklik tekshiruvi.</a:t>
            </a:r>
          </a:p>
          <a:p xmlns:a="http://schemas.openxmlformats.org/drawingml/2006/main">
            <a:r>
              <a:t/>
            </a:r>
          </a:p>
          <a:p xmlns:a="http://schemas.openxmlformats.org/drawingml/2006/main">
            <a:pPr>
              <a:defRPr sz="1950" b="0">
                <a:solidFill>
                  <a:srgbClr val="1E3047"/>
                </a:solidFill>
                <a:latin typeface="Aptos"/>
                <a:ea typeface="Aptos"/>
                <a:cs typeface="Aptos"/>
              </a:defRPr>
            </a:pPr>
            <a:r>
              <a:rPr sz="1950" b="0">
                <a:solidFill>
                  <a:srgbClr val="1E3047"/>
                </a:solidFill>
                <a:latin typeface="Aptos"/>
                <a:ea typeface="Aptos"/>
                <a:cs typeface="Aptos"/>
              </a:rPr>
              <a:t>Ko‘p tarmoqdagi yuklama, uzilish va tiklanish sinovlari.</a:t>
            </a:r>
          </a:p>
        </p:txBody>
      </p:sp>
      <p:sp>
        <p:nvSpPr>
          <p:cNvPr id="19" name="conclusion">
            <a:extLst xmlns:a="http://schemas.openxmlformats.org/drawingml/2006/main">
              <a:ext uri="{FF2B5EF4-FFF2-40B4-BE49-F238E27FC236}">
                <a16:creationId xmlns:a16="http://schemas.microsoft.com/office/drawing/2014/main" id="{77D4C304-A3E7-4978-800D-F9928EB64827}"/>
              </a:ext>
            </a:extLst>
          </p:cNvPr>
          <p:cNvSpPr>
            <a:spLocks xmlns:a="http://schemas.openxmlformats.org/drawingml/2006/main" noGrp="1"/>
          </p:cNvSpPr>
          <p:nvPr/>
        </p:nvSpPr>
        <p:spPr>
          <a:xfrm xmlns:a="http://schemas.openxmlformats.org/drawingml/2006/main">
            <a:off x="514350" y="5848350"/>
            <a:ext cx="11163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007F79"/>
                </a:solidFill>
                <a:latin typeface="Aptos"/>
                <a:ea typeface="Aptos"/>
                <a:cs typeface="Aptos"/>
              </a:defRPr>
            </a:defPPr>
          </a:lstStyle>
          <a:p xmlns:a="http://schemas.openxmlformats.org/drawingml/2006/main">
            <a:pPr>
              <a:defRPr sz="1800" b="1">
                <a:solidFill>
                  <a:srgbClr val="007F79"/>
                </a:solidFill>
                <a:latin typeface="Aptos"/>
                <a:ea typeface="Aptos"/>
                <a:cs typeface="Aptos"/>
              </a:defRPr>
            </a:pPr>
            <a:r>
              <a:rPr sz="1800" b="1">
                <a:solidFill>
                  <a:srgbClr val="007F79"/>
                </a:solidFill>
                <a:latin typeface="Aptos"/>
                <a:ea typeface="Aptos"/>
                <a:cs typeface="Aptos"/>
              </a:rPr>
              <a:t>Asosiy qo‘llanish doirasi: kompaniyalarning turli tarmoqlardagi ko‘p sonli PC’lari.</a:t>
            </a:r>
          </a:p>
        </p:txBody>
      </p:sp>
    </p:spTree>
    <p:extLst>
      <p:ext uri="{BB962C8B-B14F-4D97-AF65-F5344CB8AC3E}">
        <p14:creationId xmlns:p14="http://schemas.microsoft.com/office/powerpoint/2010/main" val="610737576"/>
      </p:ext>
    </p:extLst>
  </p:cSld>
</p:sld>
</file>

<file path=ppt/slides/slide2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4F234FC-D88B-4DCF-8388-D299903E05C1}"/>
              </a:ext>
            </a:extLst>
          </p:cNvPr>
          <p:cNvSpPr>
            <a:spLocks xmlns:a="http://schemas.openxmlformats.org/drawingml/2006/main" noGrp="1"/>
          </p:cNvSpPr>
          <p:nvPr/>
        </p:nvSpPr>
        <p:spPr>
          <a:xfrm xmlns:a="http://schemas.openxmlformats.org/drawingml/2006/main">
            <a:off x="514350" y="266700"/>
            <a:ext cx="609600" cy="38100"/>
          </a:xfrm>
          <a:prstGeom xmlns:a="http://schemas.openxmlformats.org/drawingml/2006/main" prst="rect">
            <a:avLst/>
          </a:prstGeom>
          <a:solidFill xmlns:a="http://schemas.openxmlformats.org/drawingml/2006/main">
            <a:srgbClr val="007F7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7D31CB-714B-476B-91CE-4C3F8A154044}"/>
              </a:ext>
            </a:extLst>
          </p:cNvPr>
          <p:cNvSpPr>
            <a:spLocks xmlns:a="http://schemas.openxmlformats.org/drawingml/2006/main" noGrp="1"/>
          </p:cNvSpPr>
          <p:nvPr/>
        </p:nvSpPr>
        <p:spPr>
          <a:xfrm xmlns:a="http://schemas.openxmlformats.org/drawingml/2006/main">
            <a:off x="514350" y="485775"/>
            <a:ext cx="11163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1">
                <a:solidFill>
                  <a:srgbClr val="15283F"/>
                </a:solidFill>
                <a:latin typeface="Aptos"/>
                <a:ea typeface="Aptos"/>
                <a:cs typeface="Aptos"/>
              </a:defRPr>
            </a:defPPr>
          </a:lstStyle>
          <a:p xmlns:a="http://schemas.openxmlformats.org/drawingml/2006/main">
            <a:pPr algn="l">
              <a:buNone/>
              <a:defRPr sz="3000" b="1">
                <a:solidFill>
                  <a:srgbClr val="15283F"/>
                </a:solidFill>
                <a:latin typeface="Aptos"/>
                <a:ea typeface="Aptos"/>
                <a:cs typeface="Aptos"/>
              </a:defRPr>
            </a:pPr>
            <a:r>
              <a:rPr sz="3000" b="1">
                <a:solidFill>
                  <a:srgbClr val="15283F"/>
                </a:solidFill>
                <a:latin typeface="Aptos"/>
                <a:ea typeface="Aptos"/>
                <a:cs typeface="Aptos"/>
              </a:rPr>
              <a:t>Manbalar</a:t>
            </a:r>
          </a:p>
        </p:txBody>
      </p:sp>
      <p:sp>
        <p:nvSpPr>
          <p:cNvPr id="3" name="">
            <a:extLst xmlns:a="http://schemas.openxmlformats.org/drawingml/2006/main">
              <a:ext uri="{FF2B5EF4-FFF2-40B4-BE49-F238E27FC236}">
                <a16:creationId xmlns:a16="http://schemas.microsoft.com/office/drawing/2014/main" id="{9ABC83C3-E86B-45F8-A238-815854CD4EA9}"/>
              </a:ext>
            </a:extLst>
          </p:cNvPr>
          <p:cNvSpPr>
            <a:spLocks xmlns:a="http://schemas.openxmlformats.org/drawingml/2006/main" noGrp="1"/>
          </p:cNvSpPr>
          <p:nvPr/>
        </p:nvSpPr>
        <p:spPr>
          <a:xfrm xmlns:a="http://schemas.openxmlformats.org/drawingml/2006/main">
            <a:off x="514350" y="1362075"/>
            <a:ext cx="1116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576C82"/>
                </a:solidFill>
                <a:latin typeface="Aptos"/>
                <a:ea typeface="Aptos"/>
                <a:cs typeface="Aptos"/>
              </a:defRPr>
            </a:defPPr>
          </a:lstStyle>
          <a:p xmlns:a="http://schemas.openxmlformats.org/drawingml/2006/main">
            <a:pPr algn="l">
              <a:buNone/>
              <a:defRPr sz="1725" b="0">
                <a:solidFill>
                  <a:srgbClr val="576C82"/>
                </a:solidFill>
                <a:latin typeface="Aptos"/>
                <a:ea typeface="Aptos"/>
                <a:cs typeface="Aptos"/>
              </a:defRPr>
            </a:pPr>
            <a:r>
              <a:rPr sz="1725" b="0">
                <a:solidFill>
                  <a:srgbClr val="576C82"/>
                </a:solidFill>
                <a:latin typeface="Aptos"/>
                <a:ea typeface="Aptos"/>
                <a:cs typeface="Aptos"/>
              </a:rPr>
              <a:t>Nazariy qoidalar rasmiy manbalarga, amaliy jarayonlar loyiha kodiga tayangan.</a:t>
            </a:r>
          </a:p>
        </p:txBody>
      </p:sp>
      <p:sp>
        <p:nvSpPr>
          <p:cNvPr id="4" name="">
            <a:extLst xmlns:a="http://schemas.openxmlformats.org/drawingml/2006/main">
              <a:ext uri="{FF2B5EF4-FFF2-40B4-BE49-F238E27FC236}">
                <a16:creationId xmlns:a16="http://schemas.microsoft.com/office/drawing/2014/main" id="{77300312-A8A5-4DB8-804D-D4A7594F91A8}"/>
              </a:ext>
            </a:extLst>
          </p:cNvPr>
          <p:cNvSpPr>
            <a:spLocks xmlns:a="http://schemas.openxmlformats.org/drawingml/2006/main" noGrp="1"/>
          </p:cNvSpPr>
          <p:nvPr/>
        </p:nvSpPr>
        <p:spPr>
          <a:xfrm xmlns:a="http://schemas.openxmlformats.org/drawingml/2006/main">
            <a:off x="10953750" y="6429375"/>
            <a:ext cx="76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1">
                <a:solidFill>
                  <a:srgbClr val="007F79"/>
                </a:solidFill>
              </a:defRPr>
            </a:defPPr>
          </a:lstStyle>
          <a:p xmlns:a="http://schemas.openxmlformats.org/drawingml/2006/main">
            <a:pPr>
              <a:buNone/>
              <a:defRPr sz="1200" b="1">
                <a:solidFill>
                  <a:srgbClr val="007F79"/>
                </a:solidFill>
              </a:defRPr>
            </a:pPr>
            <a:r>
              <a:rPr sz="1200" b="1">
                <a:solidFill>
                  <a:srgbClr val="007F79"/>
                </a:solidFill>
              </a:rPr>
              <a:t>25 / 25</a:t>
            </a:r>
          </a:p>
        </p:txBody>
      </p:sp>
      <p:sp>
        <p:nvSpPr>
          <p:cNvPr id="25" name="reference-1">
            <a:extLst xmlns:a="http://schemas.openxmlformats.org/drawingml/2006/main">
              <a:ext uri="{FF2B5EF4-FFF2-40B4-BE49-F238E27FC236}">
                <a16:creationId xmlns:a16="http://schemas.microsoft.com/office/drawing/2014/main" id="{4914353B-7CF0-448B-9F9A-279C8977305B}"/>
              </a:ext>
            </a:extLst>
          </p:cNvPr>
          <p:cNvSpPr>
            <a:spLocks xmlns:a="http://schemas.openxmlformats.org/drawingml/2006/main" noGrp="1"/>
          </p:cNvSpPr>
          <p:nvPr/>
        </p:nvSpPr>
        <p:spPr>
          <a:xfrm xmlns:a="http://schemas.openxmlformats.org/drawingml/2006/main">
            <a:off x="514350" y="19907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560164cd13b54490"/>
              </a:rPr>
              <a:t>[1] NIST SP 800-53 Rev. 5</a:t>
            </a:r>
          </a:p>
        </p:txBody>
      </p:sp>
      <p:sp>
        <p:nvSpPr>
          <p:cNvPr id="26" name="reference-desc-1">
            <a:extLst xmlns:a="http://schemas.openxmlformats.org/drawingml/2006/main">
              <a:ext uri="{FF2B5EF4-FFF2-40B4-BE49-F238E27FC236}">
                <a16:creationId xmlns:a16="http://schemas.microsoft.com/office/drawing/2014/main" id="{0256E4CA-7D5C-441A-BD3E-5C432D0B1F75}"/>
              </a:ext>
            </a:extLst>
          </p:cNvPr>
          <p:cNvSpPr>
            <a:spLocks xmlns:a="http://schemas.openxmlformats.org/drawingml/2006/main" noGrp="1"/>
          </p:cNvSpPr>
          <p:nvPr/>
        </p:nvSpPr>
        <p:spPr>
          <a:xfrm xmlns:a="http://schemas.openxmlformats.org/drawingml/2006/main">
            <a:off x="514350" y="23145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Siyosat, vakolat va audit</a:t>
            </a:r>
          </a:p>
        </p:txBody>
      </p:sp>
      <p:sp>
        <p:nvSpPr>
          <p:cNvPr id="27" name="reference-2">
            <a:extLst xmlns:a="http://schemas.openxmlformats.org/drawingml/2006/main">
              <a:ext uri="{FF2B5EF4-FFF2-40B4-BE49-F238E27FC236}">
                <a16:creationId xmlns:a16="http://schemas.microsoft.com/office/drawing/2014/main" id="{1DACBC5D-E778-423E-8E60-93C9F73AD077}"/>
              </a:ext>
            </a:extLst>
          </p:cNvPr>
          <p:cNvSpPr>
            <a:spLocks xmlns:a="http://schemas.openxmlformats.org/drawingml/2006/main" noGrp="1"/>
          </p:cNvSpPr>
          <p:nvPr/>
        </p:nvSpPr>
        <p:spPr>
          <a:xfrm xmlns:a="http://schemas.openxmlformats.org/drawingml/2006/main">
            <a:off x="514350" y="27146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02771b523ffb4e05"/>
              </a:rPr>
              <a:t>[2] NIST SP 800-30 Rev. 1</a:t>
            </a:r>
          </a:p>
        </p:txBody>
      </p:sp>
      <p:sp>
        <p:nvSpPr>
          <p:cNvPr id="28" name="reference-desc-2">
            <a:extLst xmlns:a="http://schemas.openxmlformats.org/drawingml/2006/main">
              <a:ext uri="{FF2B5EF4-FFF2-40B4-BE49-F238E27FC236}">
                <a16:creationId xmlns:a16="http://schemas.microsoft.com/office/drawing/2014/main" id="{BED655FD-6E23-49C4-BF13-76AA1C68E985}"/>
              </a:ext>
            </a:extLst>
          </p:cNvPr>
          <p:cNvSpPr>
            <a:spLocks xmlns:a="http://schemas.openxmlformats.org/drawingml/2006/main" noGrp="1"/>
          </p:cNvSpPr>
          <p:nvPr/>
        </p:nvSpPr>
        <p:spPr>
          <a:xfrm xmlns:a="http://schemas.openxmlformats.org/drawingml/2006/main">
            <a:off x="514350" y="30384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Xavfni baholash</a:t>
            </a:r>
          </a:p>
        </p:txBody>
      </p:sp>
      <p:sp>
        <p:nvSpPr>
          <p:cNvPr id="29" name="reference-3">
            <a:extLst xmlns:a="http://schemas.openxmlformats.org/drawingml/2006/main">
              <a:ext uri="{FF2B5EF4-FFF2-40B4-BE49-F238E27FC236}">
                <a16:creationId xmlns:a16="http://schemas.microsoft.com/office/drawing/2014/main" id="{B0E3DCBB-4ED1-4F17-8051-E76BA75C630B}"/>
              </a:ext>
            </a:extLst>
          </p:cNvPr>
          <p:cNvSpPr>
            <a:spLocks xmlns:a="http://schemas.openxmlformats.org/drawingml/2006/main" noGrp="1"/>
          </p:cNvSpPr>
          <p:nvPr/>
        </p:nvSpPr>
        <p:spPr>
          <a:xfrm xmlns:a="http://schemas.openxmlformats.org/drawingml/2006/main">
            <a:off x="514350" y="34385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22c83052082f4a38"/>
              </a:rPr>
              <a:t>[3] NIST SP 800-63A-4</a:t>
            </a:r>
          </a:p>
        </p:txBody>
      </p:sp>
      <p:sp>
        <p:nvSpPr>
          <p:cNvPr id="30" name="reference-desc-3">
            <a:extLst xmlns:a="http://schemas.openxmlformats.org/drawingml/2006/main">
              <a:ext uri="{FF2B5EF4-FFF2-40B4-BE49-F238E27FC236}">
                <a16:creationId xmlns:a16="http://schemas.microsoft.com/office/drawing/2014/main" id="{2261692B-4221-428F-9F7E-1D433FB6EED3}"/>
              </a:ext>
            </a:extLst>
          </p:cNvPr>
          <p:cNvSpPr>
            <a:spLocks xmlns:a="http://schemas.openxmlformats.org/drawingml/2006/main" noGrp="1"/>
          </p:cNvSpPr>
          <p:nvPr/>
        </p:nvSpPr>
        <p:spPr>
          <a:xfrm xmlns:a="http://schemas.openxmlformats.org/drawingml/2006/main">
            <a:off x="514350" y="37623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Shaxsni tekshirish</a:t>
            </a:r>
          </a:p>
        </p:txBody>
      </p:sp>
      <p:sp>
        <p:nvSpPr>
          <p:cNvPr id="31" name="reference-4">
            <a:extLst xmlns:a="http://schemas.openxmlformats.org/drawingml/2006/main">
              <a:ext uri="{FF2B5EF4-FFF2-40B4-BE49-F238E27FC236}">
                <a16:creationId xmlns:a16="http://schemas.microsoft.com/office/drawing/2014/main" id="{B617E3C6-3C3C-4191-8EE7-EE2217ED1411}"/>
              </a:ext>
            </a:extLst>
          </p:cNvPr>
          <p:cNvSpPr>
            <a:spLocks xmlns:a="http://schemas.openxmlformats.org/drawingml/2006/main" noGrp="1"/>
          </p:cNvSpPr>
          <p:nvPr/>
        </p:nvSpPr>
        <p:spPr>
          <a:xfrm xmlns:a="http://schemas.openxmlformats.org/drawingml/2006/main">
            <a:off x="514350" y="41624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7726197a6d8d42bb"/>
              </a:rPr>
              <a:t>[4] NIST SP 800-63B-4</a:t>
            </a:r>
          </a:p>
        </p:txBody>
      </p:sp>
      <p:sp>
        <p:nvSpPr>
          <p:cNvPr id="32" name="reference-desc-4">
            <a:extLst xmlns:a="http://schemas.openxmlformats.org/drawingml/2006/main">
              <a:ext uri="{FF2B5EF4-FFF2-40B4-BE49-F238E27FC236}">
                <a16:creationId xmlns:a16="http://schemas.microsoft.com/office/drawing/2014/main" id="{0CE13A21-A2CC-42F2-8118-07628B6A596C}"/>
              </a:ext>
            </a:extLst>
          </p:cNvPr>
          <p:cNvSpPr>
            <a:spLocks xmlns:a="http://schemas.openxmlformats.org/drawingml/2006/main" noGrp="1"/>
          </p:cNvSpPr>
          <p:nvPr/>
        </p:nvSpPr>
        <p:spPr>
          <a:xfrm xmlns:a="http://schemas.openxmlformats.org/drawingml/2006/main">
            <a:off x="514350" y="44862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Autentifikatsiya va MFA</a:t>
            </a:r>
          </a:p>
        </p:txBody>
      </p:sp>
      <p:sp>
        <p:nvSpPr>
          <p:cNvPr id="33" name="reference-5">
            <a:extLst xmlns:a="http://schemas.openxmlformats.org/drawingml/2006/main">
              <a:ext uri="{FF2B5EF4-FFF2-40B4-BE49-F238E27FC236}">
                <a16:creationId xmlns:a16="http://schemas.microsoft.com/office/drawing/2014/main" id="{A50247B9-E075-495A-A5ED-DC226E418C8A}"/>
              </a:ext>
            </a:extLst>
          </p:cNvPr>
          <p:cNvSpPr>
            <a:spLocks xmlns:a="http://schemas.openxmlformats.org/drawingml/2006/main" noGrp="1"/>
          </p:cNvSpPr>
          <p:nvPr/>
        </p:nvSpPr>
        <p:spPr>
          <a:xfrm xmlns:a="http://schemas.openxmlformats.org/drawingml/2006/main">
            <a:off x="514350" y="48863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1dce14bb051d4098"/>
              </a:rPr>
              <a:t>[5–6] CIS Controls v8.1</a:t>
            </a:r>
          </a:p>
        </p:txBody>
      </p:sp>
      <p:sp>
        <p:nvSpPr>
          <p:cNvPr id="34" name="reference-desc-5">
            <a:extLst xmlns:a="http://schemas.openxmlformats.org/drawingml/2006/main">
              <a:ext uri="{FF2B5EF4-FFF2-40B4-BE49-F238E27FC236}">
                <a16:creationId xmlns:a16="http://schemas.microsoft.com/office/drawing/2014/main" id="{D1549280-CF46-4CE7-921C-0FB486DD7BDB}"/>
              </a:ext>
            </a:extLst>
          </p:cNvPr>
          <p:cNvSpPr>
            <a:spLocks xmlns:a="http://schemas.openxmlformats.org/drawingml/2006/main" noGrp="1"/>
          </p:cNvSpPr>
          <p:nvPr/>
        </p:nvSpPr>
        <p:spPr>
          <a:xfrm xmlns:a="http://schemas.openxmlformats.org/drawingml/2006/main">
            <a:off x="514350" y="52101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Hisoblar va kirish huquqlari</a:t>
            </a:r>
          </a:p>
        </p:txBody>
      </p:sp>
      <p:sp>
        <p:nvSpPr>
          <p:cNvPr id="35" name="reference-6">
            <a:extLst xmlns:a="http://schemas.openxmlformats.org/drawingml/2006/main">
              <a:ext uri="{FF2B5EF4-FFF2-40B4-BE49-F238E27FC236}">
                <a16:creationId xmlns:a16="http://schemas.microsoft.com/office/drawing/2014/main" id="{95DF4CC2-027A-42D9-B3BA-6C764D411BE4}"/>
              </a:ext>
            </a:extLst>
          </p:cNvPr>
          <p:cNvSpPr>
            <a:spLocks xmlns:a="http://schemas.openxmlformats.org/drawingml/2006/main" noGrp="1"/>
          </p:cNvSpPr>
          <p:nvPr/>
        </p:nvSpPr>
        <p:spPr>
          <a:xfrm xmlns:a="http://schemas.openxmlformats.org/drawingml/2006/main">
            <a:off x="6419850" y="19907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21c308d51b464d70"/>
              </a:rPr>
              <a:t>[7] NIST SP 800-162</a:t>
            </a:r>
          </a:p>
        </p:txBody>
      </p:sp>
      <p:sp>
        <p:nvSpPr>
          <p:cNvPr id="36" name="reference-desc-6">
            <a:extLst xmlns:a="http://schemas.openxmlformats.org/drawingml/2006/main">
              <a:ext uri="{FF2B5EF4-FFF2-40B4-BE49-F238E27FC236}">
                <a16:creationId xmlns:a16="http://schemas.microsoft.com/office/drawing/2014/main" id="{EC9FAAD8-ABDD-4932-8105-338A46B34C76}"/>
              </a:ext>
            </a:extLst>
          </p:cNvPr>
          <p:cNvSpPr>
            <a:spLocks xmlns:a="http://schemas.openxmlformats.org/drawingml/2006/main" noGrp="1"/>
          </p:cNvSpPr>
          <p:nvPr/>
        </p:nvSpPr>
        <p:spPr>
          <a:xfrm xmlns:a="http://schemas.openxmlformats.org/drawingml/2006/main">
            <a:off x="6419850" y="23145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Atributlar asosidagi ruxsat modeli</a:t>
            </a:r>
          </a:p>
        </p:txBody>
      </p:sp>
      <p:sp>
        <p:nvSpPr>
          <p:cNvPr id="37" name="reference-7">
            <a:extLst xmlns:a="http://schemas.openxmlformats.org/drawingml/2006/main">
              <a:ext uri="{FF2B5EF4-FFF2-40B4-BE49-F238E27FC236}">
                <a16:creationId xmlns:a16="http://schemas.microsoft.com/office/drawing/2014/main" id="{30508847-DA6B-46C8-9FE7-B3BC3601ED93}"/>
              </a:ext>
            </a:extLst>
          </p:cNvPr>
          <p:cNvSpPr>
            <a:spLocks xmlns:a="http://schemas.openxmlformats.org/drawingml/2006/main" noGrp="1"/>
          </p:cNvSpPr>
          <p:nvPr/>
        </p:nvSpPr>
        <p:spPr>
          <a:xfrm xmlns:a="http://schemas.openxmlformats.org/drawingml/2006/main">
            <a:off x="6419850" y="27146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0932b8ab9d0c40a1"/>
              </a:rPr>
              <a:t>[8] OWASP Cheat Sheet Series</a:t>
            </a:r>
          </a:p>
        </p:txBody>
      </p:sp>
      <p:sp>
        <p:nvSpPr>
          <p:cNvPr id="38" name="reference-desc-7">
            <a:extLst xmlns:a="http://schemas.openxmlformats.org/drawingml/2006/main">
              <a:ext uri="{FF2B5EF4-FFF2-40B4-BE49-F238E27FC236}">
                <a16:creationId xmlns:a16="http://schemas.microsoft.com/office/drawing/2014/main" id="{075C9AE9-E348-4229-B25B-E528E887E4BA}"/>
              </a:ext>
            </a:extLst>
          </p:cNvPr>
          <p:cNvSpPr>
            <a:spLocks xmlns:a="http://schemas.openxmlformats.org/drawingml/2006/main" noGrp="1"/>
          </p:cNvSpPr>
          <p:nvPr/>
        </p:nvSpPr>
        <p:spPr>
          <a:xfrm xmlns:a="http://schemas.openxmlformats.org/drawingml/2006/main">
            <a:off x="6419850" y="30384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Avtorizatsiya qoidalari</a:t>
            </a:r>
          </a:p>
        </p:txBody>
      </p:sp>
      <p:sp>
        <p:nvSpPr>
          <p:cNvPr id="39" name="reference-8">
            <a:extLst xmlns:a="http://schemas.openxmlformats.org/drawingml/2006/main">
              <a:ext uri="{FF2B5EF4-FFF2-40B4-BE49-F238E27FC236}">
                <a16:creationId xmlns:a16="http://schemas.microsoft.com/office/drawing/2014/main" id="{94D0B68C-1145-479C-9D13-66DD77F62673}"/>
              </a:ext>
            </a:extLst>
          </p:cNvPr>
          <p:cNvSpPr>
            <a:spLocks xmlns:a="http://schemas.openxmlformats.org/drawingml/2006/main" noGrp="1"/>
          </p:cNvSpPr>
          <p:nvPr/>
        </p:nvSpPr>
        <p:spPr>
          <a:xfrm xmlns:a="http://schemas.openxmlformats.org/drawingml/2006/main">
            <a:off x="6419850" y="34385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54fcbd6d55e14504"/>
              </a:rPr>
              <a:t>[9] NIST SP 800-207</a:t>
            </a:r>
          </a:p>
        </p:txBody>
      </p:sp>
      <p:sp>
        <p:nvSpPr>
          <p:cNvPr id="40" name="reference-desc-8">
            <a:extLst xmlns:a="http://schemas.openxmlformats.org/drawingml/2006/main">
              <a:ext uri="{FF2B5EF4-FFF2-40B4-BE49-F238E27FC236}">
                <a16:creationId xmlns:a16="http://schemas.microsoft.com/office/drawing/2014/main" id="{AE1E9E88-EC83-414B-A4E6-FFA7A435C403}"/>
              </a:ext>
            </a:extLst>
          </p:cNvPr>
          <p:cNvSpPr>
            <a:spLocks xmlns:a="http://schemas.openxmlformats.org/drawingml/2006/main" noGrp="1"/>
          </p:cNvSpPr>
          <p:nvPr/>
        </p:nvSpPr>
        <p:spPr>
          <a:xfrm xmlns:a="http://schemas.openxmlformats.org/drawingml/2006/main">
            <a:off x="6419850" y="37623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Zero Trust arxitekturasi</a:t>
            </a:r>
          </a:p>
        </p:txBody>
      </p:sp>
      <p:sp>
        <p:nvSpPr>
          <p:cNvPr id="41" name="reference-9">
            <a:extLst xmlns:a="http://schemas.openxmlformats.org/drawingml/2006/main">
              <a:ext uri="{FF2B5EF4-FFF2-40B4-BE49-F238E27FC236}">
                <a16:creationId xmlns:a16="http://schemas.microsoft.com/office/drawing/2014/main" id="{988C052F-192F-4F75-8017-74FD0D4EEF80}"/>
              </a:ext>
            </a:extLst>
          </p:cNvPr>
          <p:cNvSpPr>
            <a:spLocks xmlns:a="http://schemas.openxmlformats.org/drawingml/2006/main" noGrp="1"/>
          </p:cNvSpPr>
          <p:nvPr/>
        </p:nvSpPr>
        <p:spPr>
          <a:xfrm xmlns:a="http://schemas.openxmlformats.org/drawingml/2006/main">
            <a:off x="6419850" y="41624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20dcd9df55f94ca3"/>
              </a:rPr>
              <a:t>[10] yrustamjon/auth</a:t>
            </a:r>
          </a:p>
        </p:txBody>
      </p:sp>
      <p:sp>
        <p:nvSpPr>
          <p:cNvPr id="42" name="reference-desc-9">
            <a:extLst xmlns:a="http://schemas.openxmlformats.org/drawingml/2006/main">
              <a:ext uri="{FF2B5EF4-FFF2-40B4-BE49-F238E27FC236}">
                <a16:creationId xmlns:a16="http://schemas.microsoft.com/office/drawing/2014/main" id="{77CCCAFB-7088-49DF-B7DA-D4E2BAB36613}"/>
              </a:ext>
            </a:extLst>
          </p:cNvPr>
          <p:cNvSpPr>
            <a:spLocks xmlns:a="http://schemas.openxmlformats.org/drawingml/2006/main" noGrp="1"/>
          </p:cNvSpPr>
          <p:nvPr/>
        </p:nvSpPr>
        <p:spPr>
          <a:xfrm xmlns:a="http://schemas.openxmlformats.org/drawingml/2006/main">
            <a:off x="6419850" y="44862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Veb interfeys, server va PC registratsiyasi</a:t>
            </a:r>
          </a:p>
        </p:txBody>
      </p:sp>
      <p:sp>
        <p:nvSpPr>
          <p:cNvPr id="43" name="reference-10">
            <a:extLst xmlns:a="http://schemas.openxmlformats.org/drawingml/2006/main">
              <a:ext uri="{FF2B5EF4-FFF2-40B4-BE49-F238E27FC236}">
                <a16:creationId xmlns:a16="http://schemas.microsoft.com/office/drawing/2014/main" id="{459A7A5C-568A-4470-B4B0-60EE4A82C1C6}"/>
              </a:ext>
            </a:extLst>
          </p:cNvPr>
          <p:cNvSpPr>
            <a:spLocks xmlns:a="http://schemas.openxmlformats.org/drawingml/2006/main" noGrp="1"/>
          </p:cNvSpPr>
          <p:nvPr/>
        </p:nvSpPr>
        <p:spPr>
          <a:xfrm xmlns:a="http://schemas.openxmlformats.org/drawingml/2006/main">
            <a:off x="6419850" y="48863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007F79"/>
                </a:solidFill>
                <a:latin typeface="Aptos"/>
                <a:ea typeface="Aptos"/>
                <a:cs typeface="Aptos"/>
              </a:defRPr>
            </a:defPPr>
          </a:lstStyle>
          <a:p xmlns:a="http://schemas.openxmlformats.org/drawingml/2006/main">
            <a:pPr>
              <a:defRPr sz="1725" b="1">
                <a:solidFill>
                  <a:srgbClr val="007F79"/>
                </a:solidFill>
                <a:latin typeface="Aptos"/>
                <a:ea typeface="Aptos"/>
                <a:cs typeface="Aptos"/>
              </a:defRPr>
            </a:pPr>
            <a:r>
              <a:rPr sz="1725" b="1">
                <a:solidFill>
                  <a:srgbClr val="007F79"/>
                </a:solidFill>
                <a:latin typeface="Aptos"/>
                <a:ea typeface="Aptos"/>
                <a:cs typeface="Aptos"/>
                <a:hlinkClick xmlns:r="http://schemas.openxmlformats.org/officeDocument/2006/relationships" r:id="Rdab9d958f3f94cdd"/>
              </a:rPr>
              <a:t>[11] Yolchiyev-Rustamjon/agent</a:t>
            </a:r>
          </a:p>
        </p:txBody>
      </p:sp>
      <p:sp>
        <p:nvSpPr>
          <p:cNvPr id="44" name="reference-desc-10">
            <a:extLst xmlns:a="http://schemas.openxmlformats.org/drawingml/2006/main">
              <a:ext uri="{FF2B5EF4-FFF2-40B4-BE49-F238E27FC236}">
                <a16:creationId xmlns:a16="http://schemas.microsoft.com/office/drawing/2014/main" id="{B5CF96CA-71E3-4C99-B43F-3E4E4F07BAB8}"/>
              </a:ext>
            </a:extLst>
          </p:cNvPr>
          <p:cNvSpPr>
            <a:spLocks xmlns:a="http://schemas.openxmlformats.org/drawingml/2006/main" noGrp="1"/>
          </p:cNvSpPr>
          <p:nvPr/>
        </p:nvSpPr>
        <p:spPr>
          <a:xfrm xmlns:a="http://schemas.openxmlformats.org/drawingml/2006/main">
            <a:off x="6419850" y="5210175"/>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76C82"/>
                </a:solidFill>
                <a:latin typeface="Aptos"/>
                <a:ea typeface="Aptos"/>
                <a:cs typeface="Aptos"/>
              </a:defRPr>
            </a:defPPr>
          </a:lstStyle>
          <a:p xmlns:a="http://schemas.openxmlformats.org/drawingml/2006/main">
            <a:pPr>
              <a:defRPr sz="1575" b="0">
                <a:solidFill>
                  <a:srgbClr val="576C82"/>
                </a:solidFill>
                <a:latin typeface="Aptos"/>
                <a:ea typeface="Aptos"/>
                <a:cs typeface="Aptos"/>
              </a:defRPr>
            </a:pPr>
            <a:r>
              <a:rPr sz="1575" b="0">
                <a:solidFill>
                  <a:srgbClr val="576C82"/>
                </a:solidFill>
                <a:latin typeface="Aptos"/>
                <a:ea typeface="Aptos"/>
                <a:cs typeface="Aptos"/>
              </a:rPr>
              <a:t>Windows agent va imzoli protokol</a:t>
            </a:r>
          </a:p>
        </p:txBody>
      </p:sp>
      <p:sp>
        <p:nvSpPr>
          <p:cNvPr id="45" name="asset-source">
            <a:extLst xmlns:a="http://schemas.openxmlformats.org/drawingml/2006/main">
              <a:ext uri="{FF2B5EF4-FFF2-40B4-BE49-F238E27FC236}">
                <a16:creationId xmlns:a16="http://schemas.microsoft.com/office/drawing/2014/main" id="{9C30B225-5F17-45DC-959D-0FCB418DE571}"/>
              </a:ext>
            </a:extLst>
          </p:cNvPr>
          <p:cNvSpPr>
            <a:spLocks xmlns:a="http://schemas.openxmlformats.org/drawingml/2006/main" noGrp="1"/>
          </p:cNvSpPr>
          <p:nvPr/>
        </p:nvSpPr>
        <p:spPr>
          <a:xfrm xmlns:a="http://schemas.openxmlformats.org/drawingml/2006/main">
            <a:off x="514350" y="5905500"/>
            <a:ext cx="11163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576C82"/>
                </a:solidFill>
                <a:latin typeface="Aptos"/>
                <a:ea typeface="Aptos"/>
                <a:cs typeface="Aptos"/>
              </a:defRPr>
            </a:defPPr>
          </a:lstStyle>
          <a:p xmlns:a="http://schemas.openxmlformats.org/drawingml/2006/main">
            <a:pPr>
              <a:defRPr sz="1500" b="0">
                <a:solidFill>
                  <a:srgbClr val="576C82"/>
                </a:solidFill>
                <a:latin typeface="Aptos"/>
                <a:ea typeface="Aptos"/>
                <a:cs typeface="Aptos"/>
              </a:defRPr>
            </a:pPr>
            <a:r>
              <a:rPr sz="1500" b="0">
                <a:solidFill>
                  <a:srgbClr val="576C82"/>
                </a:solidFill>
                <a:latin typeface="Aptos"/>
                <a:ea typeface="Aptos"/>
                <a:cs typeface="Aptos"/>
              </a:rPr>
              <a:t>Ekran rasmlari: loyiha veb interfeysi, namuna kompaniyasi. Mobil ko‘rinish brauzerda olingan.</a:t>
            </a:r>
          </a:p>
        </p:txBody>
      </p:sp>
    </p:spTree>
    <p:extLst>
      <p:ext uri="{BB962C8B-B14F-4D97-AF65-F5344CB8AC3E}">
        <p14:creationId xmlns:p14="http://schemas.microsoft.com/office/powerpoint/2010/main" val="1481584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2026-10-29T11:42:46.5840000Z</dcterms:created>
  <dcterms:modified xsi:type="dcterms:W3CDTF">2026-10-29T11:42:46.5840000Z</dcterms:modified>
</coreProperties>
</file>